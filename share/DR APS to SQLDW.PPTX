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gif" ContentType="image/gif"/>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82" r:id="rId4"/>
  </p:sldMasterIdLst>
  <p:notesMasterIdLst>
    <p:notesMasterId r:id="rId16"/>
  </p:notesMasterIdLst>
  <p:handoutMasterIdLst>
    <p:handoutMasterId r:id="rId17"/>
  </p:handoutMasterIdLst>
  <p:sldIdLst>
    <p:sldId id="1123" r:id="rId5"/>
    <p:sldId id="1129" r:id="rId6"/>
    <p:sldId id="1132" r:id="rId7"/>
    <p:sldId id="1134" r:id="rId8"/>
    <p:sldId id="1135" r:id="rId9"/>
    <p:sldId id="1136" r:id="rId10"/>
    <p:sldId id="1137" r:id="rId11"/>
    <p:sldId id="1138" r:id="rId12"/>
    <p:sldId id="1139" r:id="rId13"/>
    <p:sldId id="1133" r:id="rId14"/>
    <p:sldId id="1131" r:id="rId15"/>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266D7F5-89A7-478C-8A43-C1409DDC88B9}">
          <p14:sldIdLst>
            <p14:sldId id="1123"/>
            <p14:sldId id="1129"/>
            <p14:sldId id="1132"/>
            <p14:sldId id="1134"/>
            <p14:sldId id="1135"/>
            <p14:sldId id="1136"/>
            <p14:sldId id="1137"/>
            <p14:sldId id="1138"/>
            <p14:sldId id="1139"/>
            <p14:sldId id="1133"/>
            <p14:sldId id="1131"/>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8272"/>
    <a:srgbClr val="4DA0E2"/>
    <a:srgbClr val="672A7B"/>
    <a:srgbClr val="505050"/>
    <a:srgbClr val="FFFFFF"/>
    <a:srgbClr val="00188F"/>
    <a:srgbClr val="4D9ED7"/>
    <a:srgbClr val="002050"/>
    <a:srgbClr val="D2D2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0" autoAdjust="0"/>
    <p:restoredTop sz="85528" autoAdjust="0"/>
  </p:normalViewPr>
  <p:slideViewPr>
    <p:cSldViewPr snapToObjects="1">
      <p:cViewPr varScale="1">
        <p:scale>
          <a:sx n="111" d="100"/>
          <a:sy n="111" d="100"/>
        </p:scale>
        <p:origin x="78" y="102"/>
      </p:cViewPr>
      <p:guideLst/>
    </p:cSldViewPr>
  </p:slideViewPr>
  <p:outlineViewPr>
    <p:cViewPr>
      <p:scale>
        <a:sx n="33" d="100"/>
        <a:sy n="33" d="100"/>
      </p:scale>
      <p:origin x="0" y="-15570"/>
    </p:cViewPr>
  </p:outlineViewPr>
  <p:notesTextViewPr>
    <p:cViewPr>
      <p:scale>
        <a:sx n="100" d="100"/>
        <a:sy n="100" d="100"/>
      </p:scale>
      <p:origin x="0" y="0"/>
    </p:cViewPr>
  </p:notesTextViewPr>
  <p:sorterViewPr>
    <p:cViewPr varScale="1">
      <p:scale>
        <a:sx n="1" d="1"/>
        <a:sy n="1" d="1"/>
      </p:scale>
      <p:origin x="0" y="0"/>
    </p:cViewPr>
  </p:sorterViewPr>
  <p:notesViewPr>
    <p:cSldViewPr snapToObjects="1" showGuides="1">
      <p:cViewPr varScale="1">
        <p:scale>
          <a:sx n="83" d="100"/>
          <a:sy n="83" d="100"/>
        </p:scale>
        <p:origin x="2994"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27AAADD-8F94-4863-AB67-1D448E3F1BC3}" type="datetime1">
              <a:rPr lang="en-US" smtClean="0">
                <a:latin typeface="Segoe UI" pitchFamily="34" charset="0"/>
              </a:rPr>
              <a:t>10/21/2015</a:t>
            </a:fld>
            <a:endParaRPr lang="en-US" dirty="0">
              <a:latin typeface="Segoe UI" pitchFamily="34" charset="0"/>
            </a:endParaRP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
        <p:nvSpPr>
          <p:cNvPr id="3" name="Footer Placeholder 2"/>
          <p:cNvSpPr>
            <a:spLocks noGrp="1"/>
          </p:cNvSpPr>
          <p:nvPr>
            <p:ph type="ftr" sz="quarter" idx="2"/>
          </p:nvPr>
        </p:nvSpPr>
        <p:spPr>
          <a:xfrm>
            <a:off x="320074" y="8685213"/>
            <a:ext cx="5463504" cy="458787"/>
          </a:xfrm>
          <a:prstGeom prst="rect">
            <a:avLst/>
          </a:prstGeom>
        </p:spPr>
        <p:txBody>
          <a:bodyPr vert="horz" lIns="91440" tIns="45720" rIns="91440" bIns="45720" rtlCol="0" anchor="b"/>
          <a:lstStyle>
            <a:lvl1pPr algn="l">
              <a:defRPr sz="1200"/>
            </a:lvl1pPr>
          </a:lstStyle>
          <a:p>
            <a:r>
              <a:rPr lang="en-US" sz="500" dirty="0" smtClean="0"/>
              <a:t>© 2015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500" dirty="0"/>
          </a:p>
        </p:txBody>
      </p:sp>
      <p:sp>
        <p:nvSpPr>
          <p:cNvPr id="5"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r>
              <a:rPr lang="en-US" dirty="0" smtClean="0"/>
              <a:t>TechReady 21</a:t>
            </a:r>
            <a:endParaRPr lang="en-US" dirty="0"/>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hd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r>
              <a:rPr lang="en-US" dirty="0" smtClean="0"/>
              <a:t>TechReady 21</a:t>
            </a:r>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2015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E74353ED-ACB2-44BF-A903-985B0AF962B7}" type="datetime1">
              <a:rPr lang="en-US" smtClean="0"/>
              <a:t>10/21/2015</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hdr="0"/>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6" name="Date Placeholder 5"/>
          <p:cNvSpPr>
            <a:spLocks noGrp="1"/>
          </p:cNvSpPr>
          <p:nvPr>
            <p:ph type="dt" idx="12"/>
          </p:nvPr>
        </p:nvSpPr>
        <p:spPr/>
        <p:txBody>
          <a:bodyPr/>
          <a:lstStyle/>
          <a:p>
            <a:fld id="{2A14FA6D-5CC1-477D-A0DC-F2245326A311}" type="datetime1">
              <a:rPr lang="en-US" smtClean="0"/>
              <a:t>10/21/2015</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dirty="0"/>
          </a:p>
        </p:txBody>
      </p:sp>
      <p:sp>
        <p:nvSpPr>
          <p:cNvPr id="10" name="Footer Placeholder 9"/>
          <p:cNvSpPr>
            <a:spLocks noGrp="1"/>
          </p:cNvSpPr>
          <p:nvPr>
            <p:ph type="ftr" sz="quarter" idx="14"/>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Tree>
    <p:extLst>
      <p:ext uri="{BB962C8B-B14F-4D97-AF65-F5344CB8AC3E}">
        <p14:creationId xmlns:p14="http://schemas.microsoft.com/office/powerpoint/2010/main" val="12278031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613278D-AFA9-4E18-B2BF-981CFA22B1AA}" type="slidenum">
              <a:rPr lang="en-US" smtClean="0"/>
              <a:t>4</a:t>
            </a:fld>
            <a:endParaRPr lang="en-US"/>
          </a:p>
        </p:txBody>
      </p:sp>
    </p:spTree>
    <p:extLst>
      <p:ext uri="{BB962C8B-B14F-4D97-AF65-F5344CB8AC3E}">
        <p14:creationId xmlns:p14="http://schemas.microsoft.com/office/powerpoint/2010/main" val="30873890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613278D-AFA9-4E18-B2BF-981CFA22B1AA}" type="slidenum">
              <a:rPr lang="en-US" smtClean="0"/>
              <a:t>6</a:t>
            </a:fld>
            <a:endParaRPr lang="en-US"/>
          </a:p>
        </p:txBody>
      </p:sp>
    </p:spTree>
    <p:extLst>
      <p:ext uri="{BB962C8B-B14F-4D97-AF65-F5344CB8AC3E}">
        <p14:creationId xmlns:p14="http://schemas.microsoft.com/office/powerpoint/2010/main" val="27299301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613278D-AFA9-4E18-B2BF-981CFA22B1AA}" type="slidenum">
              <a:rPr lang="en-US" smtClean="0"/>
              <a:t>8</a:t>
            </a:fld>
            <a:endParaRPr lang="en-US"/>
          </a:p>
        </p:txBody>
      </p:sp>
    </p:spTree>
    <p:extLst>
      <p:ext uri="{BB962C8B-B14F-4D97-AF65-F5344CB8AC3E}">
        <p14:creationId xmlns:p14="http://schemas.microsoft.com/office/powerpoint/2010/main" val="19407071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a:prstGeom prst="rect">
            <a:avLst/>
          </a:prstGeom>
        </p:spPr>
      </p:sp>
      <p:sp>
        <p:nvSpPr>
          <p:cNvPr id="3" name="Notes Placeholder 2"/>
          <p:cNvSpPr>
            <a:spLocks noGrp="1"/>
          </p:cNvSpPr>
          <p:nvPr>
            <p:ph type="body" idx="1"/>
          </p:nvPr>
        </p:nvSpPr>
        <p:spPr>
          <a:xfrm>
            <a:off x="701040" y="4415790"/>
            <a:ext cx="5608320" cy="4183380"/>
          </a:xfrm>
          <a:prstGeom prst="rect">
            <a:avLst/>
          </a:prstGeom>
        </p:spPr>
        <p:txBody>
          <a:bodyPr/>
          <a:lstStyle/>
          <a:p>
            <a:endParaRPr lang="en-US" dirty="0"/>
          </a:p>
        </p:txBody>
      </p:sp>
      <p:sp>
        <p:nvSpPr>
          <p:cNvPr id="12" name="Date Placeholder 11"/>
          <p:cNvSpPr>
            <a:spLocks noGrp="1"/>
          </p:cNvSpPr>
          <p:nvPr>
            <p:ph type="dt" idx="10"/>
          </p:nvPr>
        </p:nvSpPr>
        <p:spPr/>
        <p:txBody>
          <a:bodyPr/>
          <a:lstStyle/>
          <a:p>
            <a:fld id="{5F31F44F-852B-49EF-AEE9-BAA8C4B734C6}" type="datetime1">
              <a:rPr lang="en-US" smtClean="0"/>
              <a:t>10/21/2015</a:t>
            </a:fld>
            <a:endParaRPr lang="en-US" dirty="0"/>
          </a:p>
        </p:txBody>
      </p:sp>
      <p:sp>
        <p:nvSpPr>
          <p:cNvPr id="13" name="Footer Placeholder 12"/>
          <p:cNvSpPr>
            <a:spLocks noGrp="1"/>
          </p:cNvSpPr>
          <p:nvPr>
            <p:ph type="ftr" sz="quarter" idx="11"/>
          </p:nvPr>
        </p:nvSpPr>
        <p:spPr/>
        <p:txBody>
          <a:bodyPr/>
          <a:lstStyle/>
          <a:p>
            <a:r>
              <a:rPr lang="en-US" dirty="0" smtClean="0"/>
              <a:t>© 2014 Microsoft Corporation. All rights reserved. Microsoft, Windows, and other product names are or may be registered trademarks and/or trademarks in the U.S. and/or other countries.</a:t>
            </a:r>
            <a:endParaRPr lang="en-US" dirty="0"/>
          </a:p>
        </p:txBody>
      </p:sp>
      <p:sp>
        <p:nvSpPr>
          <p:cNvPr id="14" name="Slide Number Placeholder 13"/>
          <p:cNvSpPr>
            <a:spLocks noGrp="1"/>
          </p:cNvSpPr>
          <p:nvPr>
            <p:ph type="sldNum" sz="quarter" idx="12"/>
          </p:nvPr>
        </p:nvSpPr>
        <p:spPr/>
        <p:txBody>
          <a:bodyPr/>
          <a:lstStyle/>
          <a:p>
            <a:fld id="{4B3ECC09-09B7-4756-9F32-FA1EF90A933B}" type="slidenum">
              <a:rPr lang="en-US" smtClean="0"/>
              <a:t>11</a:t>
            </a:fld>
            <a:endParaRPr lang="en-US" dirty="0"/>
          </a:p>
        </p:txBody>
      </p:sp>
      <p:sp>
        <p:nvSpPr>
          <p:cNvPr id="15" name="Header Placeholder 14"/>
          <p:cNvSpPr>
            <a:spLocks noGrp="1"/>
          </p:cNvSpPr>
          <p:nvPr>
            <p:ph type="hdr" sz="quarter" idx="13"/>
          </p:nvPr>
        </p:nvSpPr>
        <p:spPr/>
        <p:txBody>
          <a:bodyPr/>
          <a:lstStyle/>
          <a:p>
            <a:r>
              <a:rPr lang="en-US" dirty="0" smtClean="0"/>
              <a:t>Microsoft Analytics Platform System</a:t>
            </a:r>
            <a:endParaRPr lang="en-US" dirty="0"/>
          </a:p>
        </p:txBody>
      </p:sp>
    </p:spTree>
    <p:extLst>
      <p:ext uri="{BB962C8B-B14F-4D97-AF65-F5344CB8AC3E}">
        <p14:creationId xmlns:p14="http://schemas.microsoft.com/office/powerpoint/2010/main" val="40342095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5" Type="http://schemas.openxmlformats.org/officeDocument/2006/relationships/image" Target="../media/image4.png"/><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
                    </a14:imgEffect>
                  </a14:imgLayer>
                </a14:imgProps>
              </a:ext>
              <a:ext uri="{28A0092B-C50C-407E-A947-70E740481C1C}">
                <a14:useLocalDpi xmlns:a14="http://schemas.microsoft.com/office/drawing/2010/main" val="0"/>
              </a:ext>
            </a:extLst>
          </a:blip>
          <a:stretch>
            <a:fillRect/>
          </a:stretch>
        </p:blipFill>
        <p:spPr bwMode="gray">
          <a:xfrm>
            <a:off x="10426344" y="6182440"/>
            <a:ext cx="1552931" cy="332660"/>
          </a:xfrm>
          <a:prstGeom prst="rect">
            <a:avLst/>
          </a:prstGeom>
        </p:spPr>
      </p:pic>
      <p:pic>
        <p:nvPicPr>
          <p:cNvPr id="5" name="Picture 4"/>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479280" y="493939"/>
            <a:ext cx="7142451" cy="1371600"/>
          </a:xfrm>
          <a:prstGeom prst="rect">
            <a:avLst/>
          </a:prstGeom>
        </p:spPr>
      </p:pic>
    </p:spTree>
    <p:extLst>
      <p:ext uri="{BB962C8B-B14F-4D97-AF65-F5344CB8AC3E}">
        <p14:creationId xmlns:p14="http://schemas.microsoft.com/office/powerpoint/2010/main" val="1227595789"/>
      </p:ext>
    </p:extLst>
  </p:cSld>
  <p:clrMapOvr>
    <a:masterClrMapping/>
  </p:clrMapOvr>
  <p:transition>
    <p:fade/>
  </p:transition>
  <p:timing>
    <p:tnLst>
      <p:par>
        <p:cTn id="1" dur="indefinite" restart="never" nodeType="tmRoot"/>
      </p:par>
    </p:tnLst>
  </p:timing>
  <p:extLst mod="1">
    <p:ext uri="{DCECCB84-F9BA-43D5-87BE-67443E8EF086}">
      <p15:sldGuideLst xmlns:p15="http://schemas.microsoft.com/office/powerpoint/2012/main">
        <p15:guide id="1" pos="288">
          <p15:clr>
            <a:srgbClr val="C35EA4"/>
          </p15:clr>
        </p15:guide>
        <p15:guide id="2" pos="7546">
          <p15:clr>
            <a:srgbClr val="C35EA4"/>
          </p15:clr>
        </p15:guide>
        <p15:guide id="3" orient="horz" pos="302">
          <p15:clr>
            <a:srgbClr val="C35EA4"/>
          </p15:clr>
        </p15:guide>
        <p15:guide id="4" orient="horz" pos="4104">
          <p15:clr>
            <a:srgbClr val="C35EA4"/>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ANIMATED">
    <p:bg bwMode="auto">
      <p:bgPr>
        <a:solidFill>
          <a:schemeClr val="accent2"/>
        </a:solidFill>
        <a:effectLst/>
      </p:bgPr>
    </p:bg>
    <p:spTree>
      <p:nvGrpSpPr>
        <p:cNvPr id="1" name=""/>
        <p:cNvGrpSpPr/>
        <p:nvPr/>
      </p:nvGrpSpPr>
      <p:grpSpPr>
        <a:xfrm>
          <a:off x="0" y="0"/>
          <a:ext cx="0" cy="0"/>
          <a:chOff x="0" y="0"/>
          <a:chExt cx="0" cy="0"/>
        </a:xfrm>
      </p:grpSpPr>
      <p:sp>
        <p:nvSpPr>
          <p:cNvPr id="12" name="Rectangle 5"/>
          <p:cNvSpPr>
            <a:spLocks noChangeArrowheads="1"/>
          </p:cNvSpPr>
          <p:nvPr userDrawn="1"/>
        </p:nvSpPr>
        <p:spPr bwMode="auto">
          <a:xfrm>
            <a:off x="3175" y="4395788"/>
            <a:ext cx="12433300" cy="2601913"/>
          </a:xfrm>
          <a:prstGeom prst="rect">
            <a:avLst/>
          </a:prstGeom>
          <a:solidFill>
            <a:srgbClr val="4DA0E2"/>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Rectangle 7"/>
          <p:cNvSpPr>
            <a:spLocks noChangeArrowheads="1"/>
          </p:cNvSpPr>
          <p:nvPr userDrawn="1"/>
        </p:nvSpPr>
        <p:spPr bwMode="auto">
          <a:xfrm>
            <a:off x="0" y="5843588"/>
            <a:ext cx="12433301" cy="1154113"/>
          </a:xfrm>
          <a:prstGeom prst="rect">
            <a:avLst/>
          </a:prstGeom>
          <a:solidFill>
            <a:srgbClr val="00188F"/>
          </a:solidFill>
          <a:ln>
            <a:noFill/>
          </a:ln>
          <a:extLst/>
        </p:spPr>
        <p:txBody>
          <a:bodyPr vert="horz" wrap="square" lIns="91440" tIns="45720" rIns="91440" bIns="45720" numCol="1" anchor="t" anchorCtr="0" compatLnSpc="1">
            <a:prstTxWarp prst="textNoShape">
              <a:avLst/>
            </a:prstTxWarp>
          </a:bodyPr>
          <a:lstStyle/>
          <a:p>
            <a:endParaRPr lang="en-US"/>
          </a:p>
        </p:txBody>
      </p:sp>
      <p:sp>
        <p:nvSpPr>
          <p:cNvPr id="11" name="Rectangle 8"/>
          <p:cNvSpPr>
            <a:spLocks noChangeArrowheads="1"/>
          </p:cNvSpPr>
          <p:nvPr userDrawn="1"/>
        </p:nvSpPr>
        <p:spPr bwMode="auto">
          <a:xfrm>
            <a:off x="3175" y="3409950"/>
            <a:ext cx="12430127" cy="282575"/>
          </a:xfrm>
          <a:prstGeom prst="rect">
            <a:avLst/>
          </a:prstGeom>
          <a:solidFill>
            <a:srgbClr val="25B9EC"/>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Rectangle 12"/>
          <p:cNvSpPr/>
          <p:nvPr userDrawn="1"/>
        </p:nvSpPr>
        <p:spPr bwMode="white">
          <a:xfrm>
            <a:off x="0" y="-318"/>
            <a:ext cx="12435840" cy="6995160"/>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6540" y="3954457"/>
            <a:ext cx="6399213" cy="1830388"/>
          </a:xfrm>
          <a:noFill/>
        </p:spPr>
        <p:txBody>
          <a:bodyPr lIns="146304" tIns="109728" rIns="146304" bIns="109728">
            <a:noAutofit/>
          </a:bodyPr>
          <a:lstStyle>
            <a:lvl1pPr marL="0" indent="0">
              <a:spcBef>
                <a:spcPts val="0"/>
              </a:spcBef>
              <a:buNone/>
              <a:defRPr sz="3600" spc="0" baseline="0">
                <a:gradFill>
                  <a:gsLst>
                    <a:gs pos="0">
                      <a:schemeClr val="tx1"/>
                    </a:gs>
                    <a:gs pos="100000">
                      <a:schemeClr val="tx1"/>
                    </a:gs>
                  </a:gsLst>
                  <a:lin ang="5400000" scaled="0"/>
                </a:gradFill>
                <a:latin typeface="+mj-lt"/>
              </a:defRPr>
            </a:lvl1pPr>
          </a:lstStyle>
          <a:p>
            <a:pPr lvl="0"/>
            <a:r>
              <a:rPr lang="en-US" dirty="0" smtClean="0"/>
              <a:t>Speaker Name</a:t>
            </a:r>
          </a:p>
        </p:txBody>
      </p:sp>
      <p:sp>
        <p:nvSpPr>
          <p:cNvPr id="9" name="Title 1"/>
          <p:cNvSpPr>
            <a:spLocks noGrp="1"/>
          </p:cNvSpPr>
          <p:nvPr>
            <p:ph type="title" hasCustomPrompt="1"/>
          </p:nvPr>
        </p:nvSpPr>
        <p:spPr>
          <a:xfrm>
            <a:off x="274703" y="2117165"/>
            <a:ext cx="10058336" cy="1837298"/>
          </a:xfrm>
          <a:noFill/>
        </p:spPr>
        <p:txBody>
          <a:bodyPr lIns="146304" tIns="91440" rIns="146304" bIns="91440" anchor="t" anchorCtr="0"/>
          <a:lstStyle>
            <a:lvl1pPr>
              <a:defRPr sz="6000" spc="-100" baseline="0">
                <a:gradFill>
                  <a:gsLst>
                    <a:gs pos="3333">
                      <a:schemeClr val="tx1"/>
                    </a:gs>
                    <a:gs pos="39000">
                      <a:schemeClr val="tx1"/>
                    </a:gs>
                  </a:gsLst>
                  <a:lin ang="5400000" scaled="0"/>
                </a:gradFill>
              </a:defRPr>
            </a:lvl1pPr>
          </a:lstStyle>
          <a:p>
            <a:r>
              <a:rPr lang="en-US" dirty="0" smtClean="0"/>
              <a:t>Presentation title</a:t>
            </a:r>
            <a:endParaRPr lang="en-US" dirty="0"/>
          </a:p>
        </p:txBody>
      </p:sp>
      <p:pic>
        <p:nvPicPr>
          <p:cNvPr id="6" name="Picture 5"/>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
                    </a14:imgEffect>
                  </a14:imgLayer>
                </a14:imgProps>
              </a:ext>
              <a:ext uri="{28A0092B-C50C-407E-A947-70E740481C1C}">
                <a14:useLocalDpi xmlns:a14="http://schemas.microsoft.com/office/drawing/2010/main" val="0"/>
              </a:ext>
            </a:extLst>
          </a:blip>
          <a:stretch>
            <a:fillRect/>
          </a:stretch>
        </p:blipFill>
        <p:spPr bwMode="black">
          <a:xfrm>
            <a:off x="458332" y="6182440"/>
            <a:ext cx="1552931" cy="332660"/>
          </a:xfrm>
          <a:prstGeom prst="rect">
            <a:avLst/>
          </a:prstGeom>
        </p:spPr>
      </p:pic>
      <p:sp>
        <p:nvSpPr>
          <p:cNvPr id="8" name="Rectangle 6"/>
          <p:cNvSpPr>
            <a:spLocks noChangeArrowheads="1"/>
          </p:cNvSpPr>
          <p:nvPr userDrawn="1"/>
        </p:nvSpPr>
        <p:spPr bwMode="auto">
          <a:xfrm>
            <a:off x="3175" y="4395788"/>
            <a:ext cx="12433300" cy="2601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TextBox 7"/>
          <p:cNvSpPr txBox="1"/>
          <p:nvPr userDrawn="1"/>
        </p:nvSpPr>
        <p:spPr bwMode="white">
          <a:xfrm>
            <a:off x="4418866" y="6697627"/>
            <a:ext cx="3598742" cy="161583"/>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r>
              <a:rPr lang="en-US" sz="1050" b="0" spc="150" baseline="0" dirty="0" smtClean="0">
                <a:gradFill>
                  <a:gsLst>
                    <a:gs pos="0">
                      <a:schemeClr val="tx1">
                        <a:alpha val="50000"/>
                      </a:schemeClr>
                    </a:gs>
                    <a:gs pos="86000">
                      <a:schemeClr val="tx1">
                        <a:alpha val="50000"/>
                      </a:schemeClr>
                    </a:gs>
                  </a:gsLst>
                  <a:lin ang="5400000" scaled="0"/>
                </a:gradFill>
                <a:latin typeface="+mn-lt"/>
              </a:rPr>
              <a:t>MICROSOFT CONFIDENTIAL – INTERNAL ONLY</a:t>
            </a:r>
          </a:p>
        </p:txBody>
      </p:sp>
      <p:sp>
        <p:nvSpPr>
          <p:cNvPr id="17" name="Text Placeholder 16"/>
          <p:cNvSpPr>
            <a:spLocks noGrp="1"/>
          </p:cNvSpPr>
          <p:nvPr>
            <p:ph type="body" sz="quarter" idx="13" hasCustomPrompt="1"/>
          </p:nvPr>
        </p:nvSpPr>
        <p:spPr>
          <a:xfrm>
            <a:off x="274638" y="296863"/>
            <a:ext cx="3657600" cy="461665"/>
          </a:xfrm>
        </p:spPr>
        <p:txBody>
          <a:bodyPr/>
          <a:lstStyle>
            <a:lvl1pPr marL="0" indent="0">
              <a:buNone/>
              <a:defRPr sz="2000">
                <a:latin typeface="+mn-lt"/>
              </a:defRPr>
            </a:lvl1pPr>
            <a:lvl2pPr marL="342900" indent="0">
              <a:buNone/>
              <a:defRPr sz="2000"/>
            </a:lvl2pPr>
            <a:lvl3pPr marL="571500" indent="0">
              <a:buNone/>
              <a:defRPr sz="2000"/>
            </a:lvl3pPr>
            <a:lvl4pPr marL="800100" indent="0">
              <a:buNone/>
              <a:defRPr sz="2000"/>
            </a:lvl4pPr>
            <a:lvl5pPr marL="1028700" indent="0">
              <a:buNone/>
              <a:defRPr sz="2000"/>
            </a:lvl5pPr>
          </a:lstStyle>
          <a:p>
            <a:pPr lvl="0"/>
            <a:r>
              <a:rPr lang="en-US" dirty="0" smtClean="0"/>
              <a:t>Session Code</a:t>
            </a:r>
            <a:endParaRPr lang="en-US" dirty="0"/>
          </a:p>
        </p:txBody>
      </p:sp>
      <p:sp>
        <p:nvSpPr>
          <p:cNvPr id="15" name="Text Placeholder 16"/>
          <p:cNvSpPr>
            <a:spLocks noGrp="1"/>
          </p:cNvSpPr>
          <p:nvPr>
            <p:ph type="body" sz="quarter" idx="14" hasCustomPrompt="1"/>
          </p:nvPr>
        </p:nvSpPr>
        <p:spPr>
          <a:xfrm>
            <a:off x="8504239" y="296863"/>
            <a:ext cx="3657600" cy="461665"/>
          </a:xfrm>
        </p:spPr>
        <p:txBody>
          <a:bodyPr/>
          <a:lstStyle>
            <a:lvl1pPr marL="0" indent="0" algn="r">
              <a:buNone/>
              <a:defRPr sz="2000">
                <a:latin typeface="+mn-lt"/>
              </a:defRPr>
            </a:lvl1pPr>
            <a:lvl2pPr marL="342900" indent="0">
              <a:buNone/>
              <a:defRPr sz="2000"/>
            </a:lvl2pPr>
            <a:lvl3pPr marL="571500" indent="0">
              <a:buNone/>
              <a:defRPr sz="2000"/>
            </a:lvl3pPr>
            <a:lvl4pPr marL="800100" indent="0">
              <a:buNone/>
              <a:defRPr sz="2000"/>
            </a:lvl4pPr>
            <a:lvl5pPr marL="1028700" indent="0">
              <a:buNone/>
              <a:defRPr sz="2000"/>
            </a:lvl5pPr>
          </a:lstStyle>
          <a:p>
            <a:pPr lvl="0"/>
            <a:r>
              <a:rPr lang="en-US" dirty="0" smtClean="0"/>
              <a:t>Yammer hashtag</a:t>
            </a:r>
            <a:endParaRPr lang="en-US" dirty="0"/>
          </a:p>
        </p:txBody>
      </p:sp>
    </p:spTree>
    <p:extLst>
      <p:ext uri="{BB962C8B-B14F-4D97-AF65-F5344CB8AC3E}">
        <p14:creationId xmlns:p14="http://schemas.microsoft.com/office/powerpoint/2010/main" val="2886053532"/>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3" presetClass="path" presetSubtype="0" accel="24000" decel="76000" fill="hold" grpId="0" nodeType="withEffect">
                                  <p:stCondLst>
                                    <p:cond delay="0"/>
                                  </p:stCondLst>
                                  <p:childTnLst>
                                    <p:animMotion origin="layout" path="M 0 3.25011E-6 L 1.00728 3.25011E-6 " pathEditMode="relative" rAng="0" ptsTypes="AA">
                                      <p:cBhvr>
                                        <p:cTn id="6" dur="750" fill="hold"/>
                                        <p:tgtEl>
                                          <p:spTgt spid="11"/>
                                        </p:tgtEl>
                                        <p:attrNameLst>
                                          <p:attrName>ppt_x</p:attrName>
                                          <p:attrName>ppt_y</p:attrName>
                                        </p:attrNameLst>
                                      </p:cBhvr>
                                      <p:rCtr x="50357" y="0"/>
                                    </p:animMotion>
                                  </p:childTnLst>
                                </p:cTn>
                              </p:par>
                              <p:par>
                                <p:cTn id="7" presetID="63" presetClass="path" presetSubtype="0" accel="24000" decel="76000" fill="hold" grpId="0" nodeType="withEffect">
                                  <p:stCondLst>
                                    <p:cond delay="250"/>
                                  </p:stCondLst>
                                  <p:childTnLst>
                                    <p:animMotion origin="layout" path="M 0 3.25011E-6 L 1.00728 3.25011E-6 " pathEditMode="relative" rAng="0" ptsTypes="AA">
                                      <p:cBhvr>
                                        <p:cTn id="8" dur="750" fill="hold"/>
                                        <p:tgtEl>
                                          <p:spTgt spid="12"/>
                                        </p:tgtEl>
                                        <p:attrNameLst>
                                          <p:attrName>ppt_x</p:attrName>
                                          <p:attrName>ppt_y</p:attrName>
                                        </p:attrNameLst>
                                      </p:cBhvr>
                                      <p:rCtr x="50357" y="0"/>
                                    </p:animMotion>
                                  </p:childTnLst>
                                </p:cTn>
                              </p:par>
                              <p:par>
                                <p:cTn id="9" presetID="63" presetClass="path" presetSubtype="0" accel="24000" decel="76000" fill="hold" grpId="0" nodeType="withEffect">
                                  <p:stCondLst>
                                    <p:cond delay="150"/>
                                  </p:stCondLst>
                                  <p:childTnLst>
                                    <p:animMotion origin="layout" path="M 0 3.25011E-6 L 1.00728 3.25011E-6 " pathEditMode="relative" rAng="0" ptsTypes="AA">
                                      <p:cBhvr>
                                        <p:cTn id="10" dur="750" fill="hold"/>
                                        <p:tgtEl>
                                          <p:spTgt spid="10"/>
                                        </p:tgtEl>
                                        <p:attrNameLst>
                                          <p:attrName>ppt_x</p:attrName>
                                          <p:attrName>ppt_y</p:attrName>
                                        </p:attrNameLst>
                                      </p:cBhvr>
                                      <p:rCtr x="50357" y="0"/>
                                    </p:animMotion>
                                  </p:childTnLst>
                                </p:cTn>
                              </p:par>
                              <p:par>
                                <p:cTn id="11" presetID="1" presetClass="entr" presetSubtype="0" fill="hold" grpId="0" nodeType="withEffect">
                                  <p:stCondLst>
                                    <p:cond delay="1000"/>
                                  </p:stCondLst>
                                  <p:childTnLst>
                                    <p:set>
                                      <p:cBhvr>
                                        <p:cTn id="12" dur="1" fill="hold">
                                          <p:stCondLst>
                                            <p:cond delay="0"/>
                                          </p:stCondLst>
                                        </p:cTn>
                                        <p:tgtEl>
                                          <p:spTgt spid="13"/>
                                        </p:tgtEl>
                                        <p:attrNameLst>
                                          <p:attrName>style.visibility</p:attrName>
                                        </p:attrNameLst>
                                      </p:cBhvr>
                                      <p:to>
                                        <p:strVal val="visible"/>
                                      </p:to>
                                    </p:set>
                                  </p:childTnLst>
                                </p:cTn>
                              </p:par>
                              <p:par>
                                <p:cTn id="13" presetID="10" presetClass="entr" presetSubtype="0" fill="hold" grpId="0" nodeType="withEffect">
                                  <p:stCondLst>
                                    <p:cond delay="75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950"/>
                                        <p:tgtEl>
                                          <p:spTgt spid="9"/>
                                        </p:tgtEl>
                                      </p:cBhvr>
                                    </p:animEffect>
                                  </p:childTnLst>
                                </p:cTn>
                              </p:par>
                              <p:par>
                                <p:cTn id="16" presetID="63" presetClass="path" presetSubtype="0" decel="100000" fill="hold" grpId="1" nodeType="withEffect">
                                  <p:stCondLst>
                                    <p:cond delay="750"/>
                                  </p:stCondLst>
                                  <p:childTnLst>
                                    <p:animMotion origin="layout" path="M -0.01455 -1.34362E-6 L -3.90605E-7 -1.34362E-6 " pathEditMode="relative" rAng="0" ptsTypes="AA">
                                      <p:cBhvr>
                                        <p:cTn id="17" dur="950" fill="hold"/>
                                        <p:tgtEl>
                                          <p:spTgt spid="9"/>
                                        </p:tgtEl>
                                        <p:attrNameLst>
                                          <p:attrName>ppt_x</p:attrName>
                                          <p:attrName>ppt_y</p:attrName>
                                        </p:attrNameLst>
                                      </p:cBhvr>
                                      <p:rCtr x="728" y="0"/>
                                    </p:animMotion>
                                  </p:childTnLst>
                                </p:cTn>
                              </p:par>
                              <p:par>
                                <p:cTn id="18" presetID="6" presetClass="emph" presetSubtype="0" accel="100000" autoRev="1" fill="hold" grpId="2" nodeType="withEffect">
                                  <p:stCondLst>
                                    <p:cond delay="50"/>
                                  </p:stCondLst>
                                  <p:childTnLst>
                                    <p:animScale>
                                      <p:cBhvr>
                                        <p:cTn id="19" dur="500" fill="hold"/>
                                        <p:tgtEl>
                                          <p:spTgt spid="9"/>
                                        </p:tgtEl>
                                      </p:cBhvr>
                                      <p:by x="95000" y="95000"/>
                                    </p:animScale>
                                  </p:childTnLst>
                                </p:cTn>
                              </p:par>
                              <p:par>
                                <p:cTn id="20" presetID="10" presetClass="entr" presetSubtype="0" fill="hold" grpId="0" nodeType="withEffect">
                                  <p:stCondLst>
                                    <p:cond delay="80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950"/>
                                        <p:tgtEl>
                                          <p:spTgt spid="5"/>
                                        </p:tgtEl>
                                      </p:cBhvr>
                                    </p:animEffect>
                                  </p:childTnLst>
                                </p:cTn>
                              </p:par>
                              <p:par>
                                <p:cTn id="23" presetID="63" presetClass="path" presetSubtype="0" decel="100000" fill="hold" grpId="1" nodeType="withEffect">
                                  <p:stCondLst>
                                    <p:cond delay="800"/>
                                  </p:stCondLst>
                                  <p:childTnLst>
                                    <p:animMotion origin="layout" path="M -0.01455 -1.34362E-6 L -3.90605E-7 -1.34362E-6 " pathEditMode="relative" rAng="0" ptsTypes="AA">
                                      <p:cBhvr>
                                        <p:cTn id="24" dur="950" fill="hold"/>
                                        <p:tgtEl>
                                          <p:spTgt spid="5"/>
                                        </p:tgtEl>
                                        <p:attrNameLst>
                                          <p:attrName>ppt_x</p:attrName>
                                          <p:attrName>ppt_y</p:attrName>
                                        </p:attrNameLst>
                                      </p:cBhvr>
                                      <p:rCtr x="728" y="0"/>
                                    </p:animMotion>
                                  </p:childTnLst>
                                </p:cTn>
                              </p:par>
                              <p:par>
                                <p:cTn id="25" presetID="6" presetClass="emph" presetSubtype="0" accel="100000" autoRev="1" fill="hold" grpId="2" nodeType="withEffect">
                                  <p:stCondLst>
                                    <p:cond delay="100"/>
                                  </p:stCondLst>
                                  <p:childTnLst>
                                    <p:animScale>
                                      <p:cBhvr>
                                        <p:cTn id="26" dur="500" fill="hold"/>
                                        <p:tgtEl>
                                          <p:spTgt spid="5"/>
                                        </p:tgtEl>
                                      </p:cBhvr>
                                      <p:by x="95000" y="95000"/>
                                    </p:animScale>
                                  </p:childTnLst>
                                </p:cTn>
                              </p:par>
                              <p:par>
                                <p:cTn id="27" presetID="10" presetClass="entr" presetSubtype="0" fill="hold" nodeType="withEffect">
                                  <p:stCondLst>
                                    <p:cond delay="90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950"/>
                                        <p:tgtEl>
                                          <p:spTgt spid="6"/>
                                        </p:tgtEl>
                                      </p:cBhvr>
                                    </p:animEffect>
                                  </p:childTnLst>
                                </p:cTn>
                              </p:par>
                              <p:par>
                                <p:cTn id="30" presetID="63" presetClass="path" presetSubtype="0" decel="100000" fill="hold" nodeType="withEffect">
                                  <p:stCondLst>
                                    <p:cond delay="900"/>
                                  </p:stCondLst>
                                  <p:childTnLst>
                                    <p:animMotion origin="layout" path="M -0.01455 -1.34362E-6 L -3.90605E-7 -1.34362E-6 " pathEditMode="relative" rAng="0" ptsTypes="AA">
                                      <p:cBhvr>
                                        <p:cTn id="31" dur="950" fill="hold"/>
                                        <p:tgtEl>
                                          <p:spTgt spid="6"/>
                                        </p:tgtEl>
                                        <p:attrNameLst>
                                          <p:attrName>ppt_x</p:attrName>
                                          <p:attrName>ppt_y</p:attrName>
                                        </p:attrNameLst>
                                      </p:cBhvr>
                                      <p:rCtr x="728" y="0"/>
                                    </p:animMotion>
                                  </p:childTnLst>
                                </p:cTn>
                              </p:par>
                              <p:par>
                                <p:cTn id="32" presetID="6" presetClass="emph" presetSubtype="0" accel="100000" autoRev="1" fill="hold" nodeType="withEffect">
                                  <p:stCondLst>
                                    <p:cond delay="200"/>
                                  </p:stCondLst>
                                  <p:childTnLst>
                                    <p:animScale>
                                      <p:cBhvr>
                                        <p:cTn id="33" dur="500" fill="hold"/>
                                        <p:tgtEl>
                                          <p:spTgt spid="6"/>
                                        </p:tgtEl>
                                      </p:cBhvr>
                                      <p:by x="95000" y="95000"/>
                                    </p:animScale>
                                  </p:childTnLst>
                                </p:cTn>
                              </p:par>
                              <p:par>
                                <p:cTn id="34" presetID="10" presetClass="entr" presetSubtype="0" fill="hold" grpId="0" nodeType="withEffect">
                                  <p:stCondLst>
                                    <p:cond delay="100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950"/>
                                        <p:tgtEl>
                                          <p:spTgt spid="14"/>
                                        </p:tgtEl>
                                      </p:cBhvr>
                                    </p:animEffect>
                                  </p:childTnLst>
                                </p:cTn>
                              </p:par>
                              <p:par>
                                <p:cTn id="37" presetID="63" presetClass="path" presetSubtype="0" decel="100000" fill="hold" grpId="1" nodeType="withEffect">
                                  <p:stCondLst>
                                    <p:cond delay="1000"/>
                                  </p:stCondLst>
                                  <p:childTnLst>
                                    <p:animMotion origin="layout" path="M -0.01455 -1.34362E-6 L -3.90605E-7 -1.34362E-6 " pathEditMode="relative" rAng="0" ptsTypes="AA">
                                      <p:cBhvr>
                                        <p:cTn id="38" dur="950" fill="hold"/>
                                        <p:tgtEl>
                                          <p:spTgt spid="14"/>
                                        </p:tgtEl>
                                        <p:attrNameLst>
                                          <p:attrName>ppt_x</p:attrName>
                                          <p:attrName>ppt_y</p:attrName>
                                        </p:attrNameLst>
                                      </p:cBhvr>
                                      <p:rCtr x="728" y="0"/>
                                    </p:animMotion>
                                  </p:childTnLst>
                                </p:cTn>
                              </p:par>
                              <p:par>
                                <p:cTn id="39" presetID="6" presetClass="emph" presetSubtype="0" accel="100000" autoRev="1" fill="hold" grpId="2" nodeType="withEffect">
                                  <p:stCondLst>
                                    <p:cond delay="300"/>
                                  </p:stCondLst>
                                  <p:childTnLst>
                                    <p:animScale>
                                      <p:cBhvr>
                                        <p:cTn id="40" dur="500" fill="hold"/>
                                        <p:tgtEl>
                                          <p:spTgt spid="14"/>
                                        </p:tgtEl>
                                      </p:cBhvr>
                                      <p:by x="95000" y="95000"/>
                                    </p:animScale>
                                  </p:childTnLst>
                                </p:cTn>
                              </p:par>
                              <p:par>
                                <p:cTn id="41" presetID="10" presetClass="entr" presetSubtype="0" fill="hold" grpId="0" nodeType="withEffect">
                                  <p:stCondLst>
                                    <p:cond delay="70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950"/>
                                        <p:tgtEl>
                                          <p:spTgt spid="17"/>
                                        </p:tgtEl>
                                      </p:cBhvr>
                                    </p:animEffect>
                                  </p:childTnLst>
                                </p:cTn>
                              </p:par>
                              <p:par>
                                <p:cTn id="44" presetID="63" presetClass="path" presetSubtype="0" decel="100000" fill="hold" grpId="1" nodeType="withEffect">
                                  <p:stCondLst>
                                    <p:cond delay="700"/>
                                  </p:stCondLst>
                                  <p:childTnLst>
                                    <p:animMotion origin="layout" path="M -0.01455 -1.34362E-6 L -3.90605E-7 -1.34362E-6 " pathEditMode="relative" rAng="0" ptsTypes="AA">
                                      <p:cBhvr>
                                        <p:cTn id="45" dur="950" fill="hold"/>
                                        <p:tgtEl>
                                          <p:spTgt spid="17"/>
                                        </p:tgtEl>
                                        <p:attrNameLst>
                                          <p:attrName>ppt_x</p:attrName>
                                          <p:attrName>ppt_y</p:attrName>
                                        </p:attrNameLst>
                                      </p:cBhvr>
                                      <p:rCtr x="728" y="0"/>
                                    </p:animMotion>
                                  </p:childTnLst>
                                </p:cTn>
                              </p:par>
                              <p:par>
                                <p:cTn id="46" presetID="6" presetClass="emph" presetSubtype="0" accel="100000" autoRev="1" fill="hold" grpId="2" nodeType="withEffect">
                                  <p:stCondLst>
                                    <p:cond delay="0"/>
                                  </p:stCondLst>
                                  <p:childTnLst>
                                    <p:animScale>
                                      <p:cBhvr>
                                        <p:cTn id="47" dur="500" fill="hold"/>
                                        <p:tgtEl>
                                          <p:spTgt spid="17"/>
                                        </p:tgtEl>
                                      </p:cBhvr>
                                      <p:by x="95000" y="95000"/>
                                    </p:animScale>
                                  </p:childTnLst>
                                </p:cTn>
                              </p:par>
                              <p:par>
                                <p:cTn id="48" presetID="10" presetClass="entr" presetSubtype="0" fill="hold" grpId="0" nodeType="withEffect">
                                  <p:stCondLst>
                                    <p:cond delay="700"/>
                                  </p:stCondLst>
                                  <p:childTnLst>
                                    <p:set>
                                      <p:cBhvr>
                                        <p:cTn id="49" dur="1" fill="hold">
                                          <p:stCondLst>
                                            <p:cond delay="0"/>
                                          </p:stCondLst>
                                        </p:cTn>
                                        <p:tgtEl>
                                          <p:spTgt spid="15"/>
                                        </p:tgtEl>
                                        <p:attrNameLst>
                                          <p:attrName>style.visibility</p:attrName>
                                        </p:attrNameLst>
                                      </p:cBhvr>
                                      <p:to>
                                        <p:strVal val="visible"/>
                                      </p:to>
                                    </p:set>
                                    <p:animEffect transition="in" filter="fade">
                                      <p:cBhvr>
                                        <p:cTn id="50" dur="950"/>
                                        <p:tgtEl>
                                          <p:spTgt spid="15"/>
                                        </p:tgtEl>
                                      </p:cBhvr>
                                    </p:animEffect>
                                  </p:childTnLst>
                                </p:cTn>
                              </p:par>
                              <p:par>
                                <p:cTn id="51" presetID="63" presetClass="path" presetSubtype="0" decel="100000" fill="hold" grpId="1" nodeType="withEffect">
                                  <p:stCondLst>
                                    <p:cond delay="700"/>
                                  </p:stCondLst>
                                  <p:childTnLst>
                                    <p:animMotion origin="layout" path="M -0.01455 -1.34362E-6 L -3.90605E-7 -1.34362E-6 " pathEditMode="relative" rAng="0" ptsTypes="AA">
                                      <p:cBhvr>
                                        <p:cTn id="52" dur="950" fill="hold"/>
                                        <p:tgtEl>
                                          <p:spTgt spid="15"/>
                                        </p:tgtEl>
                                        <p:attrNameLst>
                                          <p:attrName>ppt_x</p:attrName>
                                          <p:attrName>ppt_y</p:attrName>
                                        </p:attrNameLst>
                                      </p:cBhvr>
                                      <p:rCtr x="728" y="0"/>
                                    </p:animMotion>
                                  </p:childTnLst>
                                </p:cTn>
                              </p:par>
                              <p:par>
                                <p:cTn id="53" presetID="6" presetClass="emph" presetSubtype="0" accel="100000" autoRev="1" fill="hold" grpId="2" nodeType="withEffect">
                                  <p:stCondLst>
                                    <p:cond delay="0"/>
                                  </p:stCondLst>
                                  <p:childTnLst>
                                    <p:animScale>
                                      <p:cBhvr>
                                        <p:cTn id="54" dur="500" fill="hold"/>
                                        <p:tgtEl>
                                          <p:spTgt spid="15"/>
                                        </p:tgtEl>
                                      </p:cBhvr>
                                      <p:by x="95000" y="9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0" grpId="0" animBg="1"/>
      <p:bldP spid="11" grpId="0" animBg="1"/>
      <p:bldP spid="13" grpId="0" animBg="1"/>
      <p:bldP spid="5" grpId="0">
        <p:tmplLst>
          <p:tmpl>
            <p:tnLst>
              <p:par>
                <p:cTn presetID="10" presetClass="entr" presetSubtype="0" fill="hold" nodeType="withEffect">
                  <p:stCondLst>
                    <p:cond delay="800"/>
                  </p:stCondLst>
                  <p:childTnLst>
                    <p:set>
                      <p:cBhvr>
                        <p:cTn dur="1" fill="hold">
                          <p:stCondLst>
                            <p:cond delay="0"/>
                          </p:stCondLst>
                        </p:cTn>
                        <p:tgtEl>
                          <p:spTgt spid="5"/>
                        </p:tgtEl>
                        <p:attrNameLst>
                          <p:attrName>style.visibility</p:attrName>
                        </p:attrNameLst>
                      </p:cBhvr>
                      <p:to>
                        <p:strVal val="visible"/>
                      </p:to>
                    </p:set>
                    <p:animEffect transition="in" filter="fade">
                      <p:cBhvr>
                        <p:cTn dur="950"/>
                        <p:tgtEl>
                          <p:spTgt spid="5"/>
                        </p:tgtEl>
                      </p:cBhvr>
                    </p:animEffect>
                  </p:childTnLst>
                </p:cTn>
              </p:par>
            </p:tnLst>
          </p:tmpl>
        </p:tmplLst>
      </p:bldP>
      <p:bldP spid="5" grpId="1">
        <p:tmplLst>
          <p:tmpl>
            <p:tnLst>
              <p:par>
                <p:cTn presetID="63" presetClass="path" presetSubtype="0" decel="100000" fill="hold" nodeType="withEffect">
                  <p:stCondLst>
                    <p:cond delay="800"/>
                  </p:stCondLst>
                  <p:childTnLst>
                    <p:animMotion origin="layout" path="M -0.01455 -1.34362E-6 L -3.90605E-7 -1.34362E-6 " pathEditMode="relative" rAng="0" ptsTypes="AA">
                      <p:cBhvr>
                        <p:cTn dur="950" fill="hold"/>
                        <p:tgtEl>
                          <p:spTgt spid="5"/>
                        </p:tgtEl>
                        <p:attrNameLst>
                          <p:attrName>ppt_x</p:attrName>
                          <p:attrName>ppt_y</p:attrName>
                        </p:attrNameLst>
                      </p:cBhvr>
                      <p:rCtr x="728" y="0"/>
                    </p:animMotion>
                  </p:childTnLst>
                </p:cTn>
              </p:par>
            </p:tnLst>
          </p:tmpl>
        </p:tmplLst>
      </p:bldP>
      <p:bldP spid="5" grpId="2">
        <p:tmplLst>
          <p:tmpl>
            <p:tnLst>
              <p:par>
                <p:cTn presetID="6" presetClass="emph" presetSubtype="0" accel="100000" autoRev="1" fill="hold" nodeType="withEffect">
                  <p:stCondLst>
                    <p:cond delay="100"/>
                  </p:stCondLst>
                  <p:childTnLst>
                    <p:animScale>
                      <p:cBhvr>
                        <p:cTn dur="500" fill="hold"/>
                        <p:tgtEl>
                          <p:spTgt spid="5"/>
                        </p:tgtEl>
                      </p:cBhvr>
                      <p:by x="95000" y="95000"/>
                    </p:animScale>
                  </p:childTnLst>
                </p:cTn>
              </p:par>
            </p:tnLst>
          </p:tmpl>
        </p:tmplLst>
      </p:bldP>
      <p:bldP spid="9" grpId="0"/>
      <p:bldP spid="9" grpId="1"/>
      <p:bldP spid="9" grpId="2"/>
      <p:bldP spid="14" grpId="0"/>
      <p:bldP spid="14" grpId="1"/>
      <p:bldP spid="14" grpId="2"/>
      <p:bldP spid="17" grpId="0">
        <p:tmplLst>
          <p:tmpl>
            <p:tnLst>
              <p:par>
                <p:cTn presetID="10" presetClass="entr" presetSubtype="0" fill="hold" nodeType="withEffect">
                  <p:stCondLst>
                    <p:cond delay="700"/>
                  </p:stCondLst>
                  <p:childTnLst>
                    <p:set>
                      <p:cBhvr>
                        <p:cTn dur="1" fill="hold">
                          <p:stCondLst>
                            <p:cond delay="0"/>
                          </p:stCondLst>
                        </p:cTn>
                        <p:tgtEl>
                          <p:spTgt spid="17"/>
                        </p:tgtEl>
                        <p:attrNameLst>
                          <p:attrName>style.visibility</p:attrName>
                        </p:attrNameLst>
                      </p:cBhvr>
                      <p:to>
                        <p:strVal val="visible"/>
                      </p:to>
                    </p:set>
                    <p:animEffect transition="in" filter="fade">
                      <p:cBhvr>
                        <p:cTn dur="950"/>
                        <p:tgtEl>
                          <p:spTgt spid="17"/>
                        </p:tgtEl>
                      </p:cBhvr>
                    </p:animEffect>
                  </p:childTnLst>
                </p:cTn>
              </p:par>
            </p:tnLst>
          </p:tmpl>
        </p:tmplLst>
      </p:bldP>
      <p:bldP spid="17" grpId="1"/>
      <p:bldP spid="17" grpId="2"/>
      <p:bldP spid="15" grpId="0">
        <p:tmplLst>
          <p:tmpl>
            <p:tnLst>
              <p:par>
                <p:cTn presetID="10" presetClass="entr" presetSubtype="0" fill="hold" nodeType="withEffect">
                  <p:stCondLst>
                    <p:cond delay="700"/>
                  </p:stCondLst>
                  <p:childTnLst>
                    <p:set>
                      <p:cBhvr>
                        <p:cTn dur="1" fill="hold">
                          <p:stCondLst>
                            <p:cond delay="0"/>
                          </p:stCondLst>
                        </p:cTn>
                        <p:tgtEl>
                          <p:spTgt spid="15"/>
                        </p:tgtEl>
                        <p:attrNameLst>
                          <p:attrName>style.visibility</p:attrName>
                        </p:attrNameLst>
                      </p:cBhvr>
                      <p:to>
                        <p:strVal val="visible"/>
                      </p:to>
                    </p:set>
                    <p:animEffect transition="in" filter="fade">
                      <p:cBhvr>
                        <p:cTn dur="950"/>
                        <p:tgtEl>
                          <p:spTgt spid="15"/>
                        </p:tgtEl>
                      </p:cBhvr>
                    </p:animEffect>
                  </p:childTnLst>
                </p:cTn>
              </p:par>
            </p:tnLst>
          </p:tmpl>
        </p:tmplLst>
      </p:bldP>
      <p:bldP spid="15" grpId="1"/>
      <p:bldP spid="15" grpId="2"/>
    </p:bldLst>
  </p:timing>
  <p:extLst mod="1">
    <p:ext uri="{DCECCB84-F9BA-43D5-87BE-67443E8EF086}">
      <p15:sldGuideLst xmlns:p15="http://schemas.microsoft.com/office/powerpoint/2012/main">
        <p15:guide id="4" orient="horz" pos="4406" userDrawn="1">
          <p15:clr>
            <a:srgbClr val="C35EA4"/>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 STATIC">
    <p:bg>
      <p:bgPr>
        <a:solidFill>
          <a:schemeClr val="accent2"/>
        </a:solidFill>
        <a:effectLst/>
      </p:bgPr>
    </p:bg>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6540" y="3954457"/>
            <a:ext cx="6399213" cy="1830388"/>
          </a:xfrm>
          <a:noFill/>
        </p:spPr>
        <p:txBody>
          <a:bodyPr lIns="146304" tIns="109728" rIns="146304" bIns="109728">
            <a:noAutofit/>
          </a:bodyPr>
          <a:lstStyle>
            <a:lvl1pPr marL="0" indent="0">
              <a:spcBef>
                <a:spcPts val="0"/>
              </a:spcBef>
              <a:buNone/>
              <a:defRPr sz="3600" spc="0" baseline="0">
                <a:gradFill>
                  <a:gsLst>
                    <a:gs pos="0">
                      <a:schemeClr val="tx1"/>
                    </a:gs>
                    <a:gs pos="100000">
                      <a:schemeClr val="tx1"/>
                    </a:gs>
                  </a:gsLst>
                  <a:lin ang="5400000" scaled="0"/>
                </a:gradFill>
                <a:latin typeface="+mj-lt"/>
              </a:defRPr>
            </a:lvl1pPr>
          </a:lstStyle>
          <a:p>
            <a:pPr lvl="0"/>
            <a:r>
              <a:rPr lang="en-US" dirty="0" smtClean="0"/>
              <a:t>Speaker Name</a:t>
            </a:r>
          </a:p>
        </p:txBody>
      </p:sp>
      <p:sp>
        <p:nvSpPr>
          <p:cNvPr id="9" name="Title 1"/>
          <p:cNvSpPr>
            <a:spLocks noGrp="1"/>
          </p:cNvSpPr>
          <p:nvPr>
            <p:ph type="title" hasCustomPrompt="1"/>
          </p:nvPr>
        </p:nvSpPr>
        <p:spPr>
          <a:xfrm>
            <a:off x="274703" y="2117165"/>
            <a:ext cx="10058336" cy="1837298"/>
          </a:xfrm>
          <a:noFill/>
        </p:spPr>
        <p:txBody>
          <a:bodyPr lIns="146304" tIns="91440" rIns="146304" bIns="91440" anchor="t" anchorCtr="0"/>
          <a:lstStyle>
            <a:lvl1pPr>
              <a:defRPr sz="6000" spc="-100" baseline="0">
                <a:gradFill>
                  <a:gsLst>
                    <a:gs pos="3333">
                      <a:schemeClr val="tx1"/>
                    </a:gs>
                    <a:gs pos="39000">
                      <a:schemeClr val="tx1"/>
                    </a:gs>
                  </a:gsLst>
                  <a:lin ang="5400000" scaled="0"/>
                </a:gradFill>
              </a:defRPr>
            </a:lvl1pPr>
          </a:lstStyle>
          <a:p>
            <a:r>
              <a:rPr lang="en-US" dirty="0" smtClean="0"/>
              <a:t>Presentation title</a:t>
            </a:r>
            <a:endParaRPr lang="en-US" dirty="0"/>
          </a:p>
        </p:txBody>
      </p:sp>
      <p:pic>
        <p:nvPicPr>
          <p:cNvPr id="6" name="Picture 5"/>
          <p:cNvPicPr>
            <a:picLocks noChangeAspect="1"/>
          </p:cNvPicPr>
          <p:nvPr userDrawn="1"/>
        </p:nvPicPr>
        <p:blipFill>
          <a:blip r:embed="rId2">
            <a:extLst>
              <a:ext uri="{BEBA8EAE-BF5A-486C-A8C5-ECC9F3942E4B}">
                <a14:imgProps xmlns:a14="http://schemas.microsoft.com/office/drawing/2010/main">
                  <a14:imgLayer r:embed="rId3">
                    <a14:imgEffect>
                      <a14:brightnessContrast bright="-1000"/>
                    </a14:imgEffect>
                  </a14:imgLayer>
                </a14:imgProps>
              </a:ext>
              <a:ext uri="{28A0092B-C50C-407E-A947-70E740481C1C}">
                <a14:useLocalDpi xmlns:a14="http://schemas.microsoft.com/office/drawing/2010/main" val="0"/>
              </a:ext>
            </a:extLst>
          </a:blip>
          <a:stretch>
            <a:fillRect/>
          </a:stretch>
        </p:blipFill>
        <p:spPr bwMode="black">
          <a:xfrm>
            <a:off x="458332" y="6182440"/>
            <a:ext cx="1552931" cy="332660"/>
          </a:xfrm>
          <a:prstGeom prst="rect">
            <a:avLst/>
          </a:prstGeom>
        </p:spPr>
      </p:pic>
      <p:sp>
        <p:nvSpPr>
          <p:cNvPr id="8" name="Rectangle 6"/>
          <p:cNvSpPr>
            <a:spLocks noChangeArrowheads="1"/>
          </p:cNvSpPr>
          <p:nvPr userDrawn="1"/>
        </p:nvSpPr>
        <p:spPr bwMode="auto">
          <a:xfrm>
            <a:off x="3175" y="4395788"/>
            <a:ext cx="12433300" cy="2601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TextBox 7"/>
          <p:cNvSpPr txBox="1"/>
          <p:nvPr userDrawn="1"/>
        </p:nvSpPr>
        <p:spPr bwMode="white">
          <a:xfrm>
            <a:off x="4454934" y="6697627"/>
            <a:ext cx="3526606" cy="161583"/>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algn="ctr" defTabSz="914363" rtl="0" eaLnBrk="1" latinLnBrk="0" hangingPunct="1"/>
            <a:r>
              <a:rPr lang="en-US" sz="1050" b="0" kern="1200" spc="150" baseline="0" dirty="0" smtClean="0">
                <a:gradFill>
                  <a:gsLst>
                    <a:gs pos="0">
                      <a:schemeClr val="tx1">
                        <a:alpha val="50000"/>
                      </a:schemeClr>
                    </a:gs>
                    <a:gs pos="86000">
                      <a:schemeClr val="tx1">
                        <a:alpha val="50000"/>
                      </a:schemeClr>
                    </a:gs>
                  </a:gsLst>
                  <a:lin ang="5400000" scaled="0"/>
                </a:gradFill>
                <a:latin typeface="+mn-lt"/>
                <a:ea typeface="+mn-ea"/>
                <a:cs typeface="+mn-cs"/>
              </a:rPr>
              <a:t>MICROSOFT CONFIDENTIAL – INTERNAL ONLY</a:t>
            </a:r>
          </a:p>
        </p:txBody>
      </p:sp>
      <p:sp>
        <p:nvSpPr>
          <p:cNvPr id="15" name="Text Placeholder 16"/>
          <p:cNvSpPr>
            <a:spLocks noGrp="1"/>
          </p:cNvSpPr>
          <p:nvPr>
            <p:ph type="body" sz="quarter" idx="13" hasCustomPrompt="1"/>
          </p:nvPr>
        </p:nvSpPr>
        <p:spPr>
          <a:xfrm>
            <a:off x="274638" y="296863"/>
            <a:ext cx="3657600" cy="461665"/>
          </a:xfrm>
        </p:spPr>
        <p:txBody>
          <a:bodyPr/>
          <a:lstStyle>
            <a:lvl1pPr marL="0" indent="0">
              <a:buNone/>
              <a:defRPr sz="2000">
                <a:latin typeface="+mn-lt"/>
              </a:defRPr>
            </a:lvl1pPr>
            <a:lvl2pPr marL="342900" indent="0">
              <a:buNone/>
              <a:defRPr sz="2000"/>
            </a:lvl2pPr>
            <a:lvl3pPr marL="571500" indent="0">
              <a:buNone/>
              <a:defRPr sz="2000"/>
            </a:lvl3pPr>
            <a:lvl4pPr marL="800100" indent="0">
              <a:buNone/>
              <a:defRPr sz="2000"/>
            </a:lvl4pPr>
            <a:lvl5pPr marL="1028700" indent="0">
              <a:buNone/>
              <a:defRPr sz="2000"/>
            </a:lvl5pPr>
          </a:lstStyle>
          <a:p>
            <a:pPr lvl="0"/>
            <a:r>
              <a:rPr lang="en-US" dirty="0" smtClean="0"/>
              <a:t>Session Code</a:t>
            </a:r>
            <a:endParaRPr lang="en-US" dirty="0"/>
          </a:p>
        </p:txBody>
      </p:sp>
      <p:sp>
        <p:nvSpPr>
          <p:cNvPr id="10" name="Text Placeholder 16"/>
          <p:cNvSpPr>
            <a:spLocks noGrp="1"/>
          </p:cNvSpPr>
          <p:nvPr>
            <p:ph type="body" sz="quarter" idx="14" hasCustomPrompt="1"/>
          </p:nvPr>
        </p:nvSpPr>
        <p:spPr>
          <a:xfrm>
            <a:off x="8504239" y="296863"/>
            <a:ext cx="3657600" cy="461665"/>
          </a:xfrm>
        </p:spPr>
        <p:txBody>
          <a:bodyPr/>
          <a:lstStyle>
            <a:lvl1pPr marL="0" indent="0" algn="r">
              <a:buNone/>
              <a:defRPr sz="2000">
                <a:latin typeface="+mn-lt"/>
              </a:defRPr>
            </a:lvl1pPr>
            <a:lvl2pPr marL="342900" indent="0">
              <a:buNone/>
              <a:defRPr sz="2000"/>
            </a:lvl2pPr>
            <a:lvl3pPr marL="571500" indent="0">
              <a:buNone/>
              <a:defRPr sz="2000"/>
            </a:lvl3pPr>
            <a:lvl4pPr marL="800100" indent="0">
              <a:buNone/>
              <a:defRPr sz="2000"/>
            </a:lvl4pPr>
            <a:lvl5pPr marL="1028700" indent="0">
              <a:buNone/>
              <a:defRPr sz="2000"/>
            </a:lvl5pPr>
          </a:lstStyle>
          <a:p>
            <a:pPr lvl="0"/>
            <a:r>
              <a:rPr lang="en-US" dirty="0" smtClean="0"/>
              <a:t>Yammer hashtag</a:t>
            </a:r>
            <a:endParaRPr lang="en-US" dirty="0"/>
          </a:p>
        </p:txBody>
      </p:sp>
    </p:spTree>
    <p:extLst>
      <p:ext uri="{BB962C8B-B14F-4D97-AF65-F5344CB8AC3E}">
        <p14:creationId xmlns:p14="http://schemas.microsoft.com/office/powerpoint/2010/main" val="2816708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extLst mod="1">
    <p:ext uri="{DCECCB84-F9BA-43D5-87BE-67443E8EF086}">
      <p15:sldGuideLst xmlns:p15="http://schemas.microsoft.com/office/powerpoint/2012/main">
        <p15:guide id="1" orient="horz" pos="4406">
          <p15:clr>
            <a:srgbClr val="C35EA4"/>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fidentiality Slide">
    <p:bg bwMode="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smtClean="0"/>
              <a:t>Click to edit Master title style</a:t>
            </a:r>
            <a:endParaRPr lang="en-US"/>
          </a:p>
        </p:txBody>
      </p:sp>
    </p:spTree>
    <p:extLst>
      <p:ext uri="{BB962C8B-B14F-4D97-AF65-F5344CB8AC3E}">
        <p14:creationId xmlns:p14="http://schemas.microsoft.com/office/powerpoint/2010/main" val="3918350538"/>
      </p:ext>
    </p:extLst>
  </p:cSld>
  <p:clrMapOvr>
    <a:masterClrMapping/>
  </p:clrMapOvr>
  <p:transition>
    <p:fade/>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chemeClr val="accent2"/>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stretch>
            <a:fillRect/>
          </a:stretch>
        </p:blipFill>
        <p:spPr>
          <a:xfrm>
            <a:off x="7757448" y="304193"/>
            <a:ext cx="4409440" cy="6400800"/>
          </a:xfrm>
          <a:prstGeom prst="rect">
            <a:avLst/>
          </a:prstGeom>
        </p:spPr>
      </p:pic>
      <p:sp>
        <p:nvSpPr>
          <p:cNvPr id="4" name="Rectangle 3"/>
          <p:cNvSpPr/>
          <p:nvPr userDrawn="1"/>
        </p:nvSpPr>
        <p:spPr bwMode="auto">
          <a:xfrm>
            <a:off x="274702" y="1211287"/>
            <a:ext cx="10058336" cy="274317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9" y="1209973"/>
            <a:ext cx="7314044" cy="3475534"/>
          </a:xfrm>
          <a:noFill/>
        </p:spPr>
        <p:txBody>
          <a:bodyPr tIns="91440" bIns="91440" anchor="t" anchorCtr="0"/>
          <a:lstStyle>
            <a:lvl1pPr>
              <a:defRPr sz="7200" spc="-100" baseline="0">
                <a:gradFill>
                  <a:gsLst>
                    <a:gs pos="75912">
                      <a:schemeClr val="tx1"/>
                    </a:gs>
                    <a:gs pos="34307">
                      <a:schemeClr val="tx1"/>
                    </a:gs>
                    <a:gs pos="43000">
                      <a:schemeClr val="tx1"/>
                    </a:gs>
                  </a:gsLst>
                  <a:lin ang="5400000" scaled="0"/>
                </a:gradFill>
              </a:defRPr>
            </a:lvl1pPr>
          </a:lstStyle>
          <a:p>
            <a:r>
              <a:rPr lang="en-US" dirty="0" smtClean="0"/>
              <a:t>Demo title</a:t>
            </a:r>
            <a:endParaRPr lang="en-US" dirty="0"/>
          </a:p>
        </p:txBody>
      </p:sp>
      <p:sp>
        <p:nvSpPr>
          <p:cNvPr id="5" name="Text Placeholder 4"/>
          <p:cNvSpPr>
            <a:spLocks noGrp="1"/>
          </p:cNvSpPr>
          <p:nvPr>
            <p:ph type="body" sz="quarter" idx="12" hasCustomPrompt="1"/>
          </p:nvPr>
        </p:nvSpPr>
        <p:spPr>
          <a:xfrm>
            <a:off x="274639" y="4685507"/>
            <a:ext cx="7315200" cy="1829593"/>
          </a:xfrm>
          <a:noFill/>
        </p:spPr>
        <p:txBody>
          <a:bodyPr lIns="182880" tIns="146304" rIns="182880" bIns="146304">
            <a:noAutofit/>
          </a:bodyPr>
          <a:lstStyle>
            <a:lvl1pPr marL="0" indent="0">
              <a:spcBef>
                <a:spcPts val="0"/>
              </a:spcBef>
              <a:buNone/>
              <a:defRPr sz="3600" spc="0" baseline="0">
                <a:gradFill>
                  <a:gsLst>
                    <a:gs pos="75912">
                      <a:schemeClr val="tx1"/>
                    </a:gs>
                    <a:gs pos="34307">
                      <a:schemeClr val="tx1"/>
                    </a:gs>
                    <a:gs pos="43000">
                      <a:schemeClr val="tx1"/>
                    </a:gs>
                  </a:gsLst>
                  <a:lin ang="5400000" scaled="0"/>
                </a:gradFill>
                <a:latin typeface="+mj-lt"/>
              </a:defRPr>
            </a:lvl1pPr>
          </a:lstStyle>
          <a:p>
            <a:pPr lvl="0"/>
            <a:r>
              <a:rPr lang="en-US" dirty="0" smtClean="0"/>
              <a:t>Speaker Name</a:t>
            </a:r>
          </a:p>
        </p:txBody>
      </p:sp>
      <p:sp>
        <p:nvSpPr>
          <p:cNvPr id="7" name="TextBox 7"/>
          <p:cNvSpPr txBox="1"/>
          <p:nvPr userDrawn="1"/>
        </p:nvSpPr>
        <p:spPr bwMode="white">
          <a:xfrm>
            <a:off x="4454934" y="6697627"/>
            <a:ext cx="3526606" cy="161583"/>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algn="ctr" defTabSz="914363" rtl="0" eaLnBrk="1" latinLnBrk="0" hangingPunct="1"/>
            <a:r>
              <a:rPr lang="en-US" sz="1050" b="0" kern="1200" spc="150" baseline="0" dirty="0" smtClean="0">
                <a:gradFill>
                  <a:gsLst>
                    <a:gs pos="0">
                      <a:schemeClr val="tx1">
                        <a:alpha val="50000"/>
                      </a:schemeClr>
                    </a:gs>
                    <a:gs pos="86000">
                      <a:schemeClr val="tx1">
                        <a:alpha val="50000"/>
                      </a:schemeClr>
                    </a:gs>
                  </a:gsLst>
                  <a:lin ang="5400000" scaled="0"/>
                </a:gradFill>
                <a:latin typeface="+mn-lt"/>
                <a:ea typeface="+mn-ea"/>
                <a:cs typeface="+mn-cs"/>
              </a:rPr>
              <a:t>MICROSOFT CONFIDENTIAL – INTERNAL ONLY</a:t>
            </a:r>
          </a:p>
        </p:txBody>
      </p:sp>
    </p:spTree>
    <p:extLst>
      <p:ext uri="{BB962C8B-B14F-4D97-AF65-F5344CB8AC3E}">
        <p14:creationId xmlns:p14="http://schemas.microsoft.com/office/powerpoint/2010/main" val="2923861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userDrawn="1"/>
        </p:nvSpPr>
        <p:spPr bwMode="auto">
          <a:xfrm>
            <a:off x="274702" y="1211287"/>
            <a:ext cx="10058336" cy="274317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274639" y="1209973"/>
            <a:ext cx="9143999" cy="2751698"/>
          </a:xfrm>
          <a:noFill/>
        </p:spPr>
        <p:txBody>
          <a:bodyPr tIns="91440" bIns="91440" anchor="t" anchorCtr="0"/>
          <a:lstStyle>
            <a:lvl1pPr>
              <a:defRPr sz="7200" spc="-100" baseline="0">
                <a:gradFill>
                  <a:gsLst>
                    <a:gs pos="75912">
                      <a:schemeClr val="tx1"/>
                    </a:gs>
                    <a:gs pos="34307">
                      <a:schemeClr val="tx1"/>
                    </a:gs>
                    <a:gs pos="43000">
                      <a:schemeClr val="tx1"/>
                    </a:gs>
                  </a:gsLst>
                  <a:lin ang="5400000" scaled="0"/>
                </a:gradFill>
              </a:defRPr>
            </a:lvl1pPr>
          </a:lstStyle>
          <a:p>
            <a:r>
              <a:rPr lang="en-US" dirty="0" smtClean="0"/>
              <a:t>Video title</a:t>
            </a:r>
            <a:endParaRPr lang="en-US" dirty="0"/>
          </a:p>
        </p:txBody>
      </p:sp>
      <p:sp>
        <p:nvSpPr>
          <p:cNvPr id="5" name="TextBox 7"/>
          <p:cNvSpPr txBox="1"/>
          <p:nvPr userDrawn="1"/>
        </p:nvSpPr>
        <p:spPr bwMode="white">
          <a:xfrm>
            <a:off x="4454934" y="6697627"/>
            <a:ext cx="3526606" cy="161583"/>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algn="ctr" defTabSz="914363" rtl="0" eaLnBrk="1" latinLnBrk="0" hangingPunct="1"/>
            <a:r>
              <a:rPr lang="en-US" sz="1050" b="0" kern="1200" spc="150" baseline="0" dirty="0" smtClean="0">
                <a:gradFill>
                  <a:gsLst>
                    <a:gs pos="0">
                      <a:schemeClr val="tx1">
                        <a:alpha val="50000"/>
                      </a:schemeClr>
                    </a:gs>
                    <a:gs pos="86000">
                      <a:schemeClr val="tx1">
                        <a:alpha val="50000"/>
                      </a:schemeClr>
                    </a:gs>
                  </a:gsLst>
                  <a:lin ang="5400000" scaled="0"/>
                </a:gradFill>
                <a:latin typeface="+mn-lt"/>
                <a:ea typeface="+mn-ea"/>
                <a:cs typeface="+mn-cs"/>
              </a:rPr>
              <a:t>MICROSOFT CONFIDENTIAL – INTERNAL ONLY</a:t>
            </a:r>
          </a:p>
        </p:txBody>
      </p:sp>
      <p:pic>
        <p:nvPicPr>
          <p:cNvPr id="11" name="Picture 10"/>
          <p:cNvPicPr>
            <a:picLocks noChangeAspect="1"/>
          </p:cNvPicPr>
          <p:nvPr userDrawn="1"/>
        </p:nvPicPr>
        <p:blipFill>
          <a:blip r:embed="rId2"/>
          <a:stretch>
            <a:fillRect/>
          </a:stretch>
        </p:blipFill>
        <p:spPr>
          <a:xfrm>
            <a:off x="-222" y="3075628"/>
            <a:ext cx="12436918" cy="3292125"/>
          </a:xfrm>
          <a:prstGeom prst="rect">
            <a:avLst/>
          </a:prstGeom>
        </p:spPr>
      </p:pic>
    </p:spTree>
    <p:extLst>
      <p:ext uri="{BB962C8B-B14F-4D97-AF65-F5344CB8AC3E}">
        <p14:creationId xmlns:p14="http://schemas.microsoft.com/office/powerpoint/2010/main" val="2159412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831975"/>
          </a:xfrm>
          <a:noFill/>
        </p:spPr>
        <p:txBody>
          <a:bodyPr tIns="91440" bIns="91440" anchor="t" anchorCtr="0"/>
          <a:lstStyle>
            <a:lvl1pPr>
              <a:defRPr sz="8800" spc="-100" baseline="0">
                <a:gradFill>
                  <a:gsLst>
                    <a:gs pos="75912">
                      <a:schemeClr val="tx1"/>
                    </a:gs>
                    <a:gs pos="34307">
                      <a:schemeClr val="tx1"/>
                    </a:gs>
                    <a:gs pos="43000">
                      <a:schemeClr val="tx1"/>
                    </a:gs>
                  </a:gsLst>
                  <a:lin ang="5400000" scaled="0"/>
                </a:gradFill>
              </a:defRPr>
            </a:lvl1pPr>
          </a:lstStyle>
          <a:p>
            <a:r>
              <a:rPr lang="en-US" dirty="0" smtClean="0"/>
              <a:t>Section title</a:t>
            </a:r>
            <a:endParaRPr lang="en-US" dirty="0"/>
          </a:p>
        </p:txBody>
      </p:sp>
      <p:sp>
        <p:nvSpPr>
          <p:cNvPr id="3" name="TextBox 7"/>
          <p:cNvSpPr txBox="1"/>
          <p:nvPr userDrawn="1"/>
        </p:nvSpPr>
        <p:spPr bwMode="white">
          <a:xfrm>
            <a:off x="4454934" y="6697627"/>
            <a:ext cx="3526606" cy="161583"/>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algn="ctr" defTabSz="914363" rtl="0" eaLnBrk="1" latinLnBrk="0" hangingPunct="1"/>
            <a:r>
              <a:rPr lang="en-US" sz="1050" b="0" kern="1200" spc="150" baseline="0" dirty="0" smtClean="0">
                <a:gradFill>
                  <a:gsLst>
                    <a:gs pos="0">
                      <a:schemeClr val="tx1">
                        <a:alpha val="50000"/>
                      </a:schemeClr>
                    </a:gs>
                    <a:gs pos="86000">
                      <a:schemeClr val="tx1">
                        <a:alpha val="50000"/>
                      </a:schemeClr>
                    </a:gs>
                  </a:gsLst>
                  <a:lin ang="5400000" scaled="0"/>
                </a:gradFill>
                <a:latin typeface="+mn-lt"/>
                <a:ea typeface="+mn-ea"/>
                <a:cs typeface="+mn-cs"/>
              </a:rPr>
              <a:t>MICROSOFT CONFIDENTIAL – INTERNAL ONLY</a:t>
            </a:r>
          </a:p>
        </p:txBody>
      </p:sp>
    </p:spTree>
    <p:extLst>
      <p:ext uri="{BB962C8B-B14F-4D97-AF65-F5344CB8AC3E}">
        <p14:creationId xmlns:p14="http://schemas.microsoft.com/office/powerpoint/2010/main" val="4075357253"/>
      </p:ext>
    </p:extLst>
  </p:cSld>
  <p:clrMapOvr>
    <a:masterClrMapping/>
  </p:clrMapOvr>
  <p:transition>
    <p:fade/>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ection Title Accent Color 2">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831975"/>
          </a:xfrm>
          <a:noFill/>
        </p:spPr>
        <p:txBody>
          <a:bodyPr tIns="91440" bIns="91440" anchor="t" anchorCtr="0"/>
          <a:lstStyle>
            <a:lvl1pPr algn="l" defTabSz="932742" rtl="0" eaLnBrk="1" latinLnBrk="0" hangingPunct="1">
              <a:lnSpc>
                <a:spcPct val="90000"/>
              </a:lnSpc>
              <a:spcBef>
                <a:spcPct val="0"/>
              </a:spcBef>
              <a:buNone/>
              <a:defRPr lang="en-US" sz="8800" b="0" kern="1200" cap="none" spc="-100" baseline="0" dirty="0">
                <a:ln w="3175">
                  <a:noFill/>
                </a:ln>
                <a:gradFill>
                  <a:gsLst>
                    <a:gs pos="75912">
                      <a:schemeClr val="tx1"/>
                    </a:gs>
                    <a:gs pos="34307">
                      <a:schemeClr val="tx1"/>
                    </a:gs>
                    <a:gs pos="43000">
                      <a:schemeClr val="tx1"/>
                    </a:gs>
                  </a:gsLst>
                  <a:lin ang="5400000" scaled="0"/>
                </a:gradFill>
                <a:effectLst/>
                <a:latin typeface="+mj-lt"/>
                <a:ea typeface="+mn-ea"/>
                <a:cs typeface="Segoe UI" pitchFamily="34" charset="0"/>
              </a:defRPr>
            </a:lvl1pPr>
          </a:lstStyle>
          <a:p>
            <a:r>
              <a:rPr lang="en-US" dirty="0" smtClean="0"/>
              <a:t>Section title</a:t>
            </a:r>
            <a:endParaRPr lang="en-US" dirty="0"/>
          </a:p>
        </p:txBody>
      </p:sp>
      <p:sp>
        <p:nvSpPr>
          <p:cNvPr id="3" name="TextBox 7"/>
          <p:cNvSpPr txBox="1"/>
          <p:nvPr userDrawn="1"/>
        </p:nvSpPr>
        <p:spPr bwMode="white">
          <a:xfrm>
            <a:off x="4454934" y="6697627"/>
            <a:ext cx="3526606" cy="161583"/>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algn="ctr" defTabSz="914363" rtl="0" eaLnBrk="1" latinLnBrk="0" hangingPunct="1"/>
            <a:r>
              <a:rPr lang="en-US" sz="1050" b="0" kern="1200" spc="150" baseline="0" dirty="0" smtClean="0">
                <a:gradFill>
                  <a:gsLst>
                    <a:gs pos="0">
                      <a:schemeClr val="tx1">
                        <a:alpha val="50000"/>
                      </a:schemeClr>
                    </a:gs>
                    <a:gs pos="86000">
                      <a:schemeClr val="tx1">
                        <a:alpha val="50000"/>
                      </a:schemeClr>
                    </a:gs>
                  </a:gsLst>
                  <a:lin ang="5400000" scaled="0"/>
                </a:gradFill>
                <a:latin typeface="+mn-lt"/>
                <a:ea typeface="+mn-ea"/>
                <a:cs typeface="+mn-cs"/>
              </a:rPr>
              <a:t>MICROSOFT CONFIDENTIAL – INTERNAL ONLY</a:t>
            </a:r>
          </a:p>
        </p:txBody>
      </p:sp>
    </p:spTree>
    <p:extLst>
      <p:ext uri="{BB962C8B-B14F-4D97-AF65-F5344CB8AC3E}">
        <p14:creationId xmlns:p14="http://schemas.microsoft.com/office/powerpoint/2010/main" val="762536910"/>
      </p:ext>
    </p:extLst>
  </p:cSld>
  <p:clrMapOvr>
    <a:masterClrMapping/>
  </p:clrMapOvr>
  <p:transition>
    <p:fade/>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Title Accent Color 3">
    <p:bg>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8" y="2125662"/>
            <a:ext cx="11887200" cy="1831975"/>
          </a:xfrm>
          <a:noFill/>
        </p:spPr>
        <p:txBody>
          <a:bodyPr tIns="91440" bIns="91440" anchor="t" anchorCtr="0"/>
          <a:lstStyle>
            <a:lvl1pPr algn="l" defTabSz="932742" rtl="0" eaLnBrk="1" latinLnBrk="0" hangingPunct="1">
              <a:lnSpc>
                <a:spcPct val="90000"/>
              </a:lnSpc>
              <a:spcBef>
                <a:spcPct val="0"/>
              </a:spcBef>
              <a:buNone/>
              <a:defRPr lang="en-US" sz="8800" b="0" kern="1200" cap="none" spc="-100" baseline="0" dirty="0">
                <a:ln w="3175">
                  <a:noFill/>
                </a:ln>
                <a:gradFill>
                  <a:gsLst>
                    <a:gs pos="83448">
                      <a:schemeClr val="tx1"/>
                    </a:gs>
                    <a:gs pos="53000">
                      <a:schemeClr val="tx1"/>
                    </a:gs>
                  </a:gsLst>
                  <a:lin ang="5400000" scaled="0"/>
                </a:gradFill>
                <a:effectLst/>
                <a:latin typeface="+mj-lt"/>
                <a:ea typeface="+mn-ea"/>
                <a:cs typeface="Segoe UI" pitchFamily="34" charset="0"/>
              </a:defRPr>
            </a:lvl1pPr>
          </a:lstStyle>
          <a:p>
            <a:r>
              <a:rPr lang="en-US" dirty="0" smtClean="0"/>
              <a:t>Section title</a:t>
            </a:r>
            <a:endParaRPr lang="en-US" dirty="0"/>
          </a:p>
        </p:txBody>
      </p:sp>
      <p:sp>
        <p:nvSpPr>
          <p:cNvPr id="3" name="TextBox 7"/>
          <p:cNvSpPr txBox="1"/>
          <p:nvPr userDrawn="1"/>
        </p:nvSpPr>
        <p:spPr bwMode="white">
          <a:xfrm>
            <a:off x="4454934" y="6697627"/>
            <a:ext cx="3526606" cy="161583"/>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algn="ctr" defTabSz="914363" rtl="0" eaLnBrk="1" latinLnBrk="0" hangingPunct="1"/>
            <a:r>
              <a:rPr lang="en-US" sz="1050" b="0" kern="1200" spc="150" baseline="0" dirty="0" smtClean="0">
                <a:gradFill>
                  <a:gsLst>
                    <a:gs pos="0">
                      <a:schemeClr val="tx1">
                        <a:alpha val="50000"/>
                      </a:schemeClr>
                    </a:gs>
                    <a:gs pos="86000">
                      <a:schemeClr val="tx1">
                        <a:alpha val="50000"/>
                      </a:schemeClr>
                    </a:gs>
                  </a:gsLst>
                  <a:lin ang="5400000" scaled="0"/>
                </a:gradFill>
                <a:latin typeface="+mn-lt"/>
                <a:ea typeface="+mn-ea"/>
                <a:cs typeface="+mn-cs"/>
              </a:rPr>
              <a:t>MICROSOFT CONFIDENTIAL – INTERNAL ONLY</a:t>
            </a:r>
          </a:p>
        </p:txBody>
      </p:sp>
    </p:spTree>
    <p:extLst>
      <p:ext uri="{BB962C8B-B14F-4D97-AF65-F5344CB8AC3E}">
        <p14:creationId xmlns:p14="http://schemas.microsoft.com/office/powerpoint/2010/main" val="2472271686"/>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1"/>
          </p:nvPr>
        </p:nvSpPr>
        <p:spPr>
          <a:xfrm>
            <a:off x="427037" y="1212849"/>
            <a:ext cx="11582400" cy="2059025"/>
          </a:xfrm>
        </p:spPr>
        <p:txBody>
          <a:bodyPr/>
          <a:lstStyle>
            <a:lvl1pPr marL="0" indent="0">
              <a:buNone/>
              <a:defRPr/>
            </a:lvl1pPr>
            <a:lvl2pPr marL="28575" indent="0">
              <a:buNone/>
              <a:defRPr sz="2000"/>
            </a:lvl2pPr>
            <a:lvl3pPr marL="223838" indent="0">
              <a:buNone/>
              <a:defRPr sz="2000"/>
            </a:lvl3pPr>
            <a:lvl4pPr marL="476250" indent="0">
              <a:buNone/>
              <a:defRPr sz="1800"/>
            </a:lvl4pPr>
            <a:lvl5pPr marL="739775" indent="0">
              <a:buNone/>
              <a:defRPr sz="1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Box 7"/>
          <p:cNvSpPr txBox="1"/>
          <p:nvPr userDrawn="1"/>
        </p:nvSpPr>
        <p:spPr bwMode="white">
          <a:xfrm>
            <a:off x="4454934" y="6697627"/>
            <a:ext cx="3526606" cy="161583"/>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algn="ctr" defTabSz="914363" rtl="0" eaLnBrk="1" latinLnBrk="0" hangingPunct="1"/>
            <a:r>
              <a:rPr lang="en-US" sz="1050" b="0" kern="1200" spc="150" baseline="0" dirty="0" smtClean="0">
                <a:gradFill>
                  <a:gsLst>
                    <a:gs pos="0">
                      <a:schemeClr val="tx1">
                        <a:alpha val="50000"/>
                      </a:schemeClr>
                    </a:gs>
                    <a:gs pos="86000">
                      <a:schemeClr val="tx1">
                        <a:alpha val="50000"/>
                      </a:schemeClr>
                    </a:gs>
                  </a:gsLst>
                  <a:lin ang="5400000" scaled="0"/>
                </a:gradFill>
                <a:latin typeface="+mn-lt"/>
                <a:ea typeface="+mn-ea"/>
                <a:cs typeface="+mn-cs"/>
              </a:rPr>
              <a:t>MICROSOFT CONFIDENTIAL – INTERNAL ONLY</a:t>
            </a:r>
          </a:p>
        </p:txBody>
      </p:sp>
    </p:spTree>
    <p:extLst>
      <p:ext uri="{BB962C8B-B14F-4D97-AF65-F5344CB8AC3E}">
        <p14:creationId xmlns:p14="http://schemas.microsoft.com/office/powerpoint/2010/main" val="843985228"/>
      </p:ext>
    </p:extLst>
  </p:cSld>
  <p:clrMapOvr>
    <a:masterClrMapping/>
  </p:clrMapOvr>
  <p:transition>
    <p:fad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4638" y="1212850"/>
            <a:ext cx="11887200" cy="2228302"/>
          </a:xfrm>
        </p:spPr>
        <p:txBody>
          <a:bodyPr>
            <a:spAutoFit/>
          </a:bodyPr>
          <a:lstStyle>
            <a:lvl3pPr>
              <a:defRPr sz="2400"/>
            </a:lvl3pPr>
            <a:lvl4pPr>
              <a:defRPr sz="2000"/>
            </a:lvl4pPr>
            <a:lvl5pPr>
              <a:defRPr sz="20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itle 5"/>
          <p:cNvSpPr>
            <a:spLocks noGrp="1"/>
          </p:cNvSpPr>
          <p:nvPr>
            <p:ph type="title"/>
          </p:nvPr>
        </p:nvSpPr>
        <p:spPr/>
        <p:txBody>
          <a:bodyPr/>
          <a:lstStyle/>
          <a:p>
            <a:r>
              <a:rPr lang="en-US" smtClean="0"/>
              <a:t>Click to edit Master title style</a:t>
            </a:r>
            <a:endParaRPr lang="en-US"/>
          </a:p>
        </p:txBody>
      </p:sp>
      <p:sp>
        <p:nvSpPr>
          <p:cNvPr id="5" name="TextBox 7"/>
          <p:cNvSpPr txBox="1"/>
          <p:nvPr userDrawn="1"/>
        </p:nvSpPr>
        <p:spPr bwMode="white">
          <a:xfrm>
            <a:off x="4454934" y="6697627"/>
            <a:ext cx="3526606" cy="161583"/>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algn="ctr" defTabSz="914363" rtl="0" eaLnBrk="1" latinLnBrk="0" hangingPunct="1"/>
            <a:r>
              <a:rPr lang="en-US" sz="1050" b="0" kern="1200" spc="150" baseline="0" dirty="0" smtClean="0">
                <a:gradFill>
                  <a:gsLst>
                    <a:gs pos="0">
                      <a:schemeClr val="tx1">
                        <a:alpha val="50000"/>
                      </a:schemeClr>
                    </a:gs>
                    <a:gs pos="86000">
                      <a:schemeClr val="tx1">
                        <a:alpha val="50000"/>
                      </a:schemeClr>
                    </a:gs>
                  </a:gsLst>
                  <a:lin ang="5400000" scaled="0"/>
                </a:gradFill>
                <a:latin typeface="+mn-lt"/>
                <a:ea typeface="+mn-ea"/>
                <a:cs typeface="+mn-cs"/>
              </a:rPr>
              <a:t>MICROSOFT CONFIDENTIAL – INTERNAL ONLY</a:t>
            </a:r>
          </a:p>
        </p:txBody>
      </p:sp>
    </p:spTree>
    <p:extLst>
      <p:ext uri="{BB962C8B-B14F-4D97-AF65-F5344CB8AC3E}">
        <p14:creationId xmlns:p14="http://schemas.microsoft.com/office/powerpoint/2010/main" val="553196831"/>
      </p:ext>
    </p:extLst>
  </p:cSld>
  <p:clrMapOvr>
    <a:masterClrMapping/>
  </p:clrMapOvr>
  <p:transition>
    <p:fade/>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427037" y="1212849"/>
            <a:ext cx="5334001" cy="3139321"/>
          </a:xfrm>
        </p:spPr>
        <p:txBody>
          <a:bodyPr wrap="square">
            <a:spAutoFit/>
          </a:bodyPr>
          <a:lstStyle>
            <a:lvl1pPr marL="0" indent="0">
              <a:spcBef>
                <a:spcPts val="1224"/>
              </a:spcBef>
              <a:buClr>
                <a:schemeClr val="tx1"/>
              </a:buClr>
              <a:buFont typeface="Wingdings" pitchFamily="2" charset="2"/>
              <a:buNone/>
              <a:defRPr sz="3600"/>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523038" y="1226682"/>
            <a:ext cx="5486399" cy="2468368"/>
          </a:xfrm>
        </p:spPr>
        <p:txBody>
          <a:bodyPr wrap="square">
            <a:spAutoFit/>
          </a:bodyPr>
          <a:lstStyle>
            <a:lvl1pPr marL="0" indent="0">
              <a:spcBef>
                <a:spcPts val="1224"/>
              </a:spcBef>
              <a:buClr>
                <a:schemeClr val="tx1"/>
              </a:buClr>
              <a:buFont typeface="Wingdings" pitchFamily="2" charset="2"/>
              <a:buNone/>
              <a:defRPr sz="3600"/>
            </a:lvl1pPr>
            <a:lvl2pPr marL="0" indent="0">
              <a:buNone/>
              <a:defRPr sz="2000"/>
            </a:lvl2pPr>
            <a:lvl3pPr marL="231775" indent="0">
              <a:buNone/>
              <a:tabLst/>
              <a:defRPr sz="2000"/>
            </a:lvl3pPr>
            <a:lvl4pPr marL="460375" indent="0">
              <a:buNone/>
              <a:defRPr/>
            </a:lvl4pPr>
            <a:lvl5pPr marL="685800" indent="0">
              <a:buNone/>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extBox 7"/>
          <p:cNvSpPr txBox="1"/>
          <p:nvPr userDrawn="1"/>
        </p:nvSpPr>
        <p:spPr bwMode="white">
          <a:xfrm>
            <a:off x="4454934" y="6697627"/>
            <a:ext cx="3526606" cy="161583"/>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algn="ctr" defTabSz="914363" rtl="0" eaLnBrk="1" latinLnBrk="0" hangingPunct="1"/>
            <a:r>
              <a:rPr lang="en-US" sz="1050" b="0" kern="1200" spc="150" baseline="0" dirty="0" smtClean="0">
                <a:gradFill>
                  <a:gsLst>
                    <a:gs pos="0">
                      <a:schemeClr val="tx1">
                        <a:alpha val="50000"/>
                      </a:schemeClr>
                    </a:gs>
                    <a:gs pos="86000">
                      <a:schemeClr val="tx1">
                        <a:alpha val="50000"/>
                      </a:schemeClr>
                    </a:gs>
                  </a:gsLst>
                  <a:lin ang="5400000" scaled="0"/>
                </a:gradFill>
                <a:latin typeface="+mn-lt"/>
                <a:ea typeface="+mn-ea"/>
                <a:cs typeface="+mn-cs"/>
              </a:rPr>
              <a:t>MICROSOFT CONFIDENTIAL – INTERNAL ONLY</a:t>
            </a:r>
          </a:p>
        </p:txBody>
      </p:sp>
    </p:spTree>
    <p:extLst>
      <p:ext uri="{BB962C8B-B14F-4D97-AF65-F5344CB8AC3E}">
        <p14:creationId xmlns:p14="http://schemas.microsoft.com/office/powerpoint/2010/main" val="1918839873"/>
      </p:ext>
    </p:extLst>
  </p:cSld>
  <p:clrMapOvr>
    <a:masterClrMapping/>
  </p:clrMapOvr>
  <p:transition>
    <p:fade/>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4" name="Text Placeholder 3"/>
          <p:cNvSpPr>
            <a:spLocks noGrp="1"/>
          </p:cNvSpPr>
          <p:nvPr>
            <p:ph type="body" sz="quarter" idx="10"/>
          </p:nvPr>
        </p:nvSpPr>
        <p:spPr>
          <a:xfrm>
            <a:off x="427037" y="1212849"/>
            <a:ext cx="5486399" cy="2536079"/>
          </a:xfrm>
        </p:spPr>
        <p:txBody>
          <a:bodyPr wrap="square">
            <a:spAutoFit/>
          </a:bodyPr>
          <a:lstStyle>
            <a:lvl1pPr marL="287338" indent="-287338">
              <a:spcBef>
                <a:spcPts val="1224"/>
              </a:spcBef>
              <a:buClr>
                <a:schemeClr val="tx1"/>
              </a:buClr>
              <a:buFont typeface="Wingdings" panose="05000000000000000000" pitchFamily="2" charset="2"/>
              <a:buChar char="§"/>
              <a:defRPr sz="3600"/>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3"/>
          <p:cNvSpPr>
            <a:spLocks noGrp="1"/>
          </p:cNvSpPr>
          <p:nvPr>
            <p:ph type="body" sz="quarter" idx="11"/>
          </p:nvPr>
        </p:nvSpPr>
        <p:spPr>
          <a:xfrm>
            <a:off x="6523038" y="1212849"/>
            <a:ext cx="5486399" cy="2536079"/>
          </a:xfrm>
        </p:spPr>
        <p:txBody>
          <a:bodyPr wrap="square">
            <a:spAutoFit/>
          </a:bodyPr>
          <a:lstStyle>
            <a:lvl1pPr marL="287338" indent="-287338">
              <a:spcBef>
                <a:spcPts val="1224"/>
              </a:spcBef>
              <a:buClr>
                <a:schemeClr val="tx1"/>
              </a:buClr>
              <a:buFont typeface="Wingdings" panose="05000000000000000000" pitchFamily="2" charset="2"/>
              <a:buChar char="§"/>
              <a:defRPr sz="3600"/>
            </a:lvl1pPr>
            <a:lvl2pPr marL="531166" indent="-233195">
              <a:defRPr sz="2400"/>
            </a:lvl2pPr>
            <a:lvl3pPr marL="699585" indent="-168419">
              <a:tabLst/>
              <a:defRPr sz="2000"/>
            </a:lvl3pPr>
            <a:lvl4pPr marL="880958" indent="-181374">
              <a:defRPr/>
            </a:lvl4pPr>
            <a:lvl5pPr marL="1049377" indent="-168419">
              <a:tabLs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extBox 7"/>
          <p:cNvSpPr txBox="1"/>
          <p:nvPr userDrawn="1"/>
        </p:nvSpPr>
        <p:spPr bwMode="white">
          <a:xfrm>
            <a:off x="4454934" y="6697627"/>
            <a:ext cx="3526606" cy="161583"/>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algn="ctr" defTabSz="914363" rtl="0" eaLnBrk="1" latinLnBrk="0" hangingPunct="1"/>
            <a:r>
              <a:rPr lang="en-US" sz="1050" b="0" kern="1200" spc="150" baseline="0" dirty="0" smtClean="0">
                <a:gradFill>
                  <a:gsLst>
                    <a:gs pos="0">
                      <a:schemeClr val="tx1">
                        <a:alpha val="50000"/>
                      </a:schemeClr>
                    </a:gs>
                    <a:gs pos="86000">
                      <a:schemeClr val="tx1">
                        <a:alpha val="50000"/>
                      </a:schemeClr>
                    </a:gs>
                  </a:gsLst>
                  <a:lin ang="5400000" scaled="0"/>
                </a:gradFill>
                <a:latin typeface="+mn-lt"/>
                <a:ea typeface="+mn-ea"/>
                <a:cs typeface="+mn-cs"/>
              </a:rPr>
              <a:t>MICROSOFT CONFIDENTIAL – INTERNAL ONLY</a:t>
            </a:r>
          </a:p>
        </p:txBody>
      </p:sp>
    </p:spTree>
    <p:extLst>
      <p:ext uri="{BB962C8B-B14F-4D97-AF65-F5344CB8AC3E}">
        <p14:creationId xmlns:p14="http://schemas.microsoft.com/office/powerpoint/2010/main" val="429362577"/>
      </p:ext>
    </p:extLst>
  </p:cSld>
  <p:clrMapOvr>
    <a:masterClrMapping/>
  </p:clrMapOvr>
  <p:transition>
    <p:fade/>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Box 7"/>
          <p:cNvSpPr txBox="1"/>
          <p:nvPr userDrawn="1"/>
        </p:nvSpPr>
        <p:spPr bwMode="white">
          <a:xfrm>
            <a:off x="4454934" y="6697627"/>
            <a:ext cx="3526606" cy="161583"/>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algn="ctr" defTabSz="914363" rtl="0" eaLnBrk="1" latinLnBrk="0" hangingPunct="1"/>
            <a:r>
              <a:rPr lang="en-US" sz="1050" b="0" kern="1200" spc="150" baseline="0" dirty="0" smtClean="0">
                <a:gradFill>
                  <a:gsLst>
                    <a:gs pos="0">
                      <a:schemeClr val="tx1">
                        <a:alpha val="50000"/>
                      </a:schemeClr>
                    </a:gs>
                    <a:gs pos="86000">
                      <a:schemeClr val="tx1">
                        <a:alpha val="50000"/>
                      </a:schemeClr>
                    </a:gs>
                  </a:gsLst>
                  <a:lin ang="5400000" scaled="0"/>
                </a:gradFill>
                <a:latin typeface="+mn-lt"/>
                <a:ea typeface="+mn-ea"/>
                <a:cs typeface="+mn-cs"/>
              </a:rPr>
              <a:t>MICROSOFT CONFIDENTIAL – INTERNAL ONLY</a:t>
            </a:r>
          </a:p>
        </p:txBody>
      </p:sp>
    </p:spTree>
    <p:extLst>
      <p:ext uri="{BB962C8B-B14F-4D97-AF65-F5344CB8AC3E}">
        <p14:creationId xmlns:p14="http://schemas.microsoft.com/office/powerpoint/2010/main" val="3311135705"/>
      </p:ext>
    </p:extLst>
  </p:cSld>
  <p:clrMapOvr>
    <a:masterClrMapping/>
  </p:clrMapOvr>
  <p:transition>
    <p:fade/>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ig Idea Layout">
    <p:spTree>
      <p:nvGrpSpPr>
        <p:cNvPr id="1" name=""/>
        <p:cNvGrpSpPr/>
        <p:nvPr/>
      </p:nvGrpSpPr>
      <p:grpSpPr>
        <a:xfrm>
          <a:off x="0" y="0"/>
          <a:ext cx="0" cy="0"/>
          <a:chOff x="0" y="0"/>
          <a:chExt cx="0" cy="0"/>
        </a:xfrm>
      </p:grpSpPr>
      <p:sp>
        <p:nvSpPr>
          <p:cNvPr id="2" name="Title 1"/>
          <p:cNvSpPr>
            <a:spLocks noGrp="1"/>
          </p:cNvSpPr>
          <p:nvPr>
            <p:ph type="title"/>
          </p:nvPr>
        </p:nvSpPr>
        <p:spPr>
          <a:xfrm>
            <a:off x="282576" y="1211263"/>
            <a:ext cx="11889564" cy="917575"/>
          </a:xfrm>
        </p:spPr>
        <p:txBody>
          <a:bodyPr/>
          <a:lstStyle>
            <a:lvl1pPr>
              <a:defRPr sz="7200" baseline="0"/>
            </a:lvl1pPr>
          </a:lstStyle>
          <a:p>
            <a:r>
              <a:rPr lang="en-US" smtClean="0"/>
              <a:t>Click to edit Master title style</a:t>
            </a:r>
            <a:endParaRPr lang="en-US" dirty="0"/>
          </a:p>
        </p:txBody>
      </p:sp>
      <p:sp>
        <p:nvSpPr>
          <p:cNvPr id="3" name="TextBox 7"/>
          <p:cNvSpPr txBox="1"/>
          <p:nvPr userDrawn="1"/>
        </p:nvSpPr>
        <p:spPr bwMode="white">
          <a:xfrm>
            <a:off x="4454934" y="6697627"/>
            <a:ext cx="3526606" cy="161583"/>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algn="ctr" defTabSz="914363" rtl="0" eaLnBrk="1" latinLnBrk="0" hangingPunct="1"/>
            <a:r>
              <a:rPr lang="en-US" sz="1050" b="0" kern="1200" spc="150" baseline="0" dirty="0" smtClean="0">
                <a:gradFill>
                  <a:gsLst>
                    <a:gs pos="0">
                      <a:schemeClr val="tx1">
                        <a:alpha val="50000"/>
                      </a:schemeClr>
                    </a:gs>
                    <a:gs pos="86000">
                      <a:schemeClr val="tx1">
                        <a:alpha val="50000"/>
                      </a:schemeClr>
                    </a:gs>
                  </a:gsLst>
                  <a:lin ang="5400000" scaled="0"/>
                </a:gradFill>
                <a:latin typeface="+mn-lt"/>
                <a:ea typeface="+mn-ea"/>
                <a:cs typeface="+mn-cs"/>
              </a:rPr>
              <a:t>MICROSOFT CONFIDENTIAL – INTERNAL ONLY</a:t>
            </a:r>
          </a:p>
        </p:txBody>
      </p:sp>
    </p:spTree>
    <p:extLst>
      <p:ext uri="{BB962C8B-B14F-4D97-AF65-F5344CB8AC3E}">
        <p14:creationId xmlns:p14="http://schemas.microsoft.com/office/powerpoint/2010/main" val="2915293295"/>
      </p:ext>
    </p:extLst>
  </p:cSld>
  <p:clrMapOvr>
    <a:masterClrMapping/>
  </p:clrMapOvr>
  <p:transition>
    <p:fade/>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act Layout">
    <p:spTree>
      <p:nvGrpSpPr>
        <p:cNvPr id="1" name=""/>
        <p:cNvGrpSpPr/>
        <p:nvPr/>
      </p:nvGrpSpPr>
      <p:grpSpPr>
        <a:xfrm>
          <a:off x="0" y="0"/>
          <a:ext cx="0" cy="0"/>
          <a:chOff x="0" y="0"/>
          <a:chExt cx="0" cy="0"/>
        </a:xfrm>
      </p:grpSpPr>
      <p:sp>
        <p:nvSpPr>
          <p:cNvPr id="2" name="Title 1"/>
          <p:cNvSpPr>
            <a:spLocks noGrp="1"/>
          </p:cNvSpPr>
          <p:nvPr>
            <p:ph type="title"/>
          </p:nvPr>
        </p:nvSpPr>
        <p:spPr>
          <a:xfrm>
            <a:off x="2113225" y="2125663"/>
            <a:ext cx="8219813" cy="1828800"/>
          </a:xfrm>
        </p:spPr>
        <p:txBody>
          <a:bodyPr/>
          <a:lstStyle>
            <a:lvl1pPr>
              <a:defRPr sz="6000" baseline="0"/>
            </a:lvl1pPr>
          </a:lstStyle>
          <a:p>
            <a:r>
              <a:rPr lang="en-US" smtClean="0"/>
              <a:t>Click to edit Master title style</a:t>
            </a:r>
            <a:endParaRPr lang="en-US" dirty="0"/>
          </a:p>
        </p:txBody>
      </p:sp>
      <p:sp>
        <p:nvSpPr>
          <p:cNvPr id="3" name="TextBox 7"/>
          <p:cNvSpPr txBox="1"/>
          <p:nvPr userDrawn="1"/>
        </p:nvSpPr>
        <p:spPr bwMode="white">
          <a:xfrm>
            <a:off x="4454934" y="6697627"/>
            <a:ext cx="3526606" cy="161583"/>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algn="ctr" defTabSz="914363" rtl="0" eaLnBrk="1" latinLnBrk="0" hangingPunct="1"/>
            <a:r>
              <a:rPr lang="en-US" sz="1050" b="0" kern="1200" spc="150" baseline="0" dirty="0" smtClean="0">
                <a:gradFill>
                  <a:gsLst>
                    <a:gs pos="0">
                      <a:schemeClr val="tx1">
                        <a:alpha val="50000"/>
                      </a:schemeClr>
                    </a:gs>
                    <a:gs pos="86000">
                      <a:schemeClr val="tx1">
                        <a:alpha val="50000"/>
                      </a:schemeClr>
                    </a:gs>
                  </a:gsLst>
                  <a:lin ang="5400000" scaled="0"/>
                </a:gradFill>
                <a:latin typeface="+mn-lt"/>
                <a:ea typeface="+mn-ea"/>
                <a:cs typeface="+mn-cs"/>
              </a:rPr>
              <a:t>MICROSOFT CONFIDENTIAL – INTERNAL ONLY</a:t>
            </a:r>
          </a:p>
        </p:txBody>
      </p:sp>
    </p:spTree>
    <p:extLst>
      <p:ext uri="{BB962C8B-B14F-4D97-AF65-F5344CB8AC3E}">
        <p14:creationId xmlns:p14="http://schemas.microsoft.com/office/powerpoint/2010/main" val="2390161380"/>
      </p:ext>
    </p:extLst>
  </p:cSld>
  <p:clrMapOvr>
    <a:masterClrMapping/>
  </p:clrMapOvr>
  <p:transition>
    <p:fade/>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act Layout_Accent Color 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113225" y="2125663"/>
            <a:ext cx="8219813" cy="1828800"/>
          </a:xfrm>
        </p:spPr>
        <p:txBody>
          <a:bodyPr/>
          <a:lstStyle>
            <a:lvl1pPr>
              <a:defRPr sz="6000" baseline="0"/>
            </a:lvl1pPr>
          </a:lstStyle>
          <a:p>
            <a:r>
              <a:rPr lang="en-US" smtClean="0"/>
              <a:t>Click to edit Master title style</a:t>
            </a:r>
            <a:endParaRPr lang="en-US" dirty="0"/>
          </a:p>
        </p:txBody>
      </p:sp>
      <p:sp>
        <p:nvSpPr>
          <p:cNvPr id="3" name="TextBox 7"/>
          <p:cNvSpPr txBox="1"/>
          <p:nvPr userDrawn="1"/>
        </p:nvSpPr>
        <p:spPr bwMode="white">
          <a:xfrm>
            <a:off x="4454934" y="6697627"/>
            <a:ext cx="3526606" cy="161583"/>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marL="0" algn="ctr" defTabSz="914363" rtl="0" eaLnBrk="1" latinLnBrk="0" hangingPunct="1"/>
            <a:r>
              <a:rPr lang="en-US" sz="1050" b="0" kern="1200" spc="150" baseline="0" dirty="0" smtClean="0">
                <a:gradFill>
                  <a:gsLst>
                    <a:gs pos="0">
                      <a:schemeClr val="tx1">
                        <a:alpha val="50000"/>
                      </a:schemeClr>
                    </a:gs>
                    <a:gs pos="86000">
                      <a:schemeClr val="tx1">
                        <a:alpha val="50000"/>
                      </a:schemeClr>
                    </a:gs>
                  </a:gsLst>
                  <a:lin ang="5400000" scaled="0"/>
                </a:gradFill>
                <a:latin typeface="+mn-lt"/>
                <a:ea typeface="+mn-ea"/>
                <a:cs typeface="+mn-cs"/>
              </a:rPr>
              <a:t>MICROSOFT CONFIDENTIAL – INTERNAL ONLY</a:t>
            </a:r>
          </a:p>
        </p:txBody>
      </p:sp>
    </p:spTree>
    <p:extLst>
      <p:ext uri="{BB962C8B-B14F-4D97-AF65-F5344CB8AC3E}">
        <p14:creationId xmlns:p14="http://schemas.microsoft.com/office/powerpoint/2010/main" val="2538603404"/>
      </p:ext>
    </p:extLst>
  </p:cSld>
  <p:clrMapOvr>
    <a:masterClrMapping/>
  </p:clrMapOvr>
  <p:transition>
    <p:fade/>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Quote Layout">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1189038" y="1201806"/>
            <a:ext cx="10058399" cy="917575"/>
          </a:xfrm>
        </p:spPr>
        <p:txBody>
          <a:bodyPr/>
          <a:lstStyle>
            <a:lvl1pPr marL="233363" indent="-233363">
              <a:defRPr sz="6000" baseline="0"/>
            </a:lvl1pPr>
          </a:lstStyle>
          <a:p>
            <a:r>
              <a:rPr lang="en-US" dirty="0" smtClean="0"/>
              <a:t>“Sample quote goes here. Design is easier than it looks, and more important than it seems.”</a:t>
            </a:r>
            <a:endParaRPr lang="en-US" dirty="0"/>
          </a:p>
        </p:txBody>
      </p:sp>
      <p:sp>
        <p:nvSpPr>
          <p:cNvPr id="4" name="Text Placeholder 3"/>
          <p:cNvSpPr>
            <a:spLocks noGrp="1"/>
          </p:cNvSpPr>
          <p:nvPr>
            <p:ph type="body" sz="quarter" idx="10" hasCustomPrompt="1"/>
          </p:nvPr>
        </p:nvSpPr>
        <p:spPr>
          <a:xfrm>
            <a:off x="5761038" y="5126038"/>
            <a:ext cx="5486400" cy="1071062"/>
          </a:xfrm>
        </p:spPr>
        <p:txBody>
          <a:bodyPr/>
          <a:lstStyle>
            <a:lvl1pPr marL="0" indent="0">
              <a:spcBef>
                <a:spcPts val="0"/>
              </a:spcBef>
              <a:buNone/>
              <a:defRPr sz="3200" baseline="0">
                <a:latin typeface="+mj-lt"/>
              </a:defRPr>
            </a:lvl1pPr>
          </a:lstStyle>
          <a:p>
            <a:pPr lvl="0"/>
            <a:r>
              <a:rPr lang="en-US" dirty="0" smtClean="0"/>
              <a:t>Author Name</a:t>
            </a:r>
          </a:p>
          <a:p>
            <a:pPr lvl="0"/>
            <a:r>
              <a:rPr lang="en-US" dirty="0" smtClean="0"/>
              <a:t>Title</a:t>
            </a:r>
          </a:p>
        </p:txBody>
      </p:sp>
      <p:sp>
        <p:nvSpPr>
          <p:cNvPr id="5" name="TextBox 7"/>
          <p:cNvSpPr txBox="1"/>
          <p:nvPr userDrawn="1"/>
        </p:nvSpPr>
        <p:spPr bwMode="white">
          <a:xfrm>
            <a:off x="4418866" y="6697627"/>
            <a:ext cx="3598742" cy="161583"/>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r>
              <a:rPr lang="en-US" sz="1050" b="0" spc="150" baseline="0" dirty="0" smtClean="0">
                <a:gradFill>
                  <a:gsLst>
                    <a:gs pos="0">
                      <a:schemeClr val="tx1">
                        <a:alpha val="50000"/>
                      </a:schemeClr>
                    </a:gs>
                    <a:gs pos="86000">
                      <a:schemeClr val="tx1">
                        <a:alpha val="50000"/>
                      </a:schemeClr>
                    </a:gs>
                  </a:gsLst>
                  <a:lin ang="5400000" scaled="0"/>
                </a:gradFill>
                <a:latin typeface="Segoe UI" panose="020B0502040204020203" pitchFamily="34" charset="0"/>
              </a:rPr>
              <a:t>MICROSOFT CONFIDENTIAL – INTERNAL ONLY</a:t>
            </a:r>
          </a:p>
        </p:txBody>
      </p:sp>
    </p:spTree>
    <p:extLst>
      <p:ext uri="{BB962C8B-B14F-4D97-AF65-F5344CB8AC3E}">
        <p14:creationId xmlns:p14="http://schemas.microsoft.com/office/powerpoint/2010/main" val="3183363366"/>
      </p:ext>
    </p:extLst>
  </p:cSld>
  <p:clrMapOvr>
    <a:masterClrMapping/>
  </p:clrMapOvr>
  <p:transition>
    <p:fade/>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Quote Layout_Accent Color 2">
    <p:bg>
      <p:bgPr>
        <a:solidFill>
          <a:schemeClr val="accent2"/>
        </a:solidFill>
        <a:effectLst/>
      </p:bgPr>
    </p:bg>
    <p:spTree>
      <p:nvGrpSpPr>
        <p:cNvPr id="1" name=""/>
        <p:cNvGrpSpPr/>
        <p:nvPr/>
      </p:nvGrpSpPr>
      <p:grpSpPr>
        <a:xfrm>
          <a:off x="0" y="0"/>
          <a:ext cx="0" cy="0"/>
          <a:chOff x="0" y="0"/>
          <a:chExt cx="0" cy="0"/>
        </a:xfrm>
      </p:grpSpPr>
      <p:sp>
        <p:nvSpPr>
          <p:cNvPr id="3" name="Title 1"/>
          <p:cNvSpPr>
            <a:spLocks noGrp="1"/>
          </p:cNvSpPr>
          <p:nvPr>
            <p:ph type="title" hasCustomPrompt="1"/>
          </p:nvPr>
        </p:nvSpPr>
        <p:spPr>
          <a:xfrm>
            <a:off x="1189038" y="2125663"/>
            <a:ext cx="10058399" cy="917575"/>
          </a:xfrm>
        </p:spPr>
        <p:txBody>
          <a:bodyPr/>
          <a:lstStyle>
            <a:lvl1pPr marL="282575" indent="-282575">
              <a:tabLst>
                <a:tab pos="282575" algn="l"/>
              </a:tabLst>
              <a:defRPr sz="6000" baseline="0"/>
            </a:lvl1pPr>
          </a:lstStyle>
          <a:p>
            <a:r>
              <a:rPr lang="en-US" dirty="0" smtClean="0"/>
              <a:t>“	Add a quote here. Design is easier than it looks, and more important than it seems.”</a:t>
            </a:r>
            <a:endParaRPr lang="en-US" dirty="0"/>
          </a:p>
        </p:txBody>
      </p:sp>
      <p:sp>
        <p:nvSpPr>
          <p:cNvPr id="4" name="Text Placeholder 3"/>
          <p:cNvSpPr>
            <a:spLocks noGrp="1"/>
          </p:cNvSpPr>
          <p:nvPr>
            <p:ph type="body" sz="quarter" idx="10" hasCustomPrompt="1"/>
          </p:nvPr>
        </p:nvSpPr>
        <p:spPr>
          <a:xfrm>
            <a:off x="5761038" y="4868847"/>
            <a:ext cx="5486400" cy="1071062"/>
          </a:xfrm>
        </p:spPr>
        <p:txBody>
          <a:bodyPr/>
          <a:lstStyle>
            <a:lvl1pPr marL="0" indent="0">
              <a:spcBef>
                <a:spcPts val="0"/>
              </a:spcBef>
              <a:buNone/>
              <a:defRPr sz="3200" baseline="0">
                <a:latin typeface="+mj-lt"/>
              </a:defRPr>
            </a:lvl1pPr>
          </a:lstStyle>
          <a:p>
            <a:pPr lvl="0"/>
            <a:r>
              <a:rPr lang="en-US" dirty="0" smtClean="0"/>
              <a:t>Author’s Name</a:t>
            </a:r>
          </a:p>
          <a:p>
            <a:pPr lvl="0"/>
            <a:r>
              <a:rPr lang="en-US" dirty="0" smtClean="0"/>
              <a:t>Title</a:t>
            </a:r>
          </a:p>
        </p:txBody>
      </p:sp>
      <p:sp>
        <p:nvSpPr>
          <p:cNvPr id="5" name="TextBox 7"/>
          <p:cNvSpPr txBox="1"/>
          <p:nvPr userDrawn="1"/>
        </p:nvSpPr>
        <p:spPr bwMode="white">
          <a:xfrm>
            <a:off x="4418866" y="6697627"/>
            <a:ext cx="3598742" cy="161583"/>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r>
              <a:rPr lang="en-US" sz="1050" b="0" spc="150" baseline="0" dirty="0" smtClean="0">
                <a:gradFill>
                  <a:gsLst>
                    <a:gs pos="0">
                      <a:schemeClr val="tx1">
                        <a:alpha val="50000"/>
                      </a:schemeClr>
                    </a:gs>
                    <a:gs pos="86000">
                      <a:schemeClr val="tx1">
                        <a:alpha val="50000"/>
                      </a:schemeClr>
                    </a:gs>
                  </a:gsLst>
                  <a:lin ang="5400000" scaled="0"/>
                </a:gradFill>
                <a:latin typeface="Segoe UI" panose="020B0502040204020203" pitchFamily="34" charset="0"/>
              </a:rPr>
              <a:t>MICROSOFT CONFIDENTIAL – INTERNAL ONLY</a:t>
            </a:r>
          </a:p>
        </p:txBody>
      </p:sp>
    </p:spTree>
    <p:extLst>
      <p:ext uri="{BB962C8B-B14F-4D97-AF65-F5344CB8AC3E}">
        <p14:creationId xmlns:p14="http://schemas.microsoft.com/office/powerpoint/2010/main" val="1243333861"/>
      </p:ext>
    </p:extLst>
  </p:cSld>
  <p:clrMapOvr>
    <a:masterClrMapping/>
  </p:clrMapOvr>
  <p:transition>
    <p:fade/>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Idea &amp; 3 Points">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282576" y="2430462"/>
            <a:ext cx="11887200" cy="932563"/>
          </a:xfrm>
        </p:spPr>
        <p:txBody>
          <a:bodyPr/>
          <a:lstStyle>
            <a:lvl1pPr marL="0" indent="0">
              <a:buNone/>
              <a:defRPr sz="5400">
                <a:gradFill>
                  <a:gsLst>
                    <a:gs pos="3333">
                      <a:schemeClr val="tx1"/>
                    </a:gs>
                    <a:gs pos="39000">
                      <a:schemeClr val="tx1"/>
                    </a:gs>
                  </a:gsLst>
                  <a:lin ang="5400000" scaled="0"/>
                </a:gradFill>
              </a:defRPr>
            </a:lvl1pPr>
            <a:lvl2pPr marL="0" indent="0">
              <a:buFontTx/>
              <a:buNone/>
              <a:defRPr sz="2000"/>
            </a:lvl2pPr>
            <a:lvl3pPr marL="228600" indent="0">
              <a:buNone/>
              <a:defRPr/>
            </a:lvl3pPr>
            <a:lvl4pPr marL="457200" indent="0">
              <a:buNone/>
              <a:defRPr/>
            </a:lvl4pPr>
            <a:lvl5pPr marL="685800" indent="0">
              <a:buNone/>
              <a:defRPr/>
            </a:lvl5pPr>
          </a:lstStyle>
          <a:p>
            <a:pPr lvl="0"/>
            <a:r>
              <a:rPr lang="en-US" smtClean="0"/>
              <a:t>Click to edit Master text styles</a:t>
            </a:r>
          </a:p>
        </p:txBody>
      </p:sp>
      <p:sp>
        <p:nvSpPr>
          <p:cNvPr id="4" name="Title 1"/>
          <p:cNvSpPr>
            <a:spLocks noGrp="1"/>
          </p:cNvSpPr>
          <p:nvPr>
            <p:ph type="title"/>
          </p:nvPr>
        </p:nvSpPr>
        <p:spPr>
          <a:xfrm>
            <a:off x="282576" y="1211263"/>
            <a:ext cx="11889564" cy="917575"/>
          </a:xfrm>
        </p:spPr>
        <p:txBody>
          <a:bodyPr/>
          <a:lstStyle>
            <a:lvl1pPr>
              <a:defRPr sz="7200" baseline="0">
                <a:gradFill>
                  <a:gsLst>
                    <a:gs pos="1250">
                      <a:schemeClr val="tx1"/>
                    </a:gs>
                    <a:gs pos="100000">
                      <a:schemeClr val="tx1"/>
                    </a:gs>
                  </a:gsLst>
                  <a:lin ang="5400000" scaled="0"/>
                </a:gradFill>
              </a:defRPr>
            </a:lvl1pPr>
          </a:lstStyle>
          <a:p>
            <a:r>
              <a:rPr lang="en-US" smtClean="0"/>
              <a:t>Click to edit Master title style</a:t>
            </a:r>
            <a:endParaRPr lang="en-US" dirty="0"/>
          </a:p>
        </p:txBody>
      </p:sp>
      <p:sp>
        <p:nvSpPr>
          <p:cNvPr id="5" name="TextBox 7"/>
          <p:cNvSpPr txBox="1"/>
          <p:nvPr userDrawn="1"/>
        </p:nvSpPr>
        <p:spPr bwMode="white">
          <a:xfrm>
            <a:off x="4418866" y="6697627"/>
            <a:ext cx="3598742" cy="161583"/>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r>
              <a:rPr lang="en-US" sz="1050" b="0" spc="150" baseline="0" dirty="0" smtClean="0">
                <a:gradFill>
                  <a:gsLst>
                    <a:gs pos="0">
                      <a:schemeClr val="tx1">
                        <a:alpha val="50000"/>
                      </a:schemeClr>
                    </a:gs>
                    <a:gs pos="86000">
                      <a:schemeClr val="tx1">
                        <a:alpha val="50000"/>
                      </a:schemeClr>
                    </a:gs>
                  </a:gsLst>
                  <a:lin ang="5400000" scaled="0"/>
                </a:gradFill>
                <a:latin typeface="Segoe UI" panose="020B0502040204020203" pitchFamily="34" charset="0"/>
              </a:rPr>
              <a:t>MICROSOFT CONFIDENTIAL – INTERNAL ONLY</a:t>
            </a:r>
          </a:p>
        </p:txBody>
      </p:sp>
    </p:spTree>
    <p:extLst>
      <p:ext uri="{BB962C8B-B14F-4D97-AF65-F5344CB8AC3E}">
        <p14:creationId xmlns:p14="http://schemas.microsoft.com/office/powerpoint/2010/main" val="480330917"/>
      </p:ext>
    </p:extLst>
  </p:cSld>
  <p:clrMapOvr>
    <a:masterClrMapping/>
  </p:clrMapOvr>
  <p:transition>
    <p:fade/>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50-50 Right Photo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41426"/>
            <a:ext cx="5486399" cy="1798637"/>
          </a:xfrm>
        </p:spPr>
        <p:txBody>
          <a:bodyPr/>
          <a:lstStyle>
            <a:lvl1pPr>
              <a:defRPr sz="6600" baseline="0">
                <a:gradFill>
                  <a:gsLst>
                    <a:gs pos="1250">
                      <a:schemeClr val="tx1"/>
                    </a:gs>
                    <a:gs pos="100000">
                      <a:schemeClr val="tx1"/>
                    </a:gs>
                  </a:gsLst>
                  <a:lin ang="5400000" scaled="0"/>
                </a:gradFill>
              </a:defRPr>
            </a:lvl1pPr>
          </a:lstStyle>
          <a:p>
            <a:r>
              <a:rPr lang="en-US" dirty="0" smtClean="0"/>
              <a:t>50/50 Photo Layout</a:t>
            </a:r>
            <a:endParaRPr lang="en-US" dirty="0"/>
          </a:p>
        </p:txBody>
      </p:sp>
      <p:sp>
        <p:nvSpPr>
          <p:cNvPr id="5" name="Picture Placeholder 4"/>
          <p:cNvSpPr>
            <a:spLocks noGrp="1"/>
          </p:cNvSpPr>
          <p:nvPr>
            <p:ph type="pic" sz="quarter" idx="10"/>
          </p:nvPr>
        </p:nvSpPr>
        <p:spPr bwMode="ltGray">
          <a:xfrm>
            <a:off x="6219825" y="0"/>
            <a:ext cx="6216650" cy="6992587"/>
          </a:xfrm>
          <a:blipFill>
            <a:blip r:embed="rId2"/>
            <a:stretch>
              <a:fillRect/>
            </a:stretch>
          </a:blipFill>
        </p:spPr>
        <p:txBody>
          <a:bodyPr tIns="548640" anchor="ctr" anchorCtr="0">
            <a:noAutofit/>
          </a:bodyPr>
          <a:lstStyle>
            <a:lvl1pPr marL="0" indent="0" algn="ctr">
              <a:buNone/>
              <a:defRPr sz="1600" b="1" cap="none" baseline="0">
                <a:gradFill>
                  <a:gsLst>
                    <a:gs pos="0">
                      <a:srgbClr val="FFFFFF"/>
                    </a:gs>
                    <a:gs pos="27000">
                      <a:srgbClr val="FFFFFF"/>
                    </a:gs>
                  </a:gsLst>
                  <a:lin ang="5400000" scaled="0"/>
                </a:gradFill>
                <a:latin typeface="+mn-lt"/>
              </a:defRPr>
            </a:lvl1pPr>
          </a:lstStyle>
          <a:p>
            <a:r>
              <a:rPr lang="en-US" smtClean="0"/>
              <a:t>Click icon to add picture</a:t>
            </a:r>
            <a:endParaRPr lang="en-US" dirty="0"/>
          </a:p>
        </p:txBody>
      </p:sp>
    </p:spTree>
    <p:extLst>
      <p:ext uri="{BB962C8B-B14F-4D97-AF65-F5344CB8AC3E}">
        <p14:creationId xmlns:p14="http://schemas.microsoft.com/office/powerpoint/2010/main" val="601816435"/>
      </p:ext>
    </p:extLst>
  </p:cSld>
  <p:clrMapOvr>
    <a:masterClrMapping/>
  </p:clrMapOvr>
  <p:transition>
    <p:fade/>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0-50 Left Photo Layout">
    <p:spTree>
      <p:nvGrpSpPr>
        <p:cNvPr id="1" name=""/>
        <p:cNvGrpSpPr/>
        <p:nvPr/>
      </p:nvGrpSpPr>
      <p:grpSpPr>
        <a:xfrm>
          <a:off x="0" y="0"/>
          <a:ext cx="0" cy="0"/>
          <a:chOff x="0" y="0"/>
          <a:chExt cx="0" cy="0"/>
        </a:xfrm>
      </p:grpSpPr>
      <p:sp>
        <p:nvSpPr>
          <p:cNvPr id="2" name="Title 1"/>
          <p:cNvSpPr>
            <a:spLocks noGrp="1"/>
          </p:cNvSpPr>
          <p:nvPr>
            <p:ph type="title"/>
          </p:nvPr>
        </p:nvSpPr>
        <p:spPr>
          <a:xfrm>
            <a:off x="6675439" y="1241426"/>
            <a:ext cx="5486399" cy="917575"/>
          </a:xfrm>
        </p:spPr>
        <p:txBody>
          <a:bodyPr/>
          <a:lstStyle>
            <a:lvl1pPr>
              <a:defRPr sz="6600" baseline="0">
                <a:gradFill>
                  <a:gsLst>
                    <a:gs pos="1250">
                      <a:schemeClr val="tx1"/>
                    </a:gs>
                    <a:gs pos="100000">
                      <a:schemeClr val="tx1"/>
                    </a:gs>
                  </a:gsLst>
                  <a:lin ang="5400000" scaled="0"/>
                </a:gradFill>
              </a:defRPr>
            </a:lvl1pPr>
          </a:lstStyle>
          <a:p>
            <a:r>
              <a:rPr lang="en-US" smtClean="0"/>
              <a:t>Click to edit Master title style</a:t>
            </a:r>
            <a:endParaRPr lang="en-US" dirty="0"/>
          </a:p>
        </p:txBody>
      </p:sp>
      <p:sp>
        <p:nvSpPr>
          <p:cNvPr id="4" name="Picture Placeholder 4"/>
          <p:cNvSpPr>
            <a:spLocks noGrp="1"/>
          </p:cNvSpPr>
          <p:nvPr>
            <p:ph type="pic" sz="quarter" idx="10"/>
          </p:nvPr>
        </p:nvSpPr>
        <p:spPr bwMode="ltGray">
          <a:xfrm>
            <a:off x="0" y="0"/>
            <a:ext cx="6216650" cy="6988560"/>
          </a:xfrm>
          <a:blipFill>
            <a:blip r:embed="rId2"/>
            <a:stretch>
              <a:fillRect/>
            </a:stretch>
          </a:blipFill>
        </p:spPr>
        <p:txBody>
          <a:bodyPr tIns="548640" anchor="ctr" anchorCtr="0">
            <a:noAutofit/>
          </a:bodyPr>
          <a:lstStyle>
            <a:lvl1pPr marL="0" indent="0" algn="ctr">
              <a:buNone/>
              <a:defRPr sz="1400" b="1">
                <a:gradFill>
                  <a:gsLst>
                    <a:gs pos="13139">
                      <a:srgbClr val="FFFFFF"/>
                    </a:gs>
                    <a:gs pos="38000">
                      <a:srgbClr val="FFFFFF"/>
                    </a:gs>
                  </a:gsLst>
                  <a:lin ang="5400000" scaled="0"/>
                </a:gradFill>
                <a:latin typeface="+mn-lt"/>
              </a:defRPr>
            </a:lvl1pPr>
          </a:lstStyle>
          <a:p>
            <a:r>
              <a:rPr lang="en-US" smtClean="0"/>
              <a:t>Click icon to add picture</a:t>
            </a:r>
            <a:endParaRPr lang="en-US" dirty="0"/>
          </a:p>
        </p:txBody>
      </p:sp>
    </p:spTree>
    <p:extLst>
      <p:ext uri="{BB962C8B-B14F-4D97-AF65-F5344CB8AC3E}">
        <p14:creationId xmlns:p14="http://schemas.microsoft.com/office/powerpoint/2010/main" val="4051542199"/>
      </p:ext>
    </p:extLst>
  </p:cSld>
  <p:clrMapOvr>
    <a:masterClrMapping/>
  </p:clrMapOvr>
  <p:transition>
    <p:fade/>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chemeClr val="accent1"/>
        </a:solidFill>
        <a:effectLst/>
      </p:bgPr>
    </p:bg>
    <p:spTree>
      <p:nvGrpSpPr>
        <p:cNvPr id="1" name=""/>
        <p:cNvGrpSpPr/>
        <p:nvPr/>
      </p:nvGrpSpPr>
      <p:grpSpPr>
        <a:xfrm>
          <a:off x="0" y="0"/>
          <a:ext cx="0" cy="0"/>
          <a:chOff x="0" y="0"/>
          <a:chExt cx="0" cy="0"/>
        </a:xfrm>
      </p:grpSpPr>
      <p:sp>
        <p:nvSpPr>
          <p:cNvPr id="2" name="TextBox 7"/>
          <p:cNvSpPr txBox="1"/>
          <p:nvPr userDrawn="1"/>
        </p:nvSpPr>
        <p:spPr bwMode="white">
          <a:xfrm>
            <a:off x="4418866" y="6697627"/>
            <a:ext cx="3598742" cy="161583"/>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r>
              <a:rPr lang="en-US" sz="1050" b="0" spc="150" baseline="0" dirty="0" smtClean="0">
                <a:gradFill>
                  <a:gsLst>
                    <a:gs pos="0">
                      <a:schemeClr val="tx1">
                        <a:alpha val="50000"/>
                      </a:schemeClr>
                    </a:gs>
                    <a:gs pos="86000">
                      <a:schemeClr val="tx1">
                        <a:alpha val="50000"/>
                      </a:schemeClr>
                    </a:gs>
                  </a:gsLst>
                  <a:lin ang="5400000" scaled="0"/>
                </a:gradFill>
                <a:latin typeface="Segoe UI" panose="020B0502040204020203" pitchFamily="34" charset="0"/>
              </a:rPr>
              <a:t>MICROSOFT CONFIDENTIAL – INTERNAL ONLY</a:t>
            </a:r>
          </a:p>
        </p:txBody>
      </p:sp>
    </p:spTree>
    <p:extLst>
      <p:ext uri="{BB962C8B-B14F-4D97-AF65-F5344CB8AC3E}">
        <p14:creationId xmlns:p14="http://schemas.microsoft.com/office/powerpoint/2010/main" val="2878450787"/>
      </p:ext>
    </p:extLst>
  </p:cSld>
  <p:clrMapOvr>
    <a:masterClrMapping/>
  </p:clrMapOvr>
  <p:transition>
    <p:fade/>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Accent Color 2">
    <p:spTree>
      <p:nvGrpSpPr>
        <p:cNvPr id="1" name=""/>
        <p:cNvGrpSpPr/>
        <p:nvPr/>
      </p:nvGrpSpPr>
      <p:grpSpPr>
        <a:xfrm>
          <a:off x="0" y="0"/>
          <a:ext cx="0" cy="0"/>
          <a:chOff x="0" y="0"/>
          <a:chExt cx="0" cy="0"/>
        </a:xfrm>
      </p:grpSpPr>
      <p:sp>
        <p:nvSpPr>
          <p:cNvPr id="2" name="TextBox 7"/>
          <p:cNvSpPr txBox="1"/>
          <p:nvPr userDrawn="1"/>
        </p:nvSpPr>
        <p:spPr bwMode="white">
          <a:xfrm>
            <a:off x="4418866" y="6697627"/>
            <a:ext cx="3598742" cy="161583"/>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r>
              <a:rPr lang="en-US" sz="1050" b="0" spc="150" baseline="0" dirty="0" smtClean="0">
                <a:gradFill>
                  <a:gsLst>
                    <a:gs pos="0">
                      <a:schemeClr val="tx1">
                        <a:alpha val="50000"/>
                      </a:schemeClr>
                    </a:gs>
                    <a:gs pos="86000">
                      <a:schemeClr val="tx1">
                        <a:alpha val="50000"/>
                      </a:schemeClr>
                    </a:gs>
                  </a:gsLst>
                  <a:lin ang="5400000" scaled="0"/>
                </a:gradFill>
                <a:latin typeface="Segoe UI" panose="020B0502040204020203" pitchFamily="34" charset="0"/>
              </a:rPr>
              <a:t>MICROSOFT CONFIDENTIAL – INTERNAL ONLY</a:t>
            </a:r>
          </a:p>
        </p:txBody>
      </p:sp>
    </p:spTree>
    <p:extLst>
      <p:ext uri="{BB962C8B-B14F-4D97-AF65-F5344CB8AC3E}">
        <p14:creationId xmlns:p14="http://schemas.microsoft.com/office/powerpoint/2010/main" val="2189526804"/>
      </p:ext>
    </p:extLst>
  </p:cSld>
  <p:clrMapOvr>
    <a:masterClrMapping/>
  </p:clrMapOvr>
  <p:transition>
    <p:fade/>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k Accent Color 3">
    <p:bg>
      <p:bgPr>
        <a:solidFill>
          <a:schemeClr val="accent3"/>
        </a:solidFill>
        <a:effectLst/>
      </p:bgPr>
    </p:bg>
    <p:spTree>
      <p:nvGrpSpPr>
        <p:cNvPr id="1" name=""/>
        <p:cNvGrpSpPr/>
        <p:nvPr/>
      </p:nvGrpSpPr>
      <p:grpSpPr>
        <a:xfrm>
          <a:off x="0" y="0"/>
          <a:ext cx="0" cy="0"/>
          <a:chOff x="0" y="0"/>
          <a:chExt cx="0" cy="0"/>
        </a:xfrm>
      </p:grpSpPr>
      <p:sp>
        <p:nvSpPr>
          <p:cNvPr id="2" name="TextBox 7"/>
          <p:cNvSpPr txBox="1"/>
          <p:nvPr userDrawn="1"/>
        </p:nvSpPr>
        <p:spPr bwMode="white">
          <a:xfrm>
            <a:off x="4418866" y="6697627"/>
            <a:ext cx="3598742" cy="161583"/>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r>
              <a:rPr lang="en-US" sz="1050" b="0" spc="150" baseline="0" dirty="0" smtClean="0">
                <a:gradFill>
                  <a:gsLst>
                    <a:gs pos="0">
                      <a:schemeClr val="tx1">
                        <a:alpha val="50000"/>
                      </a:schemeClr>
                    </a:gs>
                    <a:gs pos="86000">
                      <a:schemeClr val="tx1">
                        <a:alpha val="50000"/>
                      </a:schemeClr>
                    </a:gs>
                  </a:gsLst>
                  <a:lin ang="5400000" scaled="0"/>
                </a:gradFill>
                <a:latin typeface="Segoe UI" panose="020B0502040204020203" pitchFamily="34" charset="0"/>
              </a:rPr>
              <a:t>MICROSOFT CONFIDENTIAL – INTERNAL ONLY</a:t>
            </a:r>
          </a:p>
        </p:txBody>
      </p:sp>
    </p:spTree>
    <p:extLst>
      <p:ext uri="{BB962C8B-B14F-4D97-AF65-F5344CB8AC3E}">
        <p14:creationId xmlns:p14="http://schemas.microsoft.com/office/powerpoint/2010/main" val="1896928305"/>
      </p:ext>
    </p:extLst>
  </p:cSld>
  <p:clrMapOvr>
    <a:overrideClrMapping bg1="lt1" tx1="dk1" bg2="lt2" tx2="dk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427036" y="1212850"/>
            <a:ext cx="11582401" cy="2443746"/>
          </a:xfrm>
          <a:prstGeom prst="rect">
            <a:avLst/>
          </a:prstGeom>
        </p:spPr>
        <p:txBody>
          <a:bodyPr/>
          <a:lstStyle>
            <a:lvl1pPr marL="290513" indent="-290513">
              <a:buClr>
                <a:schemeClr val="tx1"/>
              </a:buClr>
              <a:buSzPct val="90000"/>
              <a:buFont typeface="Wingdings" panose="05000000000000000000" pitchFamily="2" charset="2"/>
              <a:buChar char="§"/>
              <a:defRPr sz="36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571500" indent="-280988">
              <a:buClr>
                <a:schemeClr val="tx1"/>
              </a:buClr>
              <a:buSzPct val="90000"/>
              <a:buFont typeface="Wingdings" panose="05000000000000000000" pitchFamily="2" charset="2"/>
              <a:buChar char="§"/>
              <a:defRPr sz="32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862013" indent="-290513">
              <a:buClr>
                <a:schemeClr val="tx1"/>
              </a:buClr>
              <a:buSzPct val="90000"/>
              <a:buFont typeface="Wingdings" panose="05000000000000000000" pitchFamily="2" charset="2"/>
              <a:buChar char="§"/>
              <a:defRPr sz="28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1090613" indent="-228600">
              <a:buClr>
                <a:schemeClr val="tx1"/>
              </a:buClr>
              <a:buSzPct val="90000"/>
              <a:buFont typeface="Wingdings" panose="05000000000000000000" pitchFamily="2" charset="2"/>
              <a:buChar char="§"/>
              <a:defRPr sz="24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319213" indent="-228600">
              <a:buClr>
                <a:schemeClr val="tx1"/>
              </a:buClr>
              <a:buSzPct val="90000"/>
              <a:buFont typeface="Wingdings" panose="05000000000000000000" pitchFamily="2" charset="2"/>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smtClean="0"/>
              <a:t>Use this Layout for Speaker Notes slides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6"/>
          <p:cNvSpPr>
            <a:spLocks noGrp="1"/>
          </p:cNvSpPr>
          <p:nvPr>
            <p:ph type="body" sz="quarter" idx="11" hasCustomPrompt="1"/>
          </p:nvPr>
        </p:nvSpPr>
        <p:spPr>
          <a:xfrm>
            <a:off x="1" y="6363076"/>
            <a:ext cx="12436476" cy="631450"/>
          </a:xfrm>
          <a:prstGeom prst="rect">
            <a:avLst/>
          </a:prstGeom>
          <a:solidFill>
            <a:srgbClr val="FFFC9E"/>
          </a:solidFill>
        </p:spPr>
        <p:txBody>
          <a:bodyPr wrap="square" lIns="155457" tIns="77729" rIns="155457" bIns="77729"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smtClean="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smtClean="0"/>
              <a:t>Click to edit Master title style</a:t>
            </a:r>
            <a:endParaRPr lang="en-US" dirty="0"/>
          </a:p>
        </p:txBody>
      </p:sp>
    </p:spTree>
    <p:extLst>
      <p:ext uri="{BB962C8B-B14F-4D97-AF65-F5344CB8AC3E}">
        <p14:creationId xmlns:p14="http://schemas.microsoft.com/office/powerpoint/2010/main" val="478965689"/>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Closing Slide">
    <p:bg>
      <p:bgPr>
        <a:solidFill>
          <a:schemeClr val="accent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bwMode="invGray">
          <a:xfrm>
            <a:off x="459230" y="373062"/>
            <a:ext cx="3288506" cy="704445"/>
          </a:xfrm>
          <a:prstGeom prst="rect">
            <a:avLst/>
          </a:prstGeom>
        </p:spPr>
      </p:pic>
      <p:sp>
        <p:nvSpPr>
          <p:cNvPr id="3" name="TextBox 7"/>
          <p:cNvSpPr txBox="1"/>
          <p:nvPr userDrawn="1"/>
        </p:nvSpPr>
        <p:spPr bwMode="white">
          <a:xfrm>
            <a:off x="4418866" y="6697627"/>
            <a:ext cx="3598742" cy="161583"/>
          </a:xfrm>
          <a:prstGeom prst="rect">
            <a:avLst/>
          </a:prstGeom>
          <a:noFill/>
        </p:spPr>
        <p:txBody>
          <a:bodyPr wrap="none" lIns="0" tIns="0" rIns="0" bIns="0" rtlCol="0" anchor="ctr">
            <a:spAutoFit/>
          </a:bodyPr>
          <a:lst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a:lstStyle>
          <a:p>
            <a:pPr algn="ctr"/>
            <a:r>
              <a:rPr lang="en-US" sz="1050" b="0" spc="150" baseline="0" dirty="0" smtClean="0">
                <a:gradFill>
                  <a:gsLst>
                    <a:gs pos="0">
                      <a:schemeClr val="tx1">
                        <a:alpha val="50000"/>
                      </a:schemeClr>
                    </a:gs>
                    <a:gs pos="86000">
                      <a:schemeClr val="tx1">
                        <a:alpha val="50000"/>
                      </a:schemeClr>
                    </a:gs>
                  </a:gsLst>
                  <a:lin ang="5400000" scaled="0"/>
                </a:gradFill>
                <a:latin typeface="Segoe UI" panose="020B0502040204020203" pitchFamily="34" charset="0"/>
              </a:rPr>
              <a:t>MICROSOFT CONFIDENTIAL – INTERNAL ONLY</a:t>
            </a:r>
          </a:p>
        </p:txBody>
      </p:sp>
      <p:sp>
        <p:nvSpPr>
          <p:cNvPr id="4" name="TextBox 3"/>
          <p:cNvSpPr txBox="1"/>
          <p:nvPr userDrawn="1"/>
        </p:nvSpPr>
        <p:spPr>
          <a:xfrm>
            <a:off x="3170237" y="1744662"/>
            <a:ext cx="6781800" cy="1025922"/>
          </a:xfrm>
          <a:prstGeom prst="rect">
            <a:avLst/>
          </a:prstGeom>
        </p:spPr>
        <p:txBody>
          <a:bodyPr vert="horz" wrap="square" lIns="0" tIns="0" rIns="0" bIns="0" rtlCol="0">
            <a:spAutoFit/>
          </a:bodyPr>
          <a:lstStyle/>
          <a:p>
            <a:pPr>
              <a:lnSpc>
                <a:spcPts val="8000"/>
              </a:lnSpc>
            </a:pPr>
            <a:r>
              <a:rPr lang="en-US" sz="11500" spc="-100" dirty="0" smtClean="0">
                <a:ln w="3175">
                  <a:noFill/>
                </a:ln>
                <a:gradFill>
                  <a:gsLst>
                    <a:gs pos="0">
                      <a:srgbClr val="FBFBFB"/>
                    </a:gs>
                    <a:gs pos="86000">
                      <a:srgbClr val="FBFBFB"/>
                    </a:gs>
                  </a:gsLst>
                  <a:lin ang="5400000" scaled="0"/>
                </a:gradFill>
                <a:latin typeface="+mj-lt"/>
                <a:cs typeface="Segoe Light"/>
              </a:rPr>
              <a:t>Questions?</a:t>
            </a:r>
            <a:endParaRPr lang="en-US" sz="11500" spc="-100" dirty="0">
              <a:ln w="3175">
                <a:noFill/>
              </a:ln>
              <a:gradFill>
                <a:gsLst>
                  <a:gs pos="0">
                    <a:srgbClr val="FBFBFB"/>
                  </a:gs>
                  <a:gs pos="86000">
                    <a:srgbClr val="FBFBFB"/>
                  </a:gs>
                </a:gsLst>
                <a:lin ang="5400000" scaled="0"/>
              </a:gradFill>
              <a:latin typeface="+mj-lt"/>
              <a:cs typeface="Segoe Light"/>
            </a:endParaRPr>
          </a:p>
        </p:txBody>
      </p:sp>
      <p:sp>
        <p:nvSpPr>
          <p:cNvPr id="5" name="TextBox 4"/>
          <p:cNvSpPr txBox="1"/>
          <p:nvPr userDrawn="1"/>
        </p:nvSpPr>
        <p:spPr>
          <a:xfrm>
            <a:off x="334041" y="5810984"/>
            <a:ext cx="11751596" cy="810478"/>
          </a:xfrm>
          <a:prstGeom prst="rect">
            <a:avLst/>
          </a:prstGeom>
          <a:noFill/>
        </p:spPr>
        <p:txBody>
          <a:bodyPr wrap="square" rtlCol="0">
            <a:spAutoFit/>
          </a:bodyPr>
          <a:lstStyle/>
          <a:p>
            <a:pPr defTabSz="609448">
              <a:lnSpc>
                <a:spcPts val="1413"/>
              </a:lnSpc>
            </a:pPr>
            <a:r>
              <a:rPr lang="en-US" sz="1066" dirty="0" smtClean="0">
                <a:solidFill>
                  <a:schemeClr val="tx1"/>
                </a:solidFill>
              </a:rPr>
              <a:t>© 2015 Microsoft Corporation. All rights reserved. Microsoft, Microsoft SQL</a:t>
            </a:r>
            <a:r>
              <a:rPr lang="en-US" sz="1066" baseline="0" dirty="0" smtClean="0">
                <a:solidFill>
                  <a:schemeClr val="tx1"/>
                </a:solidFill>
              </a:rPr>
              <a:t> Server, </a:t>
            </a:r>
            <a:r>
              <a:rPr lang="en-US" sz="1066" dirty="0" smtClean="0">
                <a:solidFill>
                  <a:schemeClr val="tx1"/>
                </a:solidFill>
              </a:rPr>
              <a:t>Windows, Windows Vista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1066" dirty="0">
              <a:solidFill>
                <a:schemeClr val="tx1"/>
              </a:solidFill>
            </a:endParaRPr>
          </a:p>
        </p:txBody>
      </p:sp>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4694237" y="2911879"/>
            <a:ext cx="3200400" cy="2700338"/>
          </a:xfrm>
          <a:prstGeom prst="rect">
            <a:avLst/>
          </a:prstGeom>
        </p:spPr>
      </p:pic>
    </p:spTree>
    <p:extLst>
      <p:ext uri="{BB962C8B-B14F-4D97-AF65-F5344CB8AC3E}">
        <p14:creationId xmlns:p14="http://schemas.microsoft.com/office/powerpoint/2010/main" val="3320514488"/>
      </p:ext>
    </p:extLst>
  </p:cSld>
  <p:clrMapOvr>
    <a:masterClrMapping/>
  </p:clrMapOvr>
  <mc:AlternateContent xmlns:mc="http://schemas.openxmlformats.org/markup-compatibility/2006" xmlns:p14="http://schemas.microsoft.com/office/powerpoint/2010/main">
    <mc:Choice Requires="p14">
      <p:transition spd="med" p14:dur="700" advClick="0" advTm="2000">
        <p:fade/>
      </p:transition>
    </mc:Choice>
    <mc:Fallback xmlns="">
      <p:transition spd="med" advClick="0" advTm="2000">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27037" y="295274"/>
            <a:ext cx="11582400" cy="917575"/>
          </a:xfrm>
          <a:prstGeom prst="rect">
            <a:avLst/>
          </a:prstGeom>
        </p:spPr>
        <p:txBody>
          <a:bodyPr vert="horz" wrap="square" lIns="146304" tIns="91440" rIns="146304" bIns="91440" rtlCol="0" anchor="t">
            <a:noAutofit/>
          </a:bodyPr>
          <a:lstStyle/>
          <a:p>
            <a:r>
              <a:rPr lang="en-US" dirty="0" smtClean="0"/>
              <a:t>Click to edit Master title style</a:t>
            </a:r>
            <a:endParaRPr lang="en-US" dirty="0"/>
          </a:p>
        </p:txBody>
      </p:sp>
      <p:sp>
        <p:nvSpPr>
          <p:cNvPr id="4" name="Text Placeholder 3"/>
          <p:cNvSpPr>
            <a:spLocks noGrp="1"/>
          </p:cNvSpPr>
          <p:nvPr>
            <p:ph type="body" idx="1"/>
          </p:nvPr>
        </p:nvSpPr>
        <p:spPr>
          <a:xfrm>
            <a:off x="427036" y="1212851"/>
            <a:ext cx="11582401" cy="2708434"/>
          </a:xfrm>
          <a:prstGeom prst="rect">
            <a:avLst/>
          </a:prstGeom>
        </p:spPr>
        <p:txBody>
          <a:bodyPr vert="horz" wrap="square" lIns="146304" tIns="91440" rIns="146304" bIns="91440" rtlCol="0">
            <a:sp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pic>
        <p:nvPicPr>
          <p:cNvPr id="6" name="Picture 5"/>
          <p:cNvPicPr>
            <a:picLocks noChangeAspect="1"/>
          </p:cNvPicPr>
          <p:nvPr userDrawn="1"/>
        </p:nvPicPr>
        <p:blipFill>
          <a:blip r:embed="rId29"/>
          <a:stretch>
            <a:fillRect/>
          </a:stretch>
        </p:blipFill>
        <p:spPr>
          <a:xfrm rot="5400000">
            <a:off x="9489149" y="3050513"/>
            <a:ext cx="6995160" cy="894134"/>
          </a:xfrm>
          <a:prstGeom prst="rect">
            <a:avLst/>
          </a:prstGeom>
        </p:spPr>
      </p:pic>
    </p:spTree>
    <p:extLst>
      <p:ext uri="{BB962C8B-B14F-4D97-AF65-F5344CB8AC3E}">
        <p14:creationId xmlns:p14="http://schemas.microsoft.com/office/powerpoint/2010/main" val="1790270825"/>
      </p:ext>
    </p:extLst>
  </p:cSld>
  <p:clrMap bg1="dk1" tx1="lt1" bg2="dk2" tx2="lt2" accent1="accent1" accent2="accent2" accent3="accent3" accent4="accent4" accent5="accent5" accent6="accent6" hlink="hlink" folHlink="folHlink"/>
  <p:sldLayoutIdLst>
    <p:sldLayoutId id="2147484205" r:id="rId1"/>
    <p:sldLayoutId id="2147484167" r:id="rId2"/>
    <p:sldLayoutId id="2147484215" r:id="rId3"/>
    <p:sldLayoutId id="2147484216" r:id="rId4"/>
    <p:sldLayoutId id="2147484105" r:id="rId5"/>
    <p:sldLayoutId id="2147484182" r:id="rId6"/>
    <p:sldLayoutId id="2147484130" r:id="rId7"/>
    <p:sldLayoutId id="2147484101" r:id="rId8"/>
    <p:sldLayoutId id="2147484102" r:id="rId9"/>
    <p:sldLayoutId id="2147484098" r:id="rId10"/>
    <p:sldLayoutId id="2147484086" r:id="rId11"/>
    <p:sldLayoutId id="2147484100" r:id="rId12"/>
    <p:sldLayoutId id="2147484089" r:id="rId13"/>
    <p:sldLayoutId id="2147484092" r:id="rId14"/>
    <p:sldLayoutId id="2147484190" r:id="rId15"/>
    <p:sldLayoutId id="2147484195" r:id="rId16"/>
    <p:sldLayoutId id="2147484209" r:id="rId17"/>
    <p:sldLayoutId id="2147484196" r:id="rId18"/>
    <p:sldLayoutId id="2147484208" r:id="rId19"/>
    <p:sldLayoutId id="2147484192" r:id="rId20"/>
    <p:sldLayoutId id="2147484189" r:id="rId21"/>
    <p:sldLayoutId id="2147484194" r:id="rId22"/>
    <p:sldLayoutId id="2147484127" r:id="rId23"/>
    <p:sldLayoutId id="2147484093" r:id="rId24"/>
    <p:sldLayoutId id="2147484129" r:id="rId25"/>
    <p:sldLayoutId id="2147484203" r:id="rId26"/>
    <p:sldLayoutId id="2147484217" r:id="rId27"/>
  </p:sldLayoutIdLst>
  <p:transition>
    <p:fade/>
  </p:transition>
  <p:timing>
    <p:tnLst>
      <p:par>
        <p:cTn id="1" dur="indefinite" restart="never" nodeType="tmRoot"/>
      </p:par>
    </p:tnLst>
  </p:timing>
  <p:txStyles>
    <p:titleStyle>
      <a:lvl1pPr algn="l" defTabSz="932742" rtl="0" eaLnBrk="1" latinLnBrk="0" hangingPunct="1">
        <a:lnSpc>
          <a:spcPct val="90000"/>
        </a:lnSpc>
        <a:spcBef>
          <a:spcPct val="0"/>
        </a:spcBef>
        <a:buNone/>
        <a:defRPr lang="en-US" sz="5400" b="0" kern="1200" cap="none" spc="-102"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42900" marR="0" indent="-342900" algn="l" defTabSz="932742" rtl="0" eaLnBrk="1" fontAlgn="auto" latinLnBrk="0" hangingPunct="1">
        <a:lnSpc>
          <a:spcPct val="100000"/>
        </a:lnSpc>
        <a:spcBef>
          <a:spcPts val="1200"/>
        </a:spcBef>
        <a:spcAft>
          <a:spcPts val="0"/>
        </a:spcAft>
        <a:buClr>
          <a:schemeClr val="tx1"/>
        </a:buClr>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584200" marR="0" indent="-241300" algn="l" defTabSz="932742" rtl="0" eaLnBrk="1" fontAlgn="auto" latinLnBrk="0" hangingPunct="1">
        <a:lnSpc>
          <a:spcPct val="100000"/>
        </a:lnSpc>
        <a:spcBef>
          <a:spcPts val="1200"/>
        </a:spcBef>
        <a:spcAft>
          <a:spcPts val="0"/>
        </a:spcAft>
        <a:buClr>
          <a:schemeClr val="tx1"/>
        </a:buClr>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2pPr>
      <a:lvl3pPr marL="800100" marR="0" indent="-228600" algn="l" defTabSz="932742" rtl="0" eaLnBrk="1" fontAlgn="auto" latinLnBrk="0" hangingPunct="1">
        <a:lnSpc>
          <a:spcPct val="100000"/>
        </a:lnSpc>
        <a:spcBef>
          <a:spcPts val="1200"/>
        </a:spcBef>
        <a:spcAft>
          <a:spcPts val="0"/>
        </a:spcAft>
        <a:buClr>
          <a:schemeClr val="tx1"/>
        </a:buClr>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1028700" marR="0" indent="-228600" algn="l" defTabSz="932742" rtl="0" eaLnBrk="1" fontAlgn="auto" latinLnBrk="0" hangingPunct="1">
        <a:lnSpc>
          <a:spcPct val="100000"/>
        </a:lnSpc>
        <a:spcBef>
          <a:spcPts val="1200"/>
        </a:spcBef>
        <a:spcAft>
          <a:spcPts val="0"/>
        </a:spcAft>
        <a:buClr>
          <a:schemeClr val="tx1"/>
        </a:buClr>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4pPr>
      <a:lvl5pPr marL="1257300" marR="0" indent="-228600" algn="l" defTabSz="932742" rtl="0" eaLnBrk="1" fontAlgn="auto" latinLnBrk="0" hangingPunct="1">
        <a:lnSpc>
          <a:spcPct val="100000"/>
        </a:lnSpc>
        <a:spcBef>
          <a:spcPts val="1200"/>
        </a:spcBef>
        <a:spcAft>
          <a:spcPts val="0"/>
        </a:spcAft>
        <a:buClr>
          <a:schemeClr val="tx1"/>
        </a:buClr>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userDrawn="1">
          <p15:clr>
            <a:srgbClr val="5ACBF0"/>
          </p15:clr>
        </p15:guide>
        <p15:guide id="2" pos="173" userDrawn="1">
          <p15:clr>
            <a:srgbClr val="5ACBF0"/>
          </p15:clr>
        </p15:guide>
        <p15:guide id="3" pos="7661" userDrawn="1">
          <p15:clr>
            <a:srgbClr val="5ACBF0"/>
          </p15:clr>
        </p15:guide>
        <p15:guide id="4" orient="horz" pos="4219" userDrawn="1">
          <p15:clr>
            <a:srgbClr val="5ACBF0"/>
          </p15:clr>
        </p15:guide>
        <p15:guide id="5" pos="749" userDrawn="1">
          <p15:clr>
            <a:srgbClr val="5ACBF0"/>
          </p15:clr>
        </p15:guide>
        <p15:guide id="6" pos="1325" userDrawn="1">
          <p15:clr>
            <a:srgbClr val="5ACBF0"/>
          </p15:clr>
        </p15:guide>
        <p15:guide id="7" pos="1901" userDrawn="1">
          <p15:clr>
            <a:srgbClr val="5ACBF0"/>
          </p15:clr>
        </p15:guide>
        <p15:guide id="8" pos="2477" userDrawn="1">
          <p15:clr>
            <a:srgbClr val="5ACBF0"/>
          </p15:clr>
        </p15:guide>
        <p15:guide id="9" pos="3053" userDrawn="1">
          <p15:clr>
            <a:srgbClr val="5ACBF0"/>
          </p15:clr>
        </p15:guide>
        <p15:guide id="10" pos="3629" userDrawn="1">
          <p15:clr>
            <a:srgbClr val="5ACBF0"/>
          </p15:clr>
        </p15:guide>
        <p15:guide id="11" pos="4205" userDrawn="1">
          <p15:clr>
            <a:srgbClr val="5ACBF0"/>
          </p15:clr>
        </p15:guide>
        <p15:guide id="12" pos="4781" userDrawn="1">
          <p15:clr>
            <a:srgbClr val="5ACBF0"/>
          </p15:clr>
        </p15:guide>
        <p15:guide id="13" pos="5357" userDrawn="1">
          <p15:clr>
            <a:srgbClr val="5ACBF0"/>
          </p15:clr>
        </p15:guide>
        <p15:guide id="14" pos="5933" userDrawn="1">
          <p15:clr>
            <a:srgbClr val="5ACBF0"/>
          </p15:clr>
        </p15:guide>
        <p15:guide id="15" pos="6509" userDrawn="1">
          <p15:clr>
            <a:srgbClr val="5ACBF0"/>
          </p15:clr>
        </p15:guide>
        <p15:guide id="16" pos="7085" userDrawn="1">
          <p15:clr>
            <a:srgbClr val="5ACBF0"/>
          </p15:clr>
        </p15:guide>
        <p15:guide id="17" orient="horz" pos="763" userDrawn="1">
          <p15:clr>
            <a:srgbClr val="5ACBF0"/>
          </p15:clr>
        </p15:guide>
        <p15:guide id="18" orient="horz" pos="1339" userDrawn="1">
          <p15:clr>
            <a:srgbClr val="5ACBF0"/>
          </p15:clr>
        </p15:guide>
        <p15:guide id="19" orient="horz" pos="1915" userDrawn="1">
          <p15:clr>
            <a:srgbClr val="5ACBF0"/>
          </p15:clr>
        </p15:guide>
        <p15:guide id="20" orient="horz" pos="2491" userDrawn="1">
          <p15:clr>
            <a:srgbClr val="5ACBF0"/>
          </p15:clr>
        </p15:guide>
        <p15:guide id="21" orient="horz" pos="3067" userDrawn="1">
          <p15:clr>
            <a:srgbClr val="5ACBF0"/>
          </p15:clr>
        </p15:guide>
        <p15:guide id="22" orient="horz" pos="3643" userDrawn="1">
          <p15:clr>
            <a:srgbClr val="5ACBF0"/>
          </p15:clr>
        </p15:guide>
        <p15:guide id="23" pos="288" userDrawn="1">
          <p15:clr>
            <a:srgbClr val="C35EA4"/>
          </p15:clr>
        </p15:guide>
        <p15:guide id="24" pos="7546" userDrawn="1">
          <p15:clr>
            <a:srgbClr val="C35EA4"/>
          </p15:clr>
        </p15:guide>
        <p15:guide id="25" orient="horz" pos="302" userDrawn="1">
          <p15:clr>
            <a:srgbClr val="C35EA4"/>
          </p15:clr>
        </p15:guide>
        <p15:guide id="26" orient="horz" pos="4104" userDrawn="1">
          <p15:clr>
            <a:srgbClr val="C35E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2.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image" Target="../media/image13.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11.xml"/><Relationship Id="rId5" Type="http://schemas.openxmlformats.org/officeDocument/2006/relationships/tags" Target="../tags/tag5.xml"/><Relationship Id="rId4" Type="http://schemas.openxmlformats.org/officeDocument/2006/relationships/tags" Target="../tags/tag4.xml"/></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gif"/><Relationship Id="rId1" Type="http://schemas.openxmlformats.org/officeDocument/2006/relationships/slideLayout" Target="../slideLayouts/slideLayout11.xml"/><Relationship Id="rId6" Type="http://schemas.openxmlformats.org/officeDocument/2006/relationships/image" Target="../media/image18.png"/><Relationship Id="rId5" Type="http://schemas.openxmlformats.org/officeDocument/2006/relationships/image" Target="../media/image17.emf"/><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2.xml"/><Relationship Id="rId1" Type="http://schemas.openxmlformats.org/officeDocument/2006/relationships/slideLayout" Target="../slideLayouts/slideLayout11.xml"/><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15.png"/><Relationship Id="rId1" Type="http://schemas.openxmlformats.org/officeDocument/2006/relationships/slideLayout" Target="../slideLayouts/slideLayout11.xml"/><Relationship Id="rId5" Type="http://schemas.openxmlformats.org/officeDocument/2006/relationships/image" Target="../media/image16.png"/><Relationship Id="rId4" Type="http://schemas.openxmlformats.org/officeDocument/2006/relationships/image" Target="../media/image17.emf"/></Relationships>
</file>

<file path=ppt/slides/_rels/slide6.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3.xml"/><Relationship Id="rId1" Type="http://schemas.openxmlformats.org/officeDocument/2006/relationships/slideLayout" Target="../slideLayouts/slideLayout11.xml"/><Relationship Id="rId5"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image" Target="../media/image15.png"/><Relationship Id="rId1" Type="http://schemas.openxmlformats.org/officeDocument/2006/relationships/slideLayout" Target="../slideLayouts/slideLayout11.xml"/><Relationship Id="rId5" Type="http://schemas.openxmlformats.org/officeDocument/2006/relationships/image" Target="../media/image16.png"/><Relationship Id="rId4" Type="http://schemas.openxmlformats.org/officeDocument/2006/relationships/image" Target="../media/image17.emf"/></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16.png"/><Relationship Id="rId5" Type="http://schemas.openxmlformats.org/officeDocument/2006/relationships/image" Target="../media/image17.emf"/><Relationship Id="rId4" Type="http://schemas.openxmlformats.org/officeDocument/2006/relationships/image" Target="../media/image14.gif"/></Relationships>
</file>

<file path=ppt/slides/_rels/slide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4703" y="1198516"/>
            <a:ext cx="8610534" cy="2222546"/>
          </a:xfrm>
        </p:spPr>
        <p:txBody>
          <a:bodyPr/>
          <a:lstStyle/>
          <a:p>
            <a:pPr algn="r">
              <a:lnSpc>
                <a:spcPct val="80000"/>
              </a:lnSpc>
            </a:pPr>
            <a:r>
              <a:rPr lang="en-US" sz="4800" b="1" dirty="0">
                <a:solidFill>
                  <a:schemeClr val="tx1"/>
                </a:solidFill>
              </a:rPr>
              <a:t>Microsoft </a:t>
            </a:r>
            <a:r>
              <a:rPr lang="en-US" sz="4800" b="1" dirty="0" smtClean="0">
                <a:solidFill>
                  <a:schemeClr val="tx1"/>
                </a:solidFill>
              </a:rPr>
              <a:t>MPP Data Warehouse(s)</a:t>
            </a:r>
            <a:r>
              <a:rPr lang="en-US" sz="4800" b="1" dirty="0">
                <a:solidFill>
                  <a:schemeClr val="tx1"/>
                </a:solidFill>
              </a:rPr>
              <a:t/>
            </a:r>
            <a:br>
              <a:rPr lang="en-US" sz="4800" b="1" dirty="0">
                <a:solidFill>
                  <a:schemeClr val="tx1"/>
                </a:solidFill>
              </a:rPr>
            </a:br>
            <a:r>
              <a:rPr lang="en-US" sz="4800" dirty="0">
                <a:solidFill>
                  <a:schemeClr val="tx1"/>
                </a:solidFill>
              </a:rPr>
              <a:t/>
            </a:r>
            <a:br>
              <a:rPr lang="en-US" sz="4800" dirty="0">
                <a:solidFill>
                  <a:schemeClr val="tx1"/>
                </a:solidFill>
              </a:rPr>
            </a:br>
            <a:r>
              <a:rPr lang="en-US" sz="4800" dirty="0" smtClean="0">
                <a:solidFill>
                  <a:schemeClr val="tx1"/>
                </a:solidFill>
              </a:rPr>
              <a:t>DR Solution for APS to SQLDW</a:t>
            </a:r>
            <a:endParaRPr lang="en-US" sz="5400" dirty="0">
              <a:solidFill>
                <a:schemeClr val="tx1"/>
              </a:solidFill>
            </a:endParaRPr>
          </a:p>
        </p:txBody>
      </p:sp>
      <p:sp>
        <p:nvSpPr>
          <p:cNvPr id="3" name="Text Placeholder 2"/>
          <p:cNvSpPr>
            <a:spLocks noGrp="1"/>
          </p:cNvSpPr>
          <p:nvPr>
            <p:ph type="body" sz="quarter" idx="13"/>
          </p:nvPr>
        </p:nvSpPr>
        <p:spPr>
          <a:xfrm>
            <a:off x="10333037" y="112976"/>
            <a:ext cx="1981200" cy="461665"/>
          </a:xfrm>
        </p:spPr>
        <p:txBody>
          <a:bodyPr/>
          <a:lstStyle/>
          <a:p>
            <a:r>
              <a:rPr lang="en-US" dirty="0" smtClean="0"/>
              <a:t>#MSMPPDWH</a:t>
            </a:r>
            <a:endParaRPr lang="en-US" dirty="0"/>
          </a:p>
        </p:txBody>
      </p:sp>
      <p:cxnSp>
        <p:nvCxnSpPr>
          <p:cNvPr id="7" name="Straight Connector 6"/>
          <p:cNvCxnSpPr/>
          <p:nvPr/>
        </p:nvCxnSpPr>
        <p:spPr>
          <a:xfrm>
            <a:off x="579437" y="2201862"/>
            <a:ext cx="8077200" cy="0"/>
          </a:xfrm>
          <a:prstGeom prst="line">
            <a:avLst/>
          </a:prstGeom>
          <a:ln w="190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14" name="Group 13"/>
          <p:cNvGrpSpPr>
            <a:grpSpLocks noChangeAspect="1"/>
          </p:cNvGrpSpPr>
          <p:nvPr/>
        </p:nvGrpSpPr>
        <p:grpSpPr>
          <a:xfrm>
            <a:off x="9418637" y="758528"/>
            <a:ext cx="2499633" cy="5760000"/>
            <a:chOff x="9115279" y="1471239"/>
            <a:chExt cx="1878740" cy="3888969"/>
          </a:xfrm>
        </p:grpSpPr>
        <p:pic>
          <p:nvPicPr>
            <p:cNvPr id="16" name="Picture 3"/>
            <p:cNvPicPr>
              <a:picLocks noChangeAspect="1" noChangeArrowheads="1"/>
            </p:cNvPicPr>
            <p:nvPr/>
          </p:nvPicPr>
          <p:blipFill rotWithShape="1">
            <a:blip r:embed="rId3" cstate="print">
              <a:extLst>
                <a:ext uri="{28A0092B-C50C-407E-A947-70E740481C1C}">
                  <a14:useLocalDpi xmlns:a14="http://schemas.microsoft.com/office/drawing/2010/main"/>
                </a:ext>
              </a:extLst>
            </a:blip>
            <a:srcRect/>
            <a:stretch/>
          </p:blipFill>
          <p:spPr bwMode="auto">
            <a:xfrm>
              <a:off x="9115279" y="3483073"/>
              <a:ext cx="1878740" cy="1877135"/>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15279" y="1471239"/>
              <a:ext cx="1877141" cy="1887679"/>
            </a:xfrm>
            <a:prstGeom prst="rect">
              <a:avLst/>
            </a:prstGeom>
          </p:spPr>
        </p:pic>
      </p:grpSp>
    </p:spTree>
    <p:extLst>
      <p:ext uri="{BB962C8B-B14F-4D97-AF65-F5344CB8AC3E}">
        <p14:creationId xmlns:p14="http://schemas.microsoft.com/office/powerpoint/2010/main" val="2785803637"/>
      </p:ext>
    </p:extLst>
  </p:cSld>
  <p:clrMapOvr>
    <a:masterClrMapping/>
  </p:clrMapOvr>
  <p:transition spd="slow">
    <p:push/>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1948" y="233151"/>
            <a:ext cx="11370961" cy="762786"/>
          </a:xfrm>
        </p:spPr>
        <p:txBody>
          <a:bodyPr/>
          <a:lstStyle/>
          <a:p>
            <a:r>
              <a:rPr lang="en-US" dirty="0" smtClean="0"/>
              <a:t>Agenda</a:t>
            </a:r>
            <a:endParaRPr lang="en-US" dirty="0"/>
          </a:p>
        </p:txBody>
      </p:sp>
      <p:sp>
        <p:nvSpPr>
          <p:cNvPr id="9" name="Rectangle 8"/>
          <p:cNvSpPr/>
          <p:nvPr>
            <p:custDataLst>
              <p:tags r:id="rId1"/>
            </p:custDataLst>
          </p:nvPr>
        </p:nvSpPr>
        <p:spPr bwMode="auto">
          <a:xfrm>
            <a:off x="507809" y="2533779"/>
            <a:ext cx="8572180" cy="709214"/>
          </a:xfrm>
          <a:prstGeom prst="rect">
            <a:avLst/>
          </a:prstGeom>
          <a:solidFill>
            <a:schemeClr val="accent6">
              <a:lumMod val="90000"/>
              <a:lumOff val="1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9945" tIns="46630" rIns="69945" bIns="46630" numCol="1" rtlCol="0" anchor="ctr" anchorCtr="0" compatLnSpc="1">
            <a:prstTxWarp prst="textNoShape">
              <a:avLst/>
            </a:prstTxWarp>
          </a:bodyPr>
          <a:lstStyle/>
          <a:p>
            <a:pPr defTabSz="932290" fontAlgn="base">
              <a:spcBef>
                <a:spcPct val="0"/>
              </a:spcBef>
              <a:spcAft>
                <a:spcPct val="0"/>
              </a:spcAft>
            </a:pPr>
            <a:endParaRPr lang="en-US" sz="3264" dirty="0">
              <a:gradFill flip="none" rotWithShape="1">
                <a:gsLst>
                  <a:gs pos="0">
                    <a:srgbClr val="FFFFFF"/>
                  </a:gs>
                  <a:gs pos="100000">
                    <a:srgbClr val="FFFFFF"/>
                  </a:gs>
                </a:gsLst>
                <a:lin ang="5400000" scaled="0"/>
                <a:tileRect/>
              </a:gradFill>
              <a:latin typeface="+mj-lt"/>
            </a:endParaRPr>
          </a:p>
        </p:txBody>
      </p:sp>
      <p:sp>
        <p:nvSpPr>
          <p:cNvPr id="14" name="Rectangle 13"/>
          <p:cNvSpPr/>
          <p:nvPr>
            <p:custDataLst>
              <p:tags r:id="rId2"/>
            </p:custDataLst>
          </p:nvPr>
        </p:nvSpPr>
        <p:spPr bwMode="auto">
          <a:xfrm>
            <a:off x="507808" y="4349193"/>
            <a:ext cx="8572180" cy="709214"/>
          </a:xfrm>
          <a:prstGeom prst="rect">
            <a:avLst/>
          </a:prstGeom>
          <a:solidFill>
            <a:schemeClr val="accent6">
              <a:lumMod val="90000"/>
              <a:lumOff val="1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9945" tIns="46630" rIns="69945" bIns="46630" numCol="1" rtlCol="0" anchor="ctr" anchorCtr="0" compatLnSpc="1">
            <a:prstTxWarp prst="textNoShape">
              <a:avLst/>
            </a:prstTxWarp>
          </a:bodyPr>
          <a:lstStyle/>
          <a:p>
            <a:pPr defTabSz="932290" fontAlgn="base">
              <a:spcBef>
                <a:spcPct val="0"/>
              </a:spcBef>
              <a:spcAft>
                <a:spcPct val="0"/>
              </a:spcAft>
            </a:pPr>
            <a:endParaRPr lang="en-US" sz="3264" dirty="0">
              <a:gradFill flip="none" rotWithShape="1">
                <a:gsLst>
                  <a:gs pos="0">
                    <a:srgbClr val="FFFFFF"/>
                  </a:gs>
                  <a:gs pos="100000">
                    <a:srgbClr val="FFFFFF"/>
                  </a:gs>
                </a:gsLst>
                <a:lin ang="5400000" scaled="0"/>
                <a:tileRect/>
              </a:gradFill>
              <a:latin typeface="+mj-lt"/>
            </a:endParaRPr>
          </a:p>
        </p:txBody>
      </p:sp>
      <p:sp>
        <p:nvSpPr>
          <p:cNvPr id="15" name="Rectangle 14"/>
          <p:cNvSpPr/>
          <p:nvPr>
            <p:custDataLst>
              <p:tags r:id="rId3"/>
            </p:custDataLst>
          </p:nvPr>
        </p:nvSpPr>
        <p:spPr bwMode="auto">
          <a:xfrm>
            <a:off x="507809" y="3457790"/>
            <a:ext cx="8572180" cy="709214"/>
          </a:xfrm>
          <a:prstGeom prst="rect">
            <a:avLst/>
          </a:prstGeom>
          <a:solidFill>
            <a:schemeClr val="accent6">
              <a:lumMod val="90000"/>
              <a:lumOff val="1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9945" tIns="46630" rIns="69945" bIns="46630" numCol="1" rtlCol="0" anchor="ctr" anchorCtr="0" compatLnSpc="1">
            <a:prstTxWarp prst="textNoShape">
              <a:avLst/>
            </a:prstTxWarp>
          </a:bodyPr>
          <a:lstStyle/>
          <a:p>
            <a:pPr defTabSz="932290" fontAlgn="base">
              <a:spcBef>
                <a:spcPct val="0"/>
              </a:spcBef>
              <a:spcAft>
                <a:spcPct val="0"/>
              </a:spcAft>
            </a:pPr>
            <a:endParaRPr lang="en-US" sz="3264" dirty="0">
              <a:gradFill flip="none" rotWithShape="1">
                <a:gsLst>
                  <a:gs pos="0">
                    <a:srgbClr val="FFFFFF"/>
                  </a:gs>
                  <a:gs pos="100000">
                    <a:srgbClr val="FFFFFF"/>
                  </a:gs>
                </a:gsLst>
                <a:lin ang="5400000" scaled="0"/>
                <a:tileRect/>
              </a:gradFill>
              <a:latin typeface="+mj-lt"/>
            </a:endParaRPr>
          </a:p>
        </p:txBody>
      </p:sp>
      <p:sp>
        <p:nvSpPr>
          <p:cNvPr id="16" name="Rectangle 15"/>
          <p:cNvSpPr/>
          <p:nvPr>
            <p:custDataLst>
              <p:tags r:id="rId4"/>
            </p:custDataLst>
          </p:nvPr>
        </p:nvSpPr>
        <p:spPr bwMode="auto">
          <a:xfrm>
            <a:off x="508459" y="5250470"/>
            <a:ext cx="8572180" cy="709214"/>
          </a:xfrm>
          <a:prstGeom prst="rect">
            <a:avLst/>
          </a:prstGeom>
          <a:solidFill>
            <a:schemeClr val="accent6">
              <a:lumMod val="90000"/>
              <a:lumOff val="1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69945" tIns="46630" rIns="69945" bIns="46630" numCol="1" rtlCol="0" anchor="ctr" anchorCtr="0" compatLnSpc="1">
            <a:prstTxWarp prst="textNoShape">
              <a:avLst/>
            </a:prstTxWarp>
          </a:bodyPr>
          <a:lstStyle/>
          <a:p>
            <a:pPr defTabSz="932290" fontAlgn="base">
              <a:spcBef>
                <a:spcPct val="0"/>
              </a:spcBef>
              <a:spcAft>
                <a:spcPct val="0"/>
              </a:spcAft>
            </a:pPr>
            <a:endParaRPr lang="en-US" sz="3264" dirty="0">
              <a:gradFill flip="none" rotWithShape="1">
                <a:gsLst>
                  <a:gs pos="0">
                    <a:srgbClr val="FFFFFF"/>
                  </a:gs>
                  <a:gs pos="100000">
                    <a:srgbClr val="FFFFFF"/>
                  </a:gs>
                </a:gsLst>
                <a:lin ang="5400000" scaled="0"/>
                <a:tileRect/>
              </a:gradFill>
              <a:latin typeface="+mj-lt"/>
            </a:endParaRPr>
          </a:p>
        </p:txBody>
      </p:sp>
      <p:pic>
        <p:nvPicPr>
          <p:cNvPr id="1026"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080638" y="1522672"/>
            <a:ext cx="3353336" cy="4440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custDataLst>
              <p:tags r:id="rId5"/>
            </p:custDataLst>
          </p:nvPr>
        </p:nvSpPr>
        <p:spPr bwMode="auto">
          <a:xfrm>
            <a:off x="507807" y="1522672"/>
            <a:ext cx="8572180" cy="813742"/>
          </a:xfrm>
          <a:prstGeom prst="rect">
            <a:avLst/>
          </a:prstGeom>
          <a:solidFill>
            <a:schemeClr val="accent6">
              <a:lumMod val="90000"/>
              <a:lumOff val="10000"/>
            </a:schemeClr>
          </a:soli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93256" tIns="46628" rIns="93256" bIns="46628" numCol="1" rtlCol="0" anchor="ctr" anchorCtr="0" compatLnSpc="1">
            <a:prstTxWarp prst="textNoShape">
              <a:avLst/>
            </a:prstTxWarp>
          </a:bodyPr>
          <a:lstStyle/>
          <a:p>
            <a:pPr defTabSz="932290" fontAlgn="base">
              <a:spcBef>
                <a:spcPct val="0"/>
              </a:spcBef>
              <a:spcAft>
                <a:spcPct val="0"/>
              </a:spcAft>
            </a:pPr>
            <a:endParaRPr lang="en-US" sz="3264" dirty="0">
              <a:solidFill>
                <a:srgbClr val="FFFFFF"/>
              </a:solidFill>
              <a:latin typeface="+mj-lt"/>
            </a:endParaRPr>
          </a:p>
        </p:txBody>
      </p:sp>
    </p:spTree>
    <p:extLst>
      <p:ext uri="{BB962C8B-B14F-4D97-AF65-F5344CB8AC3E}">
        <p14:creationId xmlns:p14="http://schemas.microsoft.com/office/powerpoint/2010/main" val="4021893368"/>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p:cNvSpPr/>
          <p:nvPr/>
        </p:nvSpPr>
        <p:spPr bwMode="auto">
          <a:xfrm>
            <a:off x="9802973" y="3599368"/>
            <a:ext cx="2444704" cy="1905000"/>
          </a:xfrm>
          <a:prstGeom prst="rect">
            <a:avLst/>
          </a:prstGeom>
          <a:solidFill>
            <a:schemeClr val="tx1"/>
          </a:solidFill>
          <a:ln w="3175">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6637" rIns="0" bIns="46637" numCol="1" rtlCol="0" anchor="ctr" anchorCtr="0" compatLnSpc="1">
            <a:prstTxWarp prst="textNoShape">
              <a:avLst/>
            </a:prstTxWarp>
          </a:bodyPr>
          <a:lstStyle/>
          <a:p>
            <a:pPr algn="ctr" defTabSz="932472"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3" name="Title 2"/>
          <p:cNvSpPr>
            <a:spLocks noGrp="1"/>
          </p:cNvSpPr>
          <p:nvPr>
            <p:ph type="title"/>
          </p:nvPr>
        </p:nvSpPr>
        <p:spPr/>
        <p:txBody>
          <a:bodyPr/>
          <a:lstStyle/>
          <a:p>
            <a:r>
              <a:rPr lang="en-US" dirty="0" smtClean="0"/>
              <a:t>Normal Activity</a:t>
            </a:r>
            <a:endParaRPr lang="en-US" dirty="0"/>
          </a:p>
        </p:txBody>
      </p:sp>
      <p:sp>
        <p:nvSpPr>
          <p:cNvPr id="4" name="Rectangular Callout 3"/>
          <p:cNvSpPr/>
          <p:nvPr/>
        </p:nvSpPr>
        <p:spPr>
          <a:xfrm>
            <a:off x="4826943" y="3599368"/>
            <a:ext cx="4419600" cy="1995608"/>
          </a:xfrm>
          <a:prstGeom prst="wedgeRectCallout">
            <a:avLst>
              <a:gd name="adj1" fmla="val 55498"/>
              <a:gd name="adj2" fmla="val 17111"/>
            </a:avLst>
          </a:prstGeom>
          <a:solidFill>
            <a:schemeClr val="accent4">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ular Callout 4"/>
          <p:cNvSpPr/>
          <p:nvPr/>
        </p:nvSpPr>
        <p:spPr>
          <a:xfrm>
            <a:off x="4826943" y="1382485"/>
            <a:ext cx="4419600" cy="1995608"/>
          </a:xfrm>
          <a:prstGeom prst="wedgeRectCallout">
            <a:avLst>
              <a:gd name="adj1" fmla="val 55498"/>
              <a:gd name="adj2" fmla="val 17111"/>
            </a:avLst>
          </a:prstGeom>
          <a:solidFill>
            <a:schemeClr val="bg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Connector 5"/>
          <p:cNvCxnSpPr/>
          <p:nvPr/>
        </p:nvCxnSpPr>
        <p:spPr>
          <a:xfrm flipV="1">
            <a:off x="4789276" y="3439885"/>
            <a:ext cx="5749172" cy="34488"/>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5436543" y="1458685"/>
            <a:ext cx="3124200" cy="369332"/>
          </a:xfrm>
          <a:prstGeom prst="rect">
            <a:avLst/>
          </a:prstGeom>
          <a:noFill/>
        </p:spPr>
        <p:txBody>
          <a:bodyPr wrap="square" rtlCol="0">
            <a:spAutoFit/>
          </a:bodyPr>
          <a:lstStyle/>
          <a:p>
            <a:r>
              <a:rPr lang="en-US" dirty="0"/>
              <a:t>Landing Zone Server - Prod</a:t>
            </a:r>
          </a:p>
        </p:txBody>
      </p:sp>
      <p:sp>
        <p:nvSpPr>
          <p:cNvPr id="8" name="TextBox 7"/>
          <p:cNvSpPr txBox="1"/>
          <p:nvPr/>
        </p:nvSpPr>
        <p:spPr>
          <a:xfrm>
            <a:off x="5436543" y="3654492"/>
            <a:ext cx="3124200" cy="369332"/>
          </a:xfrm>
          <a:prstGeom prst="rect">
            <a:avLst/>
          </a:prstGeom>
          <a:noFill/>
        </p:spPr>
        <p:txBody>
          <a:bodyPr wrap="square" rtlCol="0">
            <a:spAutoFit/>
          </a:bodyPr>
          <a:lstStyle/>
          <a:p>
            <a:r>
              <a:rPr lang="en-US" dirty="0"/>
              <a:t>Landing Zone Server - DR</a:t>
            </a:r>
          </a:p>
        </p:txBody>
      </p:sp>
      <p:pic>
        <p:nvPicPr>
          <p:cNvPr id="9" name="Picture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34326" y="2441227"/>
            <a:ext cx="599663" cy="599663"/>
          </a:xfrm>
          <a:prstGeom prst="rect">
            <a:avLst/>
          </a:prstGeom>
        </p:spPr>
      </p:pic>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934326" y="4037654"/>
            <a:ext cx="599663" cy="599663"/>
          </a:xfrm>
          <a:prstGeom prst="rect">
            <a:avLst/>
          </a:prstGeom>
        </p:spPr>
      </p:pic>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9814" y="2038447"/>
            <a:ext cx="904595" cy="904595"/>
          </a:xfrm>
          <a:prstGeom prst="rect">
            <a:avLst/>
          </a:prstGeom>
          <a:effectLst>
            <a:outerShdw blurRad="50800" dist="50800" dir="5400000" algn="ctr" rotWithShape="0">
              <a:srgbClr val="000000">
                <a:alpha val="52000"/>
              </a:srgbClr>
            </a:outerShdw>
          </a:effectLst>
        </p:spPr>
      </p:pic>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48621" y="4325550"/>
            <a:ext cx="904595" cy="904595"/>
          </a:xfrm>
          <a:prstGeom prst="rect">
            <a:avLst/>
          </a:prstGeom>
          <a:effectLst>
            <a:outerShdw blurRad="50800" dist="50800" dir="5400000" algn="ctr" rotWithShape="0">
              <a:srgbClr val="000000">
                <a:alpha val="52000"/>
              </a:srgbClr>
            </a:outerShdw>
          </a:effectLst>
        </p:spPr>
      </p:pic>
      <p:pic>
        <p:nvPicPr>
          <p:cNvPr id="13" name="Picture 1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12973" y="2883340"/>
            <a:ext cx="332720" cy="443627"/>
          </a:xfrm>
          <a:prstGeom prst="rect">
            <a:avLst/>
          </a:prstGeom>
        </p:spPr>
      </p:pic>
      <p:cxnSp>
        <p:nvCxnSpPr>
          <p:cNvPr id="14" name="Straight Arrow Connector 13"/>
          <p:cNvCxnSpPr/>
          <p:nvPr/>
        </p:nvCxnSpPr>
        <p:spPr>
          <a:xfrm>
            <a:off x="6727571" y="2994307"/>
            <a:ext cx="9305" cy="1406938"/>
          </a:xfrm>
          <a:prstGeom prst="straightConnector1">
            <a:avLst/>
          </a:prstGeom>
          <a:ln w="76200">
            <a:solidFill>
              <a:schemeClr val="accent6">
                <a:lumMod val="90000"/>
                <a:lumOff val="1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5" name="Picture 1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08556" y="4401247"/>
            <a:ext cx="599663" cy="599663"/>
          </a:xfrm>
          <a:prstGeom prst="rect">
            <a:avLst/>
          </a:prstGeom>
        </p:spPr>
      </p:pic>
      <p:pic>
        <p:nvPicPr>
          <p:cNvPr id="16" name="Picture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59690" y="2052489"/>
            <a:ext cx="599663" cy="599663"/>
          </a:xfrm>
          <a:prstGeom prst="rect">
            <a:avLst/>
          </a:prstGeom>
        </p:spPr>
      </p:pic>
      <p:pic>
        <p:nvPicPr>
          <p:cNvPr id="17" name="Picture 16"/>
          <p:cNvPicPr>
            <a:picLocks noChangeAspect="1"/>
          </p:cNvPicPr>
          <p:nvPr/>
        </p:nvPicPr>
        <p:blipFill>
          <a:blip r:embed="rId5"/>
          <a:stretch>
            <a:fillRect/>
          </a:stretch>
        </p:blipFill>
        <p:spPr>
          <a:xfrm>
            <a:off x="9647846" y="1582981"/>
            <a:ext cx="892800" cy="1897200"/>
          </a:xfrm>
          <a:prstGeom prst="rect">
            <a:avLst/>
          </a:prstGeom>
        </p:spPr>
      </p:pic>
      <p:sp>
        <p:nvSpPr>
          <p:cNvPr id="19" name="TextBox 18"/>
          <p:cNvSpPr txBox="1"/>
          <p:nvPr/>
        </p:nvSpPr>
        <p:spPr>
          <a:xfrm>
            <a:off x="4826944" y="3016460"/>
            <a:ext cx="1195717" cy="276999"/>
          </a:xfrm>
          <a:prstGeom prst="rect">
            <a:avLst/>
          </a:prstGeom>
          <a:noFill/>
        </p:spPr>
        <p:txBody>
          <a:bodyPr wrap="square" rtlCol="0">
            <a:spAutoFit/>
          </a:bodyPr>
          <a:lstStyle/>
          <a:p>
            <a:r>
              <a:rPr lang="en-US" sz="1200" dirty="0"/>
              <a:t>Extract (SSIS)</a:t>
            </a:r>
          </a:p>
        </p:txBody>
      </p:sp>
      <p:sp>
        <p:nvSpPr>
          <p:cNvPr id="20" name="TextBox 19"/>
          <p:cNvSpPr txBox="1"/>
          <p:nvPr/>
        </p:nvSpPr>
        <p:spPr>
          <a:xfrm>
            <a:off x="4808515" y="4666428"/>
            <a:ext cx="1274964" cy="276999"/>
          </a:xfrm>
          <a:prstGeom prst="rect">
            <a:avLst/>
          </a:prstGeom>
          <a:noFill/>
        </p:spPr>
        <p:txBody>
          <a:bodyPr wrap="square" rtlCol="0">
            <a:spAutoFit/>
          </a:bodyPr>
          <a:lstStyle/>
          <a:p>
            <a:r>
              <a:rPr lang="en-US" sz="1200" dirty="0"/>
              <a:t>Extract (SSIS)</a:t>
            </a:r>
          </a:p>
        </p:txBody>
      </p:sp>
      <p:sp>
        <p:nvSpPr>
          <p:cNvPr id="21" name="TextBox 20"/>
          <p:cNvSpPr txBox="1"/>
          <p:nvPr/>
        </p:nvSpPr>
        <p:spPr>
          <a:xfrm>
            <a:off x="7151571" y="5020943"/>
            <a:ext cx="1274964" cy="276999"/>
          </a:xfrm>
          <a:prstGeom prst="rect">
            <a:avLst/>
          </a:prstGeom>
          <a:noFill/>
        </p:spPr>
        <p:txBody>
          <a:bodyPr wrap="square" rtlCol="0">
            <a:spAutoFit/>
          </a:bodyPr>
          <a:lstStyle/>
          <a:p>
            <a:r>
              <a:rPr lang="en-US" sz="1200" dirty="0"/>
              <a:t>Load (</a:t>
            </a:r>
            <a:r>
              <a:rPr lang="en-US" sz="1200" dirty="0" smtClean="0"/>
              <a:t>SSIS)</a:t>
            </a:r>
            <a:endParaRPr lang="en-US" sz="1200" dirty="0"/>
          </a:p>
        </p:txBody>
      </p:sp>
      <p:sp>
        <p:nvSpPr>
          <p:cNvPr id="22" name="TextBox 21"/>
          <p:cNvSpPr txBox="1"/>
          <p:nvPr/>
        </p:nvSpPr>
        <p:spPr>
          <a:xfrm>
            <a:off x="7142044" y="2707154"/>
            <a:ext cx="1492811" cy="276999"/>
          </a:xfrm>
          <a:prstGeom prst="rect">
            <a:avLst/>
          </a:prstGeom>
          <a:noFill/>
        </p:spPr>
        <p:txBody>
          <a:bodyPr wrap="square" rtlCol="0">
            <a:spAutoFit/>
          </a:bodyPr>
          <a:lstStyle/>
          <a:p>
            <a:r>
              <a:rPr lang="en-US" sz="1200" dirty="0"/>
              <a:t>Load (</a:t>
            </a:r>
            <a:r>
              <a:rPr lang="en-US" sz="1200" dirty="0" smtClean="0"/>
              <a:t>SSIS)</a:t>
            </a:r>
            <a:endParaRPr lang="en-US" sz="1200" dirty="0"/>
          </a:p>
        </p:txBody>
      </p:sp>
      <p:pic>
        <p:nvPicPr>
          <p:cNvPr id="23" name="Picture 2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443952" y="1985440"/>
            <a:ext cx="332720" cy="443627"/>
          </a:xfrm>
          <a:prstGeom prst="rect">
            <a:avLst/>
          </a:prstGeom>
        </p:spPr>
      </p:pic>
      <p:pic>
        <p:nvPicPr>
          <p:cNvPr id="24" name="Picture 2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308836" y="4597174"/>
            <a:ext cx="332720" cy="443627"/>
          </a:xfrm>
          <a:prstGeom prst="rect">
            <a:avLst/>
          </a:prstGeom>
        </p:spPr>
      </p:pic>
      <p:cxnSp>
        <p:nvCxnSpPr>
          <p:cNvPr id="25" name="Straight Connector 24"/>
          <p:cNvCxnSpPr/>
          <p:nvPr/>
        </p:nvCxnSpPr>
        <p:spPr>
          <a:xfrm flipV="1">
            <a:off x="8464647" y="2429065"/>
            <a:ext cx="1315296" cy="12160"/>
          </a:xfrm>
          <a:prstGeom prst="line">
            <a:avLst/>
          </a:prstGeom>
          <a:ln w="50800">
            <a:solidFill>
              <a:schemeClr val="accent6">
                <a:lumMod val="90000"/>
                <a:lumOff val="1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8464649" y="4672159"/>
            <a:ext cx="1371941" cy="5895"/>
          </a:xfrm>
          <a:prstGeom prst="line">
            <a:avLst/>
          </a:prstGeom>
          <a:ln w="50800">
            <a:solidFill>
              <a:schemeClr val="accent6">
                <a:lumMod val="90000"/>
                <a:lumOff val="1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8464649" y="2429067"/>
            <a:ext cx="22015" cy="2237361"/>
          </a:xfrm>
          <a:prstGeom prst="line">
            <a:avLst/>
          </a:prstGeom>
          <a:ln w="50800">
            <a:solidFill>
              <a:schemeClr val="accent6">
                <a:lumMod val="90000"/>
                <a:lumOff val="10000"/>
              </a:schemeClr>
            </a:solidFill>
          </a:ln>
        </p:spPr>
        <p:style>
          <a:lnRef idx="1">
            <a:schemeClr val="accent1"/>
          </a:lnRef>
          <a:fillRef idx="0">
            <a:schemeClr val="accent1"/>
          </a:fillRef>
          <a:effectRef idx="0">
            <a:schemeClr val="accent1"/>
          </a:effectRef>
          <a:fontRef idx="minor">
            <a:schemeClr val="tx1"/>
          </a:fontRef>
        </p:style>
      </p:cxnSp>
      <p:pic>
        <p:nvPicPr>
          <p:cNvPr id="28" name="Picture 2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70343" y="2693796"/>
            <a:ext cx="599663" cy="599663"/>
          </a:xfrm>
          <a:prstGeom prst="rect">
            <a:avLst/>
          </a:prstGeom>
        </p:spPr>
      </p:pic>
      <p:pic>
        <p:nvPicPr>
          <p:cNvPr id="29" name="Picture 2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70343" y="3878994"/>
            <a:ext cx="599663" cy="599663"/>
          </a:xfrm>
          <a:prstGeom prst="rect">
            <a:avLst/>
          </a:prstGeom>
        </p:spPr>
      </p:pic>
      <p:sp>
        <p:nvSpPr>
          <p:cNvPr id="30" name="TextBox 29"/>
          <p:cNvSpPr txBox="1"/>
          <p:nvPr/>
        </p:nvSpPr>
        <p:spPr>
          <a:xfrm>
            <a:off x="209948" y="2445010"/>
            <a:ext cx="2792321" cy="307777"/>
          </a:xfrm>
          <a:prstGeom prst="rect">
            <a:avLst/>
          </a:prstGeom>
          <a:noFill/>
        </p:spPr>
        <p:txBody>
          <a:bodyPr wrap="square" rtlCol="0">
            <a:spAutoFit/>
          </a:bodyPr>
          <a:lstStyle/>
          <a:p>
            <a:r>
              <a:rPr lang="en-US" sz="1400" dirty="0"/>
              <a:t>Step 1: Source System Extract </a:t>
            </a:r>
          </a:p>
        </p:txBody>
      </p:sp>
      <p:sp>
        <p:nvSpPr>
          <p:cNvPr id="31" name="TextBox 30"/>
          <p:cNvSpPr txBox="1"/>
          <p:nvPr/>
        </p:nvSpPr>
        <p:spPr>
          <a:xfrm>
            <a:off x="198437" y="2976802"/>
            <a:ext cx="2792321" cy="307777"/>
          </a:xfrm>
          <a:prstGeom prst="rect">
            <a:avLst/>
          </a:prstGeom>
          <a:noFill/>
        </p:spPr>
        <p:txBody>
          <a:bodyPr wrap="square" rtlCol="0">
            <a:spAutoFit/>
          </a:bodyPr>
          <a:lstStyle/>
          <a:p>
            <a:r>
              <a:rPr lang="en-US" sz="1400" dirty="0"/>
              <a:t>Step 2: DFS Replication </a:t>
            </a:r>
          </a:p>
        </p:txBody>
      </p:sp>
      <p:sp>
        <p:nvSpPr>
          <p:cNvPr id="32" name="TextBox 31"/>
          <p:cNvSpPr txBox="1"/>
          <p:nvPr/>
        </p:nvSpPr>
        <p:spPr>
          <a:xfrm>
            <a:off x="208252" y="3531626"/>
            <a:ext cx="2792321" cy="307777"/>
          </a:xfrm>
          <a:prstGeom prst="rect">
            <a:avLst/>
          </a:prstGeom>
          <a:noFill/>
        </p:spPr>
        <p:txBody>
          <a:bodyPr wrap="square" rtlCol="0">
            <a:spAutoFit/>
          </a:bodyPr>
          <a:lstStyle/>
          <a:p>
            <a:r>
              <a:rPr lang="en-US" sz="1400" dirty="0"/>
              <a:t>Step 3: PDW Load </a:t>
            </a:r>
          </a:p>
        </p:txBody>
      </p:sp>
      <p:sp>
        <p:nvSpPr>
          <p:cNvPr id="33" name="TextBox 32"/>
          <p:cNvSpPr txBox="1"/>
          <p:nvPr/>
        </p:nvSpPr>
        <p:spPr>
          <a:xfrm>
            <a:off x="217855" y="4110254"/>
            <a:ext cx="3714382" cy="307777"/>
          </a:xfrm>
          <a:prstGeom prst="rect">
            <a:avLst/>
          </a:prstGeom>
          <a:noFill/>
        </p:spPr>
        <p:txBody>
          <a:bodyPr wrap="square" rtlCol="0">
            <a:spAutoFit/>
          </a:bodyPr>
          <a:lstStyle/>
          <a:p>
            <a:r>
              <a:rPr lang="en-US" sz="1400" dirty="0"/>
              <a:t>Step 4: </a:t>
            </a:r>
            <a:r>
              <a:rPr lang="en-US" sz="1400" dirty="0" smtClean="0"/>
              <a:t>Verification / Notification / Clean </a:t>
            </a:r>
            <a:r>
              <a:rPr lang="en-US" sz="1400" dirty="0"/>
              <a:t>up</a:t>
            </a:r>
          </a:p>
        </p:txBody>
      </p:sp>
      <p:pic>
        <p:nvPicPr>
          <p:cNvPr id="34" name="Picture 3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126557" y="3237865"/>
            <a:ext cx="381013" cy="443627"/>
          </a:xfrm>
          <a:prstGeom prst="rect">
            <a:avLst/>
          </a:prstGeom>
        </p:spPr>
      </p:pic>
      <p:pic>
        <p:nvPicPr>
          <p:cNvPr id="41" name="Picture 4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818802" y="3599368"/>
            <a:ext cx="2428875" cy="1905000"/>
          </a:xfrm>
          <a:prstGeom prst="rect">
            <a:avLst/>
          </a:prstGeom>
        </p:spPr>
      </p:pic>
    </p:spTree>
    <p:extLst>
      <p:ext uri="{BB962C8B-B14F-4D97-AF65-F5344CB8AC3E}">
        <p14:creationId xmlns:p14="http://schemas.microsoft.com/office/powerpoint/2010/main" val="13240140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par>
                                <p:cTn id="8" presetID="8" presetClass="emph" presetSubtype="0" fill="hold" nodeType="withEffect">
                                  <p:stCondLst>
                                    <p:cond delay="0"/>
                                  </p:stCondLst>
                                  <p:childTnLst>
                                    <p:animRot by="21600000">
                                      <p:cBhvr>
                                        <p:cTn id="9" dur="2000" fill="hold"/>
                                        <p:tgtEl>
                                          <p:spTgt spid="9"/>
                                        </p:tgtEl>
                                        <p:attrNameLst>
                                          <p:attrName>r</p:attrName>
                                        </p:attrNameLst>
                                      </p:cBhvr>
                                    </p:animRot>
                                  </p:childTnLst>
                                </p:cTn>
                              </p:par>
                              <p:par>
                                <p:cTn id="10" presetID="1" presetClass="entr" presetSubtype="0" fill="hold" nodeType="withEffect">
                                  <p:stCondLst>
                                    <p:cond delay="0"/>
                                  </p:stCondLst>
                                  <p:childTnLst>
                                    <p:set>
                                      <p:cBhvr>
                                        <p:cTn id="11" dur="1" fill="hold">
                                          <p:stCondLst>
                                            <p:cond delay="0"/>
                                          </p:stCondLst>
                                        </p:cTn>
                                        <p:tgtEl>
                                          <p:spTgt spid="34"/>
                                        </p:tgtEl>
                                        <p:attrNameLst>
                                          <p:attrName>style.visibility</p:attrName>
                                        </p:attrNameLst>
                                      </p:cBhvr>
                                      <p:to>
                                        <p:strVal val="visible"/>
                                      </p:to>
                                    </p:set>
                                  </p:childTnLst>
                                </p:cTn>
                              </p:par>
                              <p:par>
                                <p:cTn id="12" presetID="42" presetClass="path" presetSubtype="0" accel="50000" decel="50000" fill="hold" nodeType="withEffect">
                                  <p:stCondLst>
                                    <p:cond delay="0"/>
                                  </p:stCondLst>
                                  <p:childTnLst>
                                    <p:animMotion origin="layout" path="M -1.66667E-6 -4.44444E-6 L 0.21232 -0.13125 " pathEditMode="relative" rAng="0" ptsTypes="AA">
                                      <p:cBhvr>
                                        <p:cTn id="13" dur="2000" fill="hold"/>
                                        <p:tgtEl>
                                          <p:spTgt spid="34"/>
                                        </p:tgtEl>
                                        <p:attrNameLst>
                                          <p:attrName>ppt_x</p:attrName>
                                          <p:attrName>ppt_y</p:attrName>
                                        </p:attrNameLst>
                                      </p:cBhvr>
                                      <p:rCtr x="10764" y="-6759"/>
                                    </p:animMotion>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500"/>
                                        <p:tgtEl>
                                          <p:spTgt spid="31"/>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27" presetClass="emph" presetSubtype="0" fill="remove" nodeType="withEffect">
                                  <p:stCondLst>
                                    <p:cond delay="0"/>
                                  </p:stCondLst>
                                  <p:childTnLst>
                                    <p:animClr clrSpc="rgb" dir="cw">
                                      <p:cBhvr override="childStyle">
                                        <p:cTn id="23" dur="1000" autoRev="1" fill="remove"/>
                                        <p:tgtEl>
                                          <p:spTgt spid="14"/>
                                        </p:tgtEl>
                                        <p:attrNameLst>
                                          <p:attrName>style.color</p:attrName>
                                        </p:attrNameLst>
                                      </p:cBhvr>
                                      <p:to>
                                        <a:schemeClr val="bg2"/>
                                      </p:to>
                                    </p:animClr>
                                    <p:animClr clrSpc="rgb" dir="cw">
                                      <p:cBhvr>
                                        <p:cTn id="24" dur="1000" autoRev="1" fill="remove"/>
                                        <p:tgtEl>
                                          <p:spTgt spid="14"/>
                                        </p:tgtEl>
                                        <p:attrNameLst>
                                          <p:attrName>fillcolor</p:attrName>
                                        </p:attrNameLst>
                                      </p:cBhvr>
                                      <p:to>
                                        <a:schemeClr val="bg2"/>
                                      </p:to>
                                    </p:animClr>
                                    <p:set>
                                      <p:cBhvr>
                                        <p:cTn id="25" dur="1000" autoRev="1" fill="remove"/>
                                        <p:tgtEl>
                                          <p:spTgt spid="14"/>
                                        </p:tgtEl>
                                        <p:attrNameLst>
                                          <p:attrName>fill.type</p:attrName>
                                        </p:attrNameLst>
                                      </p:cBhvr>
                                      <p:to>
                                        <p:strVal val="solid"/>
                                      </p:to>
                                    </p:set>
                                    <p:set>
                                      <p:cBhvr>
                                        <p:cTn id="26" dur="1000" autoRev="1" fill="remove"/>
                                        <p:tgtEl>
                                          <p:spTgt spid="14"/>
                                        </p:tgtEl>
                                        <p:attrNameLst>
                                          <p:attrName>fill.on</p:attrName>
                                        </p:attrNameLst>
                                      </p:cBhvr>
                                      <p:to>
                                        <p:strVal val="true"/>
                                      </p:to>
                                    </p:set>
                                  </p:childTnLst>
                                  <p:subTnLst>
                                    <p:set>
                                      <p:cBhvr override="childStyle">
                                        <p:cTn dur="1" fill="hold" display="0" masterRel="sameClick" afterEffect="1">
                                          <p:stCondLst>
                                            <p:cond evt="end" delay="0">
                                              <p:tn val="22"/>
                                            </p:cond>
                                          </p:stCondLst>
                                        </p:cTn>
                                        <p:tgtEl>
                                          <p:spTgt spid="14"/>
                                        </p:tgtEl>
                                        <p:attrNameLst>
                                          <p:attrName>style.visibility</p:attrName>
                                        </p:attrNameLst>
                                      </p:cBhvr>
                                      <p:to>
                                        <p:strVal val="hidden"/>
                                      </p:to>
                                    </p:set>
                                  </p:subTnLst>
                                </p:cTn>
                              </p:par>
                              <p:par>
                                <p:cTn id="27" presetID="10"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fade">
                                      <p:cBhvr>
                                        <p:cTn id="29" dur="500"/>
                                        <p:tgtEl>
                                          <p:spTgt spid="13"/>
                                        </p:tgtEl>
                                      </p:cBhvr>
                                    </p:animEffect>
                                  </p:childTnLst>
                                </p:cTn>
                              </p:par>
                              <p:par>
                                <p:cTn id="30" presetID="42" presetClass="path" presetSubtype="0" accel="50000" decel="50000" fill="hold" nodeType="withEffect">
                                  <p:stCondLst>
                                    <p:cond delay="0"/>
                                  </p:stCondLst>
                                  <p:childTnLst>
                                    <p:animMotion origin="layout" path="M -0.00052 -4.07407E-6 L -0.00052 0.25 " pathEditMode="relative" rAng="0" ptsTypes="AA">
                                      <p:cBhvr>
                                        <p:cTn id="31" dur="2000" fill="hold"/>
                                        <p:tgtEl>
                                          <p:spTgt spid="13"/>
                                        </p:tgtEl>
                                        <p:attrNameLst>
                                          <p:attrName>ppt_x</p:attrName>
                                          <p:attrName>ppt_y</p:attrName>
                                        </p:attrNameLst>
                                      </p:cBhvr>
                                      <p:rCtr x="0" y="12500"/>
                                    </p:animMotion>
                                  </p:childTnLst>
                                </p:cTn>
                              </p:par>
                            </p:childTnLst>
                          </p:cTn>
                        </p:par>
                      </p:childTnLst>
                    </p:cTn>
                  </p:par>
                  <p:par>
                    <p:cTn id="32" fill="hold">
                      <p:stCondLst>
                        <p:cond delay="indefinite"/>
                      </p:stCondLst>
                      <p:childTnLst>
                        <p:par>
                          <p:cTn id="33" fill="hold">
                            <p:stCondLst>
                              <p:cond delay="0"/>
                            </p:stCondLst>
                            <p:childTnLst>
                              <p:par>
                                <p:cTn id="34" presetID="8" presetClass="emph" presetSubtype="0" fill="hold" nodeType="clickEffect">
                                  <p:stCondLst>
                                    <p:cond delay="0"/>
                                  </p:stCondLst>
                                  <p:childTnLst>
                                    <p:animRot by="21600000">
                                      <p:cBhvr>
                                        <p:cTn id="35" dur="2000" fill="hold"/>
                                        <p:tgtEl>
                                          <p:spTgt spid="16"/>
                                        </p:tgtEl>
                                        <p:attrNameLst>
                                          <p:attrName>r</p:attrName>
                                        </p:attrNameLst>
                                      </p:cBhvr>
                                    </p:animRot>
                                  </p:childTnLst>
                                </p:cTn>
                              </p:par>
                              <p:par>
                                <p:cTn id="36" presetID="1" presetClass="entr" presetSubtype="0" fill="hold" nodeType="withEffect">
                                  <p:stCondLst>
                                    <p:cond delay="0"/>
                                  </p:stCondLst>
                                  <p:childTnLst>
                                    <p:set>
                                      <p:cBhvr>
                                        <p:cTn id="37" dur="1" fill="hold">
                                          <p:stCondLst>
                                            <p:cond delay="0"/>
                                          </p:stCondLst>
                                        </p:cTn>
                                        <p:tgtEl>
                                          <p:spTgt spid="23"/>
                                        </p:tgtEl>
                                        <p:attrNameLst>
                                          <p:attrName>style.visibility</p:attrName>
                                        </p:attrNameLst>
                                      </p:cBhvr>
                                      <p:to>
                                        <p:strVal val="visible"/>
                                      </p:to>
                                    </p:set>
                                  </p:childTnLst>
                                </p:cTn>
                              </p:par>
                              <p:par>
                                <p:cTn id="38" presetID="42" presetClass="path" presetSubtype="0" accel="50000" decel="50000" fill="hold" nodeType="withEffect">
                                  <p:stCondLst>
                                    <p:cond delay="0"/>
                                  </p:stCondLst>
                                  <p:childTnLst>
                                    <p:animMotion origin="layout" path="M -0.02118 0.05138 L 0.38003 0.05 " pathEditMode="relative" rAng="0" ptsTypes="AA">
                                      <p:cBhvr>
                                        <p:cTn id="39" dur="2000" fill="hold"/>
                                        <p:tgtEl>
                                          <p:spTgt spid="23"/>
                                        </p:tgtEl>
                                        <p:attrNameLst>
                                          <p:attrName>ppt_x</p:attrName>
                                          <p:attrName>ppt_y</p:attrName>
                                        </p:attrNameLst>
                                      </p:cBhvr>
                                      <p:rCtr x="20052" y="-69"/>
                                    </p:animMotion>
                                  </p:childTnLst>
                                  <p:subTnLst>
                                    <p:set>
                                      <p:cBhvr override="childStyle">
                                        <p:cTn dur="1" fill="hold" display="0" masterRel="sameClick" afterEffect="1">
                                          <p:stCondLst>
                                            <p:cond evt="end" delay="0">
                                              <p:tn val="38"/>
                                            </p:cond>
                                          </p:stCondLst>
                                        </p:cTn>
                                        <p:tgtEl>
                                          <p:spTgt spid="23"/>
                                        </p:tgtEl>
                                        <p:attrNameLst>
                                          <p:attrName>style.visibility</p:attrName>
                                        </p:attrNameLst>
                                      </p:cBhvr>
                                      <p:to>
                                        <p:strVal val="hidden"/>
                                      </p:to>
                                    </p:set>
                                  </p:subTnLst>
                                </p:cTn>
                              </p:par>
                              <p:par>
                                <p:cTn id="40" presetID="1" presetClass="entr" presetSubtype="0" fill="hold" nodeType="withEffect">
                                  <p:stCondLst>
                                    <p:cond delay="0"/>
                                  </p:stCondLst>
                                  <p:childTnLst>
                                    <p:set>
                                      <p:cBhvr>
                                        <p:cTn id="41" dur="1" fill="hold">
                                          <p:stCondLst>
                                            <p:cond delay="0"/>
                                          </p:stCondLst>
                                        </p:cTn>
                                        <p:tgtEl>
                                          <p:spTgt spid="24"/>
                                        </p:tgtEl>
                                        <p:attrNameLst>
                                          <p:attrName>style.visibility</p:attrName>
                                        </p:attrNameLst>
                                      </p:cBhvr>
                                      <p:to>
                                        <p:strVal val="visible"/>
                                      </p:to>
                                    </p:set>
                                  </p:childTnLst>
                                </p:cTn>
                              </p:par>
                              <p:par>
                                <p:cTn id="42" presetID="42" presetClass="path" presetSubtype="0" accel="50000" decel="50000" fill="hold" nodeType="withEffect">
                                  <p:stCondLst>
                                    <p:cond delay="0"/>
                                  </p:stCondLst>
                                  <p:childTnLst>
                                    <p:animMotion origin="layout" path="M -1.66667E-6 -2.59259E-6 L 0.39479 0.00116 " pathEditMode="relative" rAng="0" ptsTypes="AA">
                                      <p:cBhvr>
                                        <p:cTn id="43" dur="2000" fill="hold"/>
                                        <p:tgtEl>
                                          <p:spTgt spid="24"/>
                                        </p:tgtEl>
                                        <p:attrNameLst>
                                          <p:attrName>ppt_x</p:attrName>
                                          <p:attrName>ppt_y</p:attrName>
                                        </p:attrNameLst>
                                      </p:cBhvr>
                                      <p:rCtr x="19740" y="46"/>
                                    </p:animMotion>
                                  </p:childTnLst>
                                  <p:subTnLst>
                                    <p:set>
                                      <p:cBhvr override="childStyle">
                                        <p:cTn dur="1" fill="hold" display="0" masterRel="sameClick" afterEffect="1">
                                          <p:stCondLst>
                                            <p:cond evt="end" delay="0">
                                              <p:tn val="42"/>
                                            </p:cond>
                                          </p:stCondLst>
                                        </p:cTn>
                                        <p:tgtEl>
                                          <p:spTgt spid="24"/>
                                        </p:tgtEl>
                                        <p:attrNameLst>
                                          <p:attrName>style.visibility</p:attrName>
                                        </p:attrNameLst>
                                      </p:cBhvr>
                                      <p:to>
                                        <p:strVal val="hidden"/>
                                      </p:to>
                                    </p:set>
                                  </p:subTnLst>
                                </p:cTn>
                              </p:par>
                              <p:par>
                                <p:cTn id="44" presetID="10" presetClass="entr" presetSubtype="0" fill="hold" grpId="0" nodeType="withEffect">
                                  <p:stCondLst>
                                    <p:cond delay="0"/>
                                  </p:stCondLst>
                                  <p:childTnLst>
                                    <p:set>
                                      <p:cBhvr>
                                        <p:cTn id="45" dur="1" fill="hold">
                                          <p:stCondLst>
                                            <p:cond delay="0"/>
                                          </p:stCondLst>
                                        </p:cTn>
                                        <p:tgtEl>
                                          <p:spTgt spid="32"/>
                                        </p:tgtEl>
                                        <p:attrNameLst>
                                          <p:attrName>style.visibility</p:attrName>
                                        </p:attrNameLst>
                                      </p:cBhvr>
                                      <p:to>
                                        <p:strVal val="visible"/>
                                      </p:to>
                                    </p:set>
                                    <p:animEffect transition="in" filter="fade">
                                      <p:cBhvr>
                                        <p:cTn id="46" dur="500"/>
                                        <p:tgtEl>
                                          <p:spTgt spid="32"/>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fade">
                                      <p:cBhvr>
                                        <p:cTn id="51" dur="500"/>
                                        <p:tgtEl>
                                          <p:spTgt spid="27"/>
                                        </p:tgtEl>
                                      </p:cBhvr>
                                    </p:animEffect>
                                  </p:childTnLst>
                                  <p:subTnLst>
                                    <p:set>
                                      <p:cBhvr override="childStyle">
                                        <p:cTn dur="1" fill="hold" display="0" masterRel="sameClick" afterEffect="1">
                                          <p:stCondLst>
                                            <p:cond evt="end" delay="0">
                                              <p:tn val="49"/>
                                            </p:cond>
                                          </p:stCondLst>
                                        </p:cTn>
                                        <p:tgtEl>
                                          <p:spTgt spid="27"/>
                                        </p:tgtEl>
                                        <p:attrNameLst>
                                          <p:attrName>style.visibility</p:attrName>
                                        </p:attrNameLst>
                                      </p:cBhvr>
                                      <p:to>
                                        <p:strVal val="hidden"/>
                                      </p:to>
                                    </p:set>
                                  </p:subTnLst>
                                </p:cTn>
                              </p:par>
                              <p:par>
                                <p:cTn id="52" presetID="10" presetClass="entr" presetSubtype="0" fill="hold" nodeType="with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fade">
                                      <p:cBhvr>
                                        <p:cTn id="54" dur="500"/>
                                        <p:tgtEl>
                                          <p:spTgt spid="26"/>
                                        </p:tgtEl>
                                      </p:cBhvr>
                                    </p:animEffect>
                                  </p:childTnLst>
                                  <p:subTnLst>
                                    <p:set>
                                      <p:cBhvr override="childStyle">
                                        <p:cTn dur="1" fill="hold" display="0" masterRel="sameClick" afterEffect="1">
                                          <p:stCondLst>
                                            <p:cond evt="end" delay="0">
                                              <p:tn val="52"/>
                                            </p:cond>
                                          </p:stCondLst>
                                        </p:cTn>
                                        <p:tgtEl>
                                          <p:spTgt spid="26"/>
                                        </p:tgtEl>
                                        <p:attrNameLst>
                                          <p:attrName>style.visibility</p:attrName>
                                        </p:attrNameLst>
                                      </p:cBhvr>
                                      <p:to>
                                        <p:strVal val="hidden"/>
                                      </p:to>
                                    </p:set>
                                  </p:subTnLst>
                                </p:cTn>
                              </p:par>
                              <p:par>
                                <p:cTn id="55" presetID="10" presetClass="entr" presetSubtype="0" fill="hold" nodeType="with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500"/>
                                        <p:tgtEl>
                                          <p:spTgt spid="25"/>
                                        </p:tgtEl>
                                      </p:cBhvr>
                                    </p:animEffect>
                                  </p:childTnLst>
                                  <p:subTnLst>
                                    <p:set>
                                      <p:cBhvr override="childStyle">
                                        <p:cTn dur="1" fill="hold" display="0" masterRel="sameClick" afterEffect="1">
                                          <p:stCondLst>
                                            <p:cond evt="end" delay="0">
                                              <p:tn val="55"/>
                                            </p:cond>
                                          </p:stCondLst>
                                        </p:cTn>
                                        <p:tgtEl>
                                          <p:spTgt spid="25"/>
                                        </p:tgtEl>
                                        <p:attrNameLst>
                                          <p:attrName>style.visibility</p:attrName>
                                        </p:attrNameLst>
                                      </p:cBhvr>
                                      <p:to>
                                        <p:strVal val="hidden"/>
                                      </p:to>
                                    </p:set>
                                  </p:subTnLst>
                                </p:cTn>
                              </p:par>
                              <p:par>
                                <p:cTn id="58" presetID="10" presetClass="entr" presetSubtype="0" fill="hold" grpId="0" nodeType="with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fade">
                                      <p:cBhvr>
                                        <p:cTn id="60" dur="500"/>
                                        <p:tgtEl>
                                          <p:spTgt spid="33"/>
                                        </p:tgtEl>
                                      </p:cBhvr>
                                    </p:animEffect>
                                  </p:childTnLst>
                                </p:cTn>
                              </p:par>
                              <p:par>
                                <p:cTn id="61" presetID="22" presetClass="exit" presetSubtype="4" fill="hold" nodeType="withEffect">
                                  <p:stCondLst>
                                    <p:cond delay="0"/>
                                  </p:stCondLst>
                                  <p:childTnLst>
                                    <p:animEffect transition="out" filter="wipe(down)">
                                      <p:cBhvr>
                                        <p:cTn id="62" dur="500"/>
                                        <p:tgtEl>
                                          <p:spTgt spid="34"/>
                                        </p:tgtEl>
                                      </p:cBhvr>
                                    </p:animEffect>
                                    <p:set>
                                      <p:cBhvr>
                                        <p:cTn id="63" dur="1" fill="hold">
                                          <p:stCondLst>
                                            <p:cond delay="499"/>
                                          </p:stCondLst>
                                        </p:cTn>
                                        <p:tgtEl>
                                          <p:spTgt spid="34"/>
                                        </p:tgtEl>
                                        <p:attrNameLst>
                                          <p:attrName>style.visibility</p:attrName>
                                        </p:attrNameLst>
                                      </p:cBhvr>
                                      <p:to>
                                        <p:strVal val="hidden"/>
                                      </p:to>
                                    </p:set>
                                  </p:childTnLst>
                                </p:cTn>
                              </p:par>
                              <p:par>
                                <p:cTn id="64" presetID="22" presetClass="exit" presetSubtype="4" fill="hold" nodeType="withEffect">
                                  <p:stCondLst>
                                    <p:cond delay="0"/>
                                  </p:stCondLst>
                                  <p:childTnLst>
                                    <p:animEffect transition="out" filter="wipe(down)">
                                      <p:cBhvr>
                                        <p:cTn id="65" dur="500"/>
                                        <p:tgtEl>
                                          <p:spTgt spid="13"/>
                                        </p:tgtEl>
                                      </p:cBhvr>
                                    </p:animEffect>
                                    <p:set>
                                      <p:cBhvr>
                                        <p:cTn id="66" dur="1" fill="hold">
                                          <p:stCondLst>
                                            <p:cond delay="499"/>
                                          </p:stCondLst>
                                        </p:cTn>
                                        <p:tgtEl>
                                          <p:spTgt spid="13"/>
                                        </p:tgtEl>
                                        <p:attrNameLst>
                                          <p:attrName>style.visibility</p:attrName>
                                        </p:attrNameLst>
                                      </p:cBhvr>
                                      <p:to>
                                        <p:strVal val="hidden"/>
                                      </p:to>
                                    </p:set>
                                  </p:childTnLst>
                                </p:cTn>
                              </p:par>
                              <p:par>
                                <p:cTn id="67" presetID="8" presetClass="emph" presetSubtype="0" fill="hold" nodeType="withEffect">
                                  <p:stCondLst>
                                    <p:cond delay="0"/>
                                  </p:stCondLst>
                                  <p:childTnLst>
                                    <p:animRot by="21600000">
                                      <p:cBhvr>
                                        <p:cTn id="68" dur="2000" fill="hold"/>
                                        <p:tgtEl>
                                          <p:spTgt spid="28"/>
                                        </p:tgtEl>
                                        <p:attrNameLst>
                                          <p:attrName>r</p:attrName>
                                        </p:attrNameLst>
                                      </p:cBhvr>
                                    </p:animRot>
                                  </p:childTnLst>
                                </p:cTn>
                              </p:par>
                              <p:par>
                                <p:cTn id="69" presetID="8" presetClass="emph" presetSubtype="0" fill="hold" nodeType="withEffect">
                                  <p:stCondLst>
                                    <p:cond delay="0"/>
                                  </p:stCondLst>
                                  <p:childTnLst>
                                    <p:animRot by="21600000">
                                      <p:cBhvr>
                                        <p:cTn id="70" dur="2000" fill="hold"/>
                                        <p:tgtEl>
                                          <p:spTgt spid="28"/>
                                        </p:tgtEl>
                                        <p:attrNameLst>
                                          <p:attrName>r</p:attrName>
                                        </p:attrNameLst>
                                      </p:cBhvr>
                                    </p:animRot>
                                  </p:childTnLst>
                                </p:cTn>
                              </p:par>
                              <p:par>
                                <p:cTn id="71" presetID="8" presetClass="emph" presetSubtype="0" fill="hold" nodeType="withEffect">
                                  <p:stCondLst>
                                    <p:cond delay="0"/>
                                  </p:stCondLst>
                                  <p:childTnLst>
                                    <p:animRot by="21600000">
                                      <p:cBhvr>
                                        <p:cTn id="72" dur="2000" fill="hold"/>
                                        <p:tgtEl>
                                          <p:spTgt spid="29"/>
                                        </p:tgtEl>
                                        <p:attrNameLst>
                                          <p:attrName>r</p:attrName>
                                        </p:attrNameLst>
                                      </p:cBhvr>
                                    </p:animRot>
                                  </p:childTnLst>
                                </p:cTn>
                              </p:par>
                              <p:par>
                                <p:cTn id="73" presetID="8" presetClass="emph" presetSubtype="0" fill="hold" nodeType="withEffect">
                                  <p:stCondLst>
                                    <p:cond delay="0"/>
                                  </p:stCondLst>
                                  <p:childTnLst>
                                    <p:animRot by="21600000">
                                      <p:cBhvr>
                                        <p:cTn id="74" dur="2000" fill="hold"/>
                                        <p:tgtEl>
                                          <p:spTgt spid="2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1" grpId="0"/>
      <p:bldP spid="32" grpId="0"/>
      <p:bldP spid="3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ular Callout 12"/>
          <p:cNvSpPr/>
          <p:nvPr/>
        </p:nvSpPr>
        <p:spPr>
          <a:xfrm>
            <a:off x="7928010" y="4048505"/>
            <a:ext cx="2953244" cy="2035335"/>
          </a:xfrm>
          <a:prstGeom prst="wedgeRectCallout">
            <a:avLst>
              <a:gd name="adj1" fmla="val 49906"/>
              <a:gd name="adj2" fmla="val 16634"/>
            </a:avLst>
          </a:prstGeom>
          <a:solidFill>
            <a:schemeClr val="accent4">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ular Callout 9"/>
          <p:cNvSpPr/>
          <p:nvPr/>
        </p:nvSpPr>
        <p:spPr>
          <a:xfrm>
            <a:off x="7928010" y="1787489"/>
            <a:ext cx="2953244" cy="2035335"/>
          </a:xfrm>
          <a:prstGeom prst="wedgeRectCallout">
            <a:avLst>
              <a:gd name="adj1" fmla="val 50235"/>
              <a:gd name="adj2" fmla="val 17111"/>
            </a:avLst>
          </a:prstGeom>
          <a:solidFill>
            <a:schemeClr val="bg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22237" y="239065"/>
            <a:ext cx="11811000" cy="1277667"/>
          </a:xfrm>
        </p:spPr>
        <p:txBody>
          <a:bodyPr/>
          <a:lstStyle/>
          <a:p>
            <a:r>
              <a:rPr lang="en-US" dirty="0"/>
              <a:t>Normal </a:t>
            </a:r>
            <a:r>
              <a:rPr lang="en-US" dirty="0" smtClean="0"/>
              <a:t>Activity - Source </a:t>
            </a:r>
            <a:r>
              <a:rPr lang="en-US" dirty="0"/>
              <a:t>System Extract</a:t>
            </a:r>
          </a:p>
        </p:txBody>
      </p:sp>
      <p:cxnSp>
        <p:nvCxnSpPr>
          <p:cNvPr id="8" name="Straight Connector 7"/>
          <p:cNvCxnSpPr/>
          <p:nvPr/>
        </p:nvCxnSpPr>
        <p:spPr>
          <a:xfrm>
            <a:off x="7909218" y="3963564"/>
            <a:ext cx="2813040" cy="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8037528" y="1845521"/>
            <a:ext cx="3186395" cy="382308"/>
          </a:xfrm>
          <a:prstGeom prst="rect">
            <a:avLst/>
          </a:prstGeom>
          <a:noFill/>
        </p:spPr>
        <p:txBody>
          <a:bodyPr wrap="square" rtlCol="0">
            <a:spAutoFit/>
          </a:bodyPr>
          <a:lstStyle/>
          <a:p>
            <a:r>
              <a:rPr lang="en-US" sz="1836" dirty="0"/>
              <a:t>Landing Zone Server - Prod</a:t>
            </a:r>
          </a:p>
        </p:txBody>
      </p:sp>
      <p:sp>
        <p:nvSpPr>
          <p:cNvPr id="14" name="TextBox 13"/>
          <p:cNvSpPr txBox="1"/>
          <p:nvPr/>
        </p:nvSpPr>
        <p:spPr>
          <a:xfrm>
            <a:off x="8037528" y="4083667"/>
            <a:ext cx="3186395" cy="382308"/>
          </a:xfrm>
          <a:prstGeom prst="rect">
            <a:avLst/>
          </a:prstGeom>
          <a:noFill/>
        </p:spPr>
        <p:txBody>
          <a:bodyPr wrap="square" rtlCol="0">
            <a:spAutoFit/>
          </a:bodyPr>
          <a:lstStyle/>
          <a:p>
            <a:r>
              <a:rPr lang="en-US" sz="1836" dirty="0"/>
              <a:t>Landing Zone Server - DR</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37531" y="2867308"/>
            <a:ext cx="611601" cy="611601"/>
          </a:xfrm>
          <a:prstGeom prst="rect">
            <a:avLst/>
          </a:prstGeom>
        </p:spPr>
      </p:pic>
      <p:pic>
        <p:nvPicPr>
          <p:cNvPr id="17" name="Picture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37531" y="4495516"/>
            <a:ext cx="611601" cy="611601"/>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44628" y="2456510"/>
            <a:ext cx="922603" cy="922603"/>
          </a:xfrm>
          <a:prstGeom prst="rect">
            <a:avLst/>
          </a:prstGeom>
          <a:effectLst>
            <a:outerShdw blurRad="50800" dist="50800" dir="5400000" algn="ctr" rotWithShape="0">
              <a:srgbClr val="000000">
                <a:alpha val="52000"/>
              </a:srgbClr>
            </a:outerShdw>
          </a:effectLst>
        </p:spPr>
      </p:pic>
      <p:pic>
        <p:nvPicPr>
          <p:cNvPr id="18" name="Picture 1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74009" y="4789144"/>
            <a:ext cx="922603" cy="922603"/>
          </a:xfrm>
          <a:prstGeom prst="rect">
            <a:avLst/>
          </a:prstGeom>
          <a:effectLst>
            <a:outerShdw blurRad="50800" dist="50800" dir="5400000" algn="ctr" rotWithShape="0">
              <a:srgbClr val="000000">
                <a:alpha val="52000"/>
              </a:srgbClr>
            </a:outerShdw>
          </a:effectLst>
        </p:spPr>
      </p:pic>
      <p:cxnSp>
        <p:nvCxnSpPr>
          <p:cNvPr id="21" name="Straight Arrow Connector 20"/>
          <p:cNvCxnSpPr/>
          <p:nvPr/>
        </p:nvCxnSpPr>
        <p:spPr>
          <a:xfrm>
            <a:off x="9866475" y="3431399"/>
            <a:ext cx="9490" cy="1434946"/>
          </a:xfrm>
          <a:prstGeom prst="straightConnector1">
            <a:avLst/>
          </a:prstGeom>
          <a:ln w="7620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7928011" y="3453993"/>
            <a:ext cx="1219521" cy="286306"/>
          </a:xfrm>
          <a:prstGeom prst="rect">
            <a:avLst/>
          </a:prstGeom>
          <a:noFill/>
        </p:spPr>
        <p:txBody>
          <a:bodyPr wrap="square" rtlCol="0">
            <a:spAutoFit/>
          </a:bodyPr>
          <a:lstStyle/>
          <a:p>
            <a:r>
              <a:rPr lang="en-US" sz="1224" dirty="0"/>
              <a:t>Extract (SSIS)</a:t>
            </a:r>
          </a:p>
        </p:txBody>
      </p:sp>
      <p:sp>
        <p:nvSpPr>
          <p:cNvPr id="27" name="TextBox 26"/>
          <p:cNvSpPr txBox="1"/>
          <p:nvPr/>
        </p:nvSpPr>
        <p:spPr>
          <a:xfrm>
            <a:off x="7909215" y="5136807"/>
            <a:ext cx="1300345" cy="286306"/>
          </a:xfrm>
          <a:prstGeom prst="rect">
            <a:avLst/>
          </a:prstGeom>
          <a:noFill/>
        </p:spPr>
        <p:txBody>
          <a:bodyPr wrap="square" rtlCol="0">
            <a:spAutoFit/>
          </a:bodyPr>
          <a:lstStyle/>
          <a:p>
            <a:r>
              <a:rPr lang="en-US" sz="1224" dirty="0"/>
              <a:t>Extract (SSIS)</a:t>
            </a:r>
          </a:p>
        </p:txBody>
      </p:sp>
      <p:pic>
        <p:nvPicPr>
          <p:cNvPr id="47" name="Picture 4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407537" y="2786662"/>
            <a:ext cx="339344" cy="452458"/>
          </a:xfrm>
          <a:prstGeom prst="rect">
            <a:avLst/>
          </a:prstGeom>
        </p:spPr>
      </p:pic>
      <p:sp>
        <p:nvSpPr>
          <p:cNvPr id="31" name="TextBox 30"/>
          <p:cNvSpPr txBox="1"/>
          <p:nvPr/>
        </p:nvSpPr>
        <p:spPr>
          <a:xfrm>
            <a:off x="1265238" y="1908303"/>
            <a:ext cx="6316538" cy="312073"/>
          </a:xfrm>
          <a:prstGeom prst="rect">
            <a:avLst/>
          </a:prstGeom>
          <a:noFill/>
        </p:spPr>
        <p:txBody>
          <a:bodyPr wrap="square" rtlCol="0">
            <a:spAutoFit/>
          </a:bodyPr>
          <a:lstStyle/>
          <a:p>
            <a:r>
              <a:rPr lang="en-US" sz="1428" dirty="0"/>
              <a:t>Step 1:  SSIS reads configuration table to determine data to be extracted</a:t>
            </a:r>
          </a:p>
        </p:txBody>
      </p:sp>
      <p:pic>
        <p:nvPicPr>
          <p:cNvPr id="3" name="Picture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78162" y="3696414"/>
            <a:ext cx="339344" cy="452458"/>
          </a:xfrm>
          <a:prstGeom prst="rect">
            <a:avLst/>
          </a:prstGeom>
        </p:spPr>
      </p:pic>
      <p:pic>
        <p:nvPicPr>
          <p:cNvPr id="19" name="Picture 1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407537" y="2769416"/>
            <a:ext cx="339344" cy="452458"/>
          </a:xfrm>
          <a:prstGeom prst="rect">
            <a:avLst/>
          </a:prstGeom>
        </p:spPr>
      </p:pic>
      <p:sp>
        <p:nvSpPr>
          <p:cNvPr id="6" name="Flowchart: Magnetic Disk 5"/>
          <p:cNvSpPr/>
          <p:nvPr/>
        </p:nvSpPr>
        <p:spPr>
          <a:xfrm>
            <a:off x="460613" y="4751829"/>
            <a:ext cx="967913" cy="717205"/>
          </a:xfrm>
          <a:prstGeom prst="flowChartMagneticDisk">
            <a:avLst/>
          </a:prstGeom>
          <a:solidFill>
            <a:srgbClr val="008272"/>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nvGrpSpPr>
          <p:cNvPr id="30" name="Group 29"/>
          <p:cNvGrpSpPr/>
          <p:nvPr/>
        </p:nvGrpSpPr>
        <p:grpSpPr>
          <a:xfrm>
            <a:off x="2056699" y="4072265"/>
            <a:ext cx="2834096" cy="2149096"/>
            <a:chOff x="2105348" y="4108015"/>
            <a:chExt cx="2778778" cy="2107148"/>
          </a:xfrm>
        </p:grpSpPr>
        <p:grpSp>
          <p:nvGrpSpPr>
            <p:cNvPr id="20" name="Group 19"/>
            <p:cNvGrpSpPr/>
            <p:nvPr/>
          </p:nvGrpSpPr>
          <p:grpSpPr>
            <a:xfrm>
              <a:off x="2105348" y="4108015"/>
              <a:ext cx="2775698" cy="2107148"/>
              <a:chOff x="1110502" y="2900284"/>
              <a:chExt cx="4156324" cy="2107148"/>
            </a:xfrm>
          </p:grpSpPr>
          <p:sp>
            <p:nvSpPr>
              <p:cNvPr id="15" name="Rectangle 14"/>
              <p:cNvSpPr/>
              <p:nvPr/>
            </p:nvSpPr>
            <p:spPr>
              <a:xfrm>
                <a:off x="1110502" y="2900284"/>
                <a:ext cx="4156324" cy="20543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836" dirty="0"/>
                  <a:t>ETL Control Table</a:t>
                </a:r>
                <a:endParaRPr lang="en-US" sz="1836" dirty="0"/>
              </a:p>
            </p:txBody>
          </p:sp>
          <p:sp>
            <p:nvSpPr>
              <p:cNvPr id="16" name="Rectangle 15"/>
              <p:cNvSpPr/>
              <p:nvPr/>
            </p:nvSpPr>
            <p:spPr>
              <a:xfrm>
                <a:off x="1124294" y="3105719"/>
                <a:ext cx="4133351" cy="190171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sp>
          <p:nvSpPr>
            <p:cNvPr id="28" name="Rectangle 27"/>
            <p:cNvSpPr/>
            <p:nvPr/>
          </p:nvSpPr>
          <p:spPr>
            <a:xfrm>
              <a:off x="2119140" y="4331931"/>
              <a:ext cx="1314106" cy="25201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err="1">
                  <a:solidFill>
                    <a:schemeClr val="tx1"/>
                  </a:solidFill>
                </a:rPr>
                <a:t>Extract_Table</a:t>
              </a:r>
              <a:endParaRPr lang="en-US" sz="1224" dirty="0">
                <a:solidFill>
                  <a:schemeClr val="tx1"/>
                </a:solidFill>
              </a:endParaRPr>
            </a:p>
          </p:txBody>
        </p:sp>
        <p:sp>
          <p:nvSpPr>
            <p:cNvPr id="45" name="Rectangle 44"/>
            <p:cNvSpPr/>
            <p:nvPr/>
          </p:nvSpPr>
          <p:spPr>
            <a:xfrm>
              <a:off x="3447038" y="4331931"/>
              <a:ext cx="1434008" cy="25201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err="1">
                  <a:solidFill>
                    <a:schemeClr val="tx1"/>
                  </a:solidFill>
                </a:rPr>
                <a:t>Last_Extract_Date</a:t>
              </a:r>
              <a:endParaRPr lang="en-US" sz="1224" dirty="0">
                <a:solidFill>
                  <a:schemeClr val="tx1"/>
                </a:solidFill>
              </a:endParaRPr>
            </a:p>
          </p:txBody>
        </p:sp>
        <p:grpSp>
          <p:nvGrpSpPr>
            <p:cNvPr id="29" name="Group 28"/>
            <p:cNvGrpSpPr/>
            <p:nvPr/>
          </p:nvGrpSpPr>
          <p:grpSpPr>
            <a:xfrm>
              <a:off x="2119140" y="4560531"/>
              <a:ext cx="2761906" cy="252018"/>
              <a:chOff x="1110502" y="5571021"/>
              <a:chExt cx="2761906" cy="252018"/>
            </a:xfrm>
          </p:grpSpPr>
          <p:sp>
            <p:nvSpPr>
              <p:cNvPr id="48" name="Rectangle 47"/>
              <p:cNvSpPr/>
              <p:nvPr/>
            </p:nvSpPr>
            <p:spPr>
              <a:xfrm>
                <a:off x="1110502" y="5571021"/>
                <a:ext cx="1314106"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Patient</a:t>
                </a:r>
                <a:endParaRPr lang="en-US" sz="1224" dirty="0">
                  <a:solidFill>
                    <a:schemeClr val="tx1"/>
                  </a:solidFill>
                </a:endParaRPr>
              </a:p>
            </p:txBody>
          </p:sp>
          <p:sp>
            <p:nvSpPr>
              <p:cNvPr id="55" name="Rectangle 54"/>
              <p:cNvSpPr/>
              <p:nvPr/>
            </p:nvSpPr>
            <p:spPr>
              <a:xfrm>
                <a:off x="2438400" y="5571021"/>
                <a:ext cx="1434008"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09/03/2013 6:37:45</a:t>
                </a:r>
                <a:endParaRPr lang="en-US" sz="1224" dirty="0">
                  <a:solidFill>
                    <a:schemeClr val="tx1"/>
                  </a:solidFill>
                </a:endParaRPr>
              </a:p>
            </p:txBody>
          </p:sp>
        </p:grpSp>
        <p:grpSp>
          <p:nvGrpSpPr>
            <p:cNvPr id="56" name="Group 55"/>
            <p:cNvGrpSpPr/>
            <p:nvPr/>
          </p:nvGrpSpPr>
          <p:grpSpPr>
            <a:xfrm>
              <a:off x="2119140" y="4798719"/>
              <a:ext cx="2761906" cy="252018"/>
              <a:chOff x="1110502" y="5571021"/>
              <a:chExt cx="2761906" cy="252018"/>
            </a:xfrm>
          </p:grpSpPr>
          <p:sp>
            <p:nvSpPr>
              <p:cNvPr id="57" name="Rectangle 56"/>
              <p:cNvSpPr/>
              <p:nvPr/>
            </p:nvSpPr>
            <p:spPr>
              <a:xfrm>
                <a:off x="1110502" y="5571021"/>
                <a:ext cx="1314106"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Procedure</a:t>
                </a:r>
                <a:endParaRPr lang="en-US" sz="1224" dirty="0">
                  <a:solidFill>
                    <a:schemeClr val="tx1"/>
                  </a:solidFill>
                </a:endParaRPr>
              </a:p>
            </p:txBody>
          </p:sp>
          <p:sp>
            <p:nvSpPr>
              <p:cNvPr id="58" name="Rectangle 57"/>
              <p:cNvSpPr/>
              <p:nvPr/>
            </p:nvSpPr>
            <p:spPr>
              <a:xfrm>
                <a:off x="2438400" y="5571021"/>
                <a:ext cx="1434008"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09/03/2013 6:37:05</a:t>
                </a:r>
                <a:endParaRPr lang="en-US" sz="1224" dirty="0">
                  <a:solidFill>
                    <a:schemeClr val="tx1"/>
                  </a:solidFill>
                </a:endParaRPr>
              </a:p>
            </p:txBody>
          </p:sp>
        </p:grpSp>
        <p:grpSp>
          <p:nvGrpSpPr>
            <p:cNvPr id="59" name="Group 58"/>
            <p:cNvGrpSpPr/>
            <p:nvPr/>
          </p:nvGrpSpPr>
          <p:grpSpPr>
            <a:xfrm>
              <a:off x="2122220" y="5035617"/>
              <a:ext cx="2761906" cy="252018"/>
              <a:chOff x="1110502" y="5571021"/>
              <a:chExt cx="2761906" cy="252018"/>
            </a:xfrm>
          </p:grpSpPr>
          <p:sp>
            <p:nvSpPr>
              <p:cNvPr id="60" name="Rectangle 59"/>
              <p:cNvSpPr/>
              <p:nvPr/>
            </p:nvSpPr>
            <p:spPr>
              <a:xfrm>
                <a:off x="1110502" y="5571021"/>
                <a:ext cx="1314106"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4" dirty="0">
                  <a:solidFill>
                    <a:schemeClr val="tx1"/>
                  </a:solidFill>
                </a:endParaRPr>
              </a:p>
            </p:txBody>
          </p:sp>
          <p:sp>
            <p:nvSpPr>
              <p:cNvPr id="61" name="Rectangle 60"/>
              <p:cNvSpPr/>
              <p:nvPr/>
            </p:nvSpPr>
            <p:spPr>
              <a:xfrm>
                <a:off x="2438400" y="5571021"/>
                <a:ext cx="1434008"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4" dirty="0">
                  <a:solidFill>
                    <a:schemeClr val="tx1"/>
                  </a:solidFill>
                </a:endParaRPr>
              </a:p>
            </p:txBody>
          </p:sp>
        </p:grpSp>
      </p:grpSp>
      <p:sp>
        <p:nvSpPr>
          <p:cNvPr id="32" name="Left Brace 31"/>
          <p:cNvSpPr/>
          <p:nvPr/>
        </p:nvSpPr>
        <p:spPr>
          <a:xfrm>
            <a:off x="1450962" y="4102507"/>
            <a:ext cx="537448" cy="2088613"/>
          </a:xfrm>
          <a:prstGeom prst="leftBrace">
            <a:avLst>
              <a:gd name="adj1" fmla="val 8333"/>
              <a:gd name="adj2" fmla="val 51861"/>
            </a:avLst>
          </a:prstGeom>
          <a:ln>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solidFill>
                <a:schemeClr val="bg1">
                  <a:lumMod val="50000"/>
                </a:schemeClr>
              </a:solidFill>
            </a:endParaRPr>
          </a:p>
        </p:txBody>
      </p:sp>
      <p:sp>
        <p:nvSpPr>
          <p:cNvPr id="67" name="Rectangle 66"/>
          <p:cNvSpPr/>
          <p:nvPr/>
        </p:nvSpPr>
        <p:spPr>
          <a:xfrm>
            <a:off x="3418846" y="4526079"/>
            <a:ext cx="1462555"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09/03/2013 6:37:45</a:t>
            </a:r>
            <a:endParaRPr lang="en-US" sz="1224" dirty="0">
              <a:solidFill>
                <a:schemeClr val="tx1"/>
              </a:solidFill>
            </a:endParaRPr>
          </a:p>
        </p:txBody>
      </p:sp>
      <p:sp>
        <p:nvSpPr>
          <p:cNvPr id="68" name="TextBox 67"/>
          <p:cNvSpPr txBox="1"/>
          <p:nvPr/>
        </p:nvSpPr>
        <p:spPr>
          <a:xfrm>
            <a:off x="1265238" y="2250755"/>
            <a:ext cx="6316538" cy="318286"/>
          </a:xfrm>
          <a:prstGeom prst="rect">
            <a:avLst/>
          </a:prstGeom>
          <a:noFill/>
        </p:spPr>
        <p:txBody>
          <a:bodyPr wrap="square" rtlCol="0">
            <a:spAutoFit/>
          </a:bodyPr>
          <a:lstStyle/>
          <a:p>
            <a:r>
              <a:rPr lang="en-US" sz="1428" dirty="0"/>
              <a:t>Step </a:t>
            </a:r>
            <a:r>
              <a:rPr lang="en-US" sz="1428" dirty="0"/>
              <a:t>2:  SSIS Extracts Data from Source system and Places it on DFS</a:t>
            </a:r>
            <a:endParaRPr lang="en-US" sz="1428" dirty="0"/>
          </a:p>
        </p:txBody>
      </p:sp>
      <p:sp>
        <p:nvSpPr>
          <p:cNvPr id="69" name="TextBox 68"/>
          <p:cNvSpPr txBox="1"/>
          <p:nvPr/>
        </p:nvSpPr>
        <p:spPr>
          <a:xfrm>
            <a:off x="1265238" y="2583195"/>
            <a:ext cx="6316538" cy="312073"/>
          </a:xfrm>
          <a:prstGeom prst="rect">
            <a:avLst/>
          </a:prstGeom>
          <a:noFill/>
        </p:spPr>
        <p:txBody>
          <a:bodyPr wrap="square" rtlCol="0">
            <a:spAutoFit/>
          </a:bodyPr>
          <a:lstStyle/>
          <a:p>
            <a:r>
              <a:rPr lang="en-US" sz="1428" dirty="0"/>
              <a:t>Step </a:t>
            </a:r>
            <a:r>
              <a:rPr lang="en-US" sz="1428" dirty="0"/>
              <a:t>3: SSIS Creates Record in ETL Control Detail Table with Status of New</a:t>
            </a:r>
            <a:endParaRPr lang="en-US" sz="1428" dirty="0"/>
          </a:p>
        </p:txBody>
      </p:sp>
      <p:sp>
        <p:nvSpPr>
          <p:cNvPr id="70" name="TextBox 69"/>
          <p:cNvSpPr txBox="1"/>
          <p:nvPr/>
        </p:nvSpPr>
        <p:spPr>
          <a:xfrm>
            <a:off x="1274953" y="2905492"/>
            <a:ext cx="6316538" cy="318286"/>
          </a:xfrm>
          <a:prstGeom prst="rect">
            <a:avLst/>
          </a:prstGeom>
          <a:noFill/>
        </p:spPr>
        <p:txBody>
          <a:bodyPr wrap="square" rtlCol="0">
            <a:spAutoFit/>
          </a:bodyPr>
          <a:lstStyle/>
          <a:p>
            <a:r>
              <a:rPr lang="en-US" sz="1428" dirty="0"/>
              <a:t>Step 4</a:t>
            </a:r>
            <a:r>
              <a:rPr lang="en-US" sz="1428" dirty="0"/>
              <a:t>: SSIS Records Last Extract Date</a:t>
            </a:r>
            <a:endParaRPr lang="en-US" sz="1428" dirty="0"/>
          </a:p>
        </p:txBody>
      </p:sp>
      <p:sp>
        <p:nvSpPr>
          <p:cNvPr id="88" name="Rectangle 87"/>
          <p:cNvSpPr/>
          <p:nvPr/>
        </p:nvSpPr>
        <p:spPr>
          <a:xfrm>
            <a:off x="7508956" y="2303398"/>
            <a:ext cx="1528681" cy="25703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bg1">
                    <a:lumMod val="50000"/>
                  </a:schemeClr>
                </a:solidFill>
              </a:rPr>
              <a:t>09/03/2013 8:36:00</a:t>
            </a:r>
            <a:endParaRPr lang="en-US" sz="1224" dirty="0">
              <a:solidFill>
                <a:schemeClr val="bg1">
                  <a:lumMod val="50000"/>
                </a:schemeClr>
              </a:solidFill>
            </a:endParaRPr>
          </a:p>
        </p:txBody>
      </p:sp>
      <p:grpSp>
        <p:nvGrpSpPr>
          <p:cNvPr id="36" name="Group 35"/>
          <p:cNvGrpSpPr/>
          <p:nvPr/>
        </p:nvGrpSpPr>
        <p:grpSpPr>
          <a:xfrm>
            <a:off x="2035316" y="4073706"/>
            <a:ext cx="4885136" cy="2149096"/>
            <a:chOff x="-4225561" y="3227624"/>
            <a:chExt cx="4789784" cy="2107148"/>
          </a:xfrm>
        </p:grpSpPr>
        <p:grpSp>
          <p:nvGrpSpPr>
            <p:cNvPr id="34" name="Group 33"/>
            <p:cNvGrpSpPr/>
            <p:nvPr/>
          </p:nvGrpSpPr>
          <p:grpSpPr>
            <a:xfrm>
              <a:off x="-4225561" y="3227624"/>
              <a:ext cx="4789784" cy="2107148"/>
              <a:chOff x="-4225561" y="3227624"/>
              <a:chExt cx="4789784" cy="2107148"/>
            </a:xfrm>
          </p:grpSpPr>
          <p:grpSp>
            <p:nvGrpSpPr>
              <p:cNvPr id="71" name="Group 70"/>
              <p:cNvGrpSpPr/>
              <p:nvPr/>
            </p:nvGrpSpPr>
            <p:grpSpPr>
              <a:xfrm>
                <a:off x="-4225561" y="3227624"/>
                <a:ext cx="4789784" cy="2107148"/>
                <a:chOff x="2105348" y="4108015"/>
                <a:chExt cx="2775698" cy="2107148"/>
              </a:xfrm>
            </p:grpSpPr>
            <p:grpSp>
              <p:nvGrpSpPr>
                <p:cNvPr id="72" name="Group 71"/>
                <p:cNvGrpSpPr/>
                <p:nvPr/>
              </p:nvGrpSpPr>
              <p:grpSpPr>
                <a:xfrm>
                  <a:off x="2105348" y="4108015"/>
                  <a:ext cx="2775698" cy="2107148"/>
                  <a:chOff x="1110502" y="2900284"/>
                  <a:chExt cx="4156324" cy="2107148"/>
                </a:xfrm>
              </p:grpSpPr>
              <p:sp>
                <p:nvSpPr>
                  <p:cNvPr id="84" name="Rectangle 83"/>
                  <p:cNvSpPr/>
                  <p:nvPr/>
                </p:nvSpPr>
                <p:spPr>
                  <a:xfrm>
                    <a:off x="1110502" y="2900284"/>
                    <a:ext cx="4156324" cy="205435"/>
                  </a:xfrm>
                  <a:prstGeom prst="rect">
                    <a:avLst/>
                  </a:prstGeom>
                  <a:solidFill>
                    <a:schemeClr val="bg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bg1">
                            <a:lumMod val="50000"/>
                          </a:schemeClr>
                        </a:solidFill>
                      </a:rPr>
                      <a:t>ETL Control Detail Table</a:t>
                    </a:r>
                    <a:endParaRPr lang="en-US" sz="1224" dirty="0">
                      <a:solidFill>
                        <a:schemeClr val="bg1">
                          <a:lumMod val="50000"/>
                        </a:schemeClr>
                      </a:solidFill>
                    </a:endParaRPr>
                  </a:p>
                </p:txBody>
              </p:sp>
              <p:sp>
                <p:nvSpPr>
                  <p:cNvPr id="85" name="Rectangle 84"/>
                  <p:cNvSpPr/>
                  <p:nvPr/>
                </p:nvSpPr>
                <p:spPr>
                  <a:xfrm>
                    <a:off x="1124294" y="3105719"/>
                    <a:ext cx="4133351" cy="1901713"/>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4">
                      <a:solidFill>
                        <a:schemeClr val="bg1">
                          <a:lumMod val="50000"/>
                        </a:schemeClr>
                      </a:solidFill>
                    </a:endParaRPr>
                  </a:p>
                </p:txBody>
              </p:sp>
            </p:grpSp>
            <p:sp>
              <p:nvSpPr>
                <p:cNvPr id="73" name="Rectangle 72"/>
                <p:cNvSpPr/>
                <p:nvPr/>
              </p:nvSpPr>
              <p:spPr>
                <a:xfrm>
                  <a:off x="2119140" y="4331931"/>
                  <a:ext cx="689740" cy="25201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err="1">
                      <a:solidFill>
                        <a:schemeClr val="bg1">
                          <a:lumMod val="50000"/>
                        </a:schemeClr>
                      </a:solidFill>
                    </a:rPr>
                    <a:t>Extract_Table</a:t>
                  </a:r>
                  <a:endParaRPr lang="en-US" sz="1224" dirty="0">
                    <a:solidFill>
                      <a:schemeClr val="bg1">
                        <a:lumMod val="50000"/>
                      </a:schemeClr>
                    </a:solidFill>
                  </a:endParaRPr>
                </a:p>
              </p:txBody>
            </p:sp>
            <p:sp>
              <p:nvSpPr>
                <p:cNvPr id="74" name="Rectangle 73"/>
                <p:cNvSpPr/>
                <p:nvPr/>
              </p:nvSpPr>
              <p:spPr>
                <a:xfrm>
                  <a:off x="2781936" y="4331931"/>
                  <a:ext cx="414294" cy="25201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bg1">
                          <a:lumMod val="50000"/>
                        </a:schemeClr>
                      </a:solidFill>
                    </a:rPr>
                    <a:t>Status</a:t>
                  </a:r>
                  <a:endParaRPr lang="en-US" sz="1224" dirty="0">
                    <a:solidFill>
                      <a:schemeClr val="bg1">
                        <a:lumMod val="50000"/>
                      </a:schemeClr>
                    </a:solidFill>
                  </a:endParaRPr>
                </a:p>
              </p:txBody>
            </p:sp>
            <p:grpSp>
              <p:nvGrpSpPr>
                <p:cNvPr id="75" name="Group 74"/>
                <p:cNvGrpSpPr/>
                <p:nvPr/>
              </p:nvGrpSpPr>
              <p:grpSpPr>
                <a:xfrm>
                  <a:off x="2119139" y="4578360"/>
                  <a:ext cx="1074275" cy="259521"/>
                  <a:chOff x="1110501" y="5588850"/>
                  <a:chExt cx="1074275" cy="259521"/>
                </a:xfrm>
              </p:grpSpPr>
              <p:sp>
                <p:nvSpPr>
                  <p:cNvPr id="82" name="Rectangle 81"/>
                  <p:cNvSpPr/>
                  <p:nvPr/>
                </p:nvSpPr>
                <p:spPr>
                  <a:xfrm>
                    <a:off x="1110501" y="5596353"/>
                    <a:ext cx="668927" cy="25201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bg1">
                            <a:lumMod val="50000"/>
                          </a:schemeClr>
                        </a:solidFill>
                      </a:rPr>
                      <a:t>Patient</a:t>
                    </a:r>
                    <a:endParaRPr lang="en-US" sz="1224" dirty="0">
                      <a:solidFill>
                        <a:schemeClr val="bg1">
                          <a:lumMod val="50000"/>
                        </a:schemeClr>
                      </a:solidFill>
                    </a:endParaRPr>
                  </a:p>
                </p:txBody>
              </p:sp>
              <p:sp>
                <p:nvSpPr>
                  <p:cNvPr id="83" name="Rectangle 82"/>
                  <p:cNvSpPr/>
                  <p:nvPr/>
                </p:nvSpPr>
                <p:spPr>
                  <a:xfrm>
                    <a:off x="1770482" y="5588850"/>
                    <a:ext cx="414294" cy="25201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bg1">
                            <a:lumMod val="50000"/>
                          </a:schemeClr>
                        </a:solidFill>
                      </a:rPr>
                      <a:t>Comp</a:t>
                    </a:r>
                    <a:endParaRPr lang="en-US" sz="1224" dirty="0">
                      <a:solidFill>
                        <a:schemeClr val="bg1">
                          <a:lumMod val="50000"/>
                        </a:schemeClr>
                      </a:solidFill>
                    </a:endParaRPr>
                  </a:p>
                </p:txBody>
              </p:sp>
            </p:grpSp>
            <p:grpSp>
              <p:nvGrpSpPr>
                <p:cNvPr id="76" name="Group 75"/>
                <p:cNvGrpSpPr/>
                <p:nvPr/>
              </p:nvGrpSpPr>
              <p:grpSpPr>
                <a:xfrm>
                  <a:off x="2119475" y="4825844"/>
                  <a:ext cx="1073939" cy="262584"/>
                  <a:chOff x="1110837" y="5598146"/>
                  <a:chExt cx="1073939" cy="262584"/>
                </a:xfrm>
              </p:grpSpPr>
              <p:sp>
                <p:nvSpPr>
                  <p:cNvPr id="80" name="Rectangle 79"/>
                  <p:cNvSpPr/>
                  <p:nvPr/>
                </p:nvSpPr>
                <p:spPr>
                  <a:xfrm>
                    <a:off x="1110837" y="5598146"/>
                    <a:ext cx="668927" cy="25201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bg1">
                            <a:lumMod val="50000"/>
                          </a:schemeClr>
                        </a:solidFill>
                      </a:rPr>
                      <a:t>Procedure</a:t>
                    </a:r>
                    <a:endParaRPr lang="en-US" sz="1224" dirty="0">
                      <a:solidFill>
                        <a:schemeClr val="bg1">
                          <a:lumMod val="50000"/>
                        </a:schemeClr>
                      </a:solidFill>
                    </a:endParaRPr>
                  </a:p>
                </p:txBody>
              </p:sp>
              <p:sp>
                <p:nvSpPr>
                  <p:cNvPr id="81" name="Rectangle 80"/>
                  <p:cNvSpPr/>
                  <p:nvPr/>
                </p:nvSpPr>
                <p:spPr>
                  <a:xfrm>
                    <a:off x="1770482" y="5608712"/>
                    <a:ext cx="414294" cy="25201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bg1">
                            <a:lumMod val="50000"/>
                          </a:schemeClr>
                        </a:solidFill>
                      </a:rPr>
                      <a:t>Comp</a:t>
                    </a:r>
                    <a:endParaRPr lang="en-US" sz="1224" dirty="0">
                      <a:solidFill>
                        <a:schemeClr val="bg1">
                          <a:lumMod val="50000"/>
                        </a:schemeClr>
                      </a:solidFill>
                    </a:endParaRPr>
                  </a:p>
                </p:txBody>
              </p:sp>
            </p:grpSp>
            <p:sp>
              <p:nvSpPr>
                <p:cNvPr id="78" name="Rectangle 77"/>
                <p:cNvSpPr/>
                <p:nvPr/>
              </p:nvSpPr>
              <p:spPr>
                <a:xfrm>
                  <a:off x="2115794" y="5082688"/>
                  <a:ext cx="659716" cy="25201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4" dirty="0">
                    <a:solidFill>
                      <a:schemeClr val="bg1">
                        <a:lumMod val="50000"/>
                      </a:schemeClr>
                    </a:solidFill>
                  </a:endParaRPr>
                </a:p>
              </p:txBody>
            </p:sp>
          </p:grpSp>
          <p:sp>
            <p:nvSpPr>
              <p:cNvPr id="89" name="Rectangle 88"/>
              <p:cNvSpPr/>
              <p:nvPr/>
            </p:nvSpPr>
            <p:spPr>
              <a:xfrm>
                <a:off x="-2347979" y="3442820"/>
                <a:ext cx="1193582" cy="25201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err="1">
                    <a:solidFill>
                      <a:schemeClr val="bg1">
                        <a:lumMod val="50000"/>
                      </a:schemeClr>
                    </a:solidFill>
                  </a:rPr>
                  <a:t>FileName</a:t>
                </a:r>
                <a:endParaRPr lang="en-US" sz="1224" dirty="0">
                  <a:solidFill>
                    <a:schemeClr val="bg1">
                      <a:lumMod val="50000"/>
                    </a:schemeClr>
                  </a:solidFill>
                </a:endParaRPr>
              </a:p>
            </p:txBody>
          </p:sp>
          <p:sp>
            <p:nvSpPr>
              <p:cNvPr id="90" name="Rectangle 89"/>
              <p:cNvSpPr/>
              <p:nvPr/>
            </p:nvSpPr>
            <p:spPr>
              <a:xfrm>
                <a:off x="-1170130" y="3444662"/>
                <a:ext cx="909603" cy="25201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err="1">
                    <a:solidFill>
                      <a:schemeClr val="bg1">
                        <a:lumMod val="50000"/>
                      </a:schemeClr>
                    </a:solidFill>
                  </a:rPr>
                  <a:t>PDWStatus</a:t>
                </a:r>
                <a:endParaRPr lang="en-US" sz="1224" dirty="0">
                  <a:solidFill>
                    <a:schemeClr val="bg1">
                      <a:lumMod val="50000"/>
                    </a:schemeClr>
                  </a:solidFill>
                </a:endParaRPr>
              </a:p>
            </p:txBody>
          </p:sp>
          <p:sp>
            <p:nvSpPr>
              <p:cNvPr id="91" name="Rectangle 90"/>
              <p:cNvSpPr/>
              <p:nvPr/>
            </p:nvSpPr>
            <p:spPr>
              <a:xfrm>
                <a:off x="-255467" y="3444350"/>
                <a:ext cx="795186" cy="25201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err="1">
                    <a:solidFill>
                      <a:schemeClr val="bg1">
                        <a:lumMod val="50000"/>
                      </a:schemeClr>
                    </a:solidFill>
                  </a:rPr>
                  <a:t>DRStatus</a:t>
                </a:r>
                <a:endParaRPr lang="en-US" sz="1224" dirty="0">
                  <a:solidFill>
                    <a:schemeClr val="bg1">
                      <a:lumMod val="50000"/>
                    </a:schemeClr>
                  </a:solidFill>
                </a:endParaRPr>
              </a:p>
            </p:txBody>
          </p:sp>
        </p:grpSp>
        <p:grpSp>
          <p:nvGrpSpPr>
            <p:cNvPr id="35" name="Group 34"/>
            <p:cNvGrpSpPr/>
            <p:nvPr/>
          </p:nvGrpSpPr>
          <p:grpSpPr>
            <a:xfrm>
              <a:off x="-2356905" y="3950939"/>
              <a:ext cx="2887698" cy="253860"/>
              <a:chOff x="-3167275" y="2332377"/>
              <a:chExt cx="2887698" cy="253860"/>
            </a:xfrm>
          </p:grpSpPr>
          <p:sp>
            <p:nvSpPr>
              <p:cNvPr id="92" name="Rectangle 91"/>
              <p:cNvSpPr/>
              <p:nvPr/>
            </p:nvSpPr>
            <p:spPr>
              <a:xfrm>
                <a:off x="-3167275" y="2332377"/>
                <a:ext cx="1193582" cy="25201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bg1">
                        <a:lumMod val="50000"/>
                      </a:schemeClr>
                    </a:solidFill>
                  </a:rPr>
                  <a:t>Proc20130903x</a:t>
                </a:r>
                <a:endParaRPr lang="en-US" sz="1224" dirty="0">
                  <a:solidFill>
                    <a:schemeClr val="bg1">
                      <a:lumMod val="50000"/>
                    </a:schemeClr>
                  </a:solidFill>
                </a:endParaRPr>
              </a:p>
            </p:txBody>
          </p:sp>
          <p:sp>
            <p:nvSpPr>
              <p:cNvPr id="93" name="Rectangle 92"/>
              <p:cNvSpPr/>
              <p:nvPr/>
            </p:nvSpPr>
            <p:spPr>
              <a:xfrm>
                <a:off x="-1989426" y="2334219"/>
                <a:ext cx="909603" cy="25201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bg1">
                        <a:lumMod val="50000"/>
                      </a:schemeClr>
                    </a:solidFill>
                  </a:rPr>
                  <a:t>Comp</a:t>
                </a:r>
                <a:endParaRPr lang="en-US" sz="1224" dirty="0">
                  <a:solidFill>
                    <a:schemeClr val="bg1">
                      <a:lumMod val="50000"/>
                    </a:schemeClr>
                  </a:solidFill>
                </a:endParaRPr>
              </a:p>
            </p:txBody>
          </p:sp>
          <p:sp>
            <p:nvSpPr>
              <p:cNvPr id="94" name="Rectangle 93"/>
              <p:cNvSpPr/>
              <p:nvPr/>
            </p:nvSpPr>
            <p:spPr>
              <a:xfrm>
                <a:off x="-1074763" y="2333907"/>
                <a:ext cx="795186" cy="25201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bg1">
                        <a:lumMod val="50000"/>
                      </a:schemeClr>
                    </a:solidFill>
                  </a:rPr>
                  <a:t>Comp</a:t>
                </a:r>
                <a:endParaRPr lang="en-US" sz="1224" dirty="0">
                  <a:solidFill>
                    <a:schemeClr val="bg1">
                      <a:lumMod val="50000"/>
                    </a:schemeClr>
                  </a:solidFill>
                </a:endParaRPr>
              </a:p>
            </p:txBody>
          </p:sp>
        </p:grpSp>
        <p:grpSp>
          <p:nvGrpSpPr>
            <p:cNvPr id="95" name="Group 94"/>
            <p:cNvGrpSpPr/>
            <p:nvPr/>
          </p:nvGrpSpPr>
          <p:grpSpPr>
            <a:xfrm>
              <a:off x="-2356905" y="4199192"/>
              <a:ext cx="2887698" cy="253860"/>
              <a:chOff x="-3167275" y="2332377"/>
              <a:chExt cx="2887698" cy="253860"/>
            </a:xfrm>
          </p:grpSpPr>
          <p:sp>
            <p:nvSpPr>
              <p:cNvPr id="96" name="Rectangle 95"/>
              <p:cNvSpPr/>
              <p:nvPr/>
            </p:nvSpPr>
            <p:spPr>
              <a:xfrm>
                <a:off x="-3167275" y="2332377"/>
                <a:ext cx="1193582" cy="25201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4" dirty="0">
                  <a:solidFill>
                    <a:schemeClr val="bg1">
                      <a:lumMod val="50000"/>
                    </a:schemeClr>
                  </a:solidFill>
                </a:endParaRPr>
              </a:p>
            </p:txBody>
          </p:sp>
          <p:sp>
            <p:nvSpPr>
              <p:cNvPr id="97" name="Rectangle 96"/>
              <p:cNvSpPr/>
              <p:nvPr/>
            </p:nvSpPr>
            <p:spPr>
              <a:xfrm>
                <a:off x="-1989426" y="2334219"/>
                <a:ext cx="909603" cy="25201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4" dirty="0">
                  <a:solidFill>
                    <a:schemeClr val="bg1">
                      <a:lumMod val="50000"/>
                    </a:schemeClr>
                  </a:solidFill>
                </a:endParaRPr>
              </a:p>
            </p:txBody>
          </p:sp>
          <p:sp>
            <p:nvSpPr>
              <p:cNvPr id="98" name="Rectangle 97"/>
              <p:cNvSpPr/>
              <p:nvPr/>
            </p:nvSpPr>
            <p:spPr>
              <a:xfrm>
                <a:off x="-1074763" y="2333907"/>
                <a:ext cx="795186" cy="25201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4" dirty="0">
                  <a:solidFill>
                    <a:schemeClr val="bg1">
                      <a:lumMod val="50000"/>
                    </a:schemeClr>
                  </a:solidFill>
                </a:endParaRPr>
              </a:p>
            </p:txBody>
          </p:sp>
        </p:grpSp>
        <p:grpSp>
          <p:nvGrpSpPr>
            <p:cNvPr id="99" name="Group 98"/>
            <p:cNvGrpSpPr/>
            <p:nvPr/>
          </p:nvGrpSpPr>
          <p:grpSpPr>
            <a:xfrm>
              <a:off x="-2353679" y="3704551"/>
              <a:ext cx="2887698" cy="253860"/>
              <a:chOff x="-3167275" y="2332377"/>
              <a:chExt cx="2887698" cy="253860"/>
            </a:xfrm>
          </p:grpSpPr>
          <p:sp>
            <p:nvSpPr>
              <p:cNvPr id="100" name="Rectangle 99"/>
              <p:cNvSpPr/>
              <p:nvPr/>
            </p:nvSpPr>
            <p:spPr>
              <a:xfrm>
                <a:off x="-3167275" y="2332377"/>
                <a:ext cx="1193582" cy="25201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bg1">
                        <a:lumMod val="50000"/>
                      </a:schemeClr>
                    </a:solidFill>
                  </a:rPr>
                  <a:t>Pat20130903x</a:t>
                </a:r>
                <a:endParaRPr lang="en-US" sz="1224" dirty="0">
                  <a:solidFill>
                    <a:schemeClr val="bg1">
                      <a:lumMod val="50000"/>
                    </a:schemeClr>
                  </a:solidFill>
                </a:endParaRPr>
              </a:p>
            </p:txBody>
          </p:sp>
          <p:sp>
            <p:nvSpPr>
              <p:cNvPr id="101" name="Rectangle 100"/>
              <p:cNvSpPr/>
              <p:nvPr/>
            </p:nvSpPr>
            <p:spPr>
              <a:xfrm>
                <a:off x="-1989426" y="2334219"/>
                <a:ext cx="909603" cy="25201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bg1">
                        <a:lumMod val="50000"/>
                      </a:schemeClr>
                    </a:solidFill>
                  </a:rPr>
                  <a:t>Comp</a:t>
                </a:r>
                <a:endParaRPr lang="en-US" sz="1224" dirty="0">
                  <a:solidFill>
                    <a:schemeClr val="bg1">
                      <a:lumMod val="50000"/>
                    </a:schemeClr>
                  </a:solidFill>
                </a:endParaRPr>
              </a:p>
            </p:txBody>
          </p:sp>
          <p:sp>
            <p:nvSpPr>
              <p:cNvPr id="102" name="Rectangle 101"/>
              <p:cNvSpPr/>
              <p:nvPr/>
            </p:nvSpPr>
            <p:spPr>
              <a:xfrm>
                <a:off x="-1074763" y="2333907"/>
                <a:ext cx="795186" cy="25201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bg1">
                        <a:lumMod val="50000"/>
                      </a:schemeClr>
                    </a:solidFill>
                  </a:rPr>
                  <a:t>Comp</a:t>
                </a:r>
                <a:endParaRPr lang="en-US" sz="1224" dirty="0">
                  <a:solidFill>
                    <a:schemeClr val="bg1">
                      <a:lumMod val="50000"/>
                    </a:schemeClr>
                  </a:solidFill>
                </a:endParaRPr>
              </a:p>
            </p:txBody>
          </p:sp>
        </p:grpSp>
      </p:grpSp>
      <p:sp>
        <p:nvSpPr>
          <p:cNvPr id="103" name="Rectangle 102"/>
          <p:cNvSpPr/>
          <p:nvPr/>
        </p:nvSpPr>
        <p:spPr>
          <a:xfrm>
            <a:off x="8687086" y="3278694"/>
            <a:ext cx="1264951" cy="257035"/>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bg1">
                    <a:lumMod val="50000"/>
                  </a:schemeClr>
                </a:solidFill>
              </a:rPr>
              <a:t>Proc20130903a</a:t>
            </a:r>
            <a:endParaRPr lang="en-US" sz="1224" dirty="0">
              <a:solidFill>
                <a:schemeClr val="bg1">
                  <a:lumMod val="50000"/>
                </a:schemeClr>
              </a:solidFill>
            </a:endParaRPr>
          </a:p>
        </p:txBody>
      </p:sp>
      <p:sp>
        <p:nvSpPr>
          <p:cNvPr id="108" name="Rectangle 107"/>
          <p:cNvSpPr/>
          <p:nvPr/>
        </p:nvSpPr>
        <p:spPr>
          <a:xfrm>
            <a:off x="2069912" y="5064616"/>
            <a:ext cx="1161078"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Patient</a:t>
            </a:r>
          </a:p>
        </p:txBody>
      </p:sp>
      <p:sp>
        <p:nvSpPr>
          <p:cNvPr id="109" name="Rectangle 108"/>
          <p:cNvSpPr/>
          <p:nvPr/>
        </p:nvSpPr>
        <p:spPr>
          <a:xfrm>
            <a:off x="3207984" y="5067516"/>
            <a:ext cx="729144"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4" dirty="0">
              <a:solidFill>
                <a:schemeClr val="tx1"/>
              </a:solidFill>
            </a:endParaRPr>
          </a:p>
        </p:txBody>
      </p:sp>
      <p:sp>
        <p:nvSpPr>
          <p:cNvPr id="107" name="Rectangle 106"/>
          <p:cNvSpPr/>
          <p:nvPr/>
        </p:nvSpPr>
        <p:spPr>
          <a:xfrm>
            <a:off x="3203923" y="5068957"/>
            <a:ext cx="729144"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New</a:t>
            </a:r>
            <a:endParaRPr lang="en-US" sz="1224" dirty="0">
              <a:solidFill>
                <a:schemeClr val="tx1"/>
              </a:solidFill>
            </a:endParaRPr>
          </a:p>
        </p:txBody>
      </p:sp>
    </p:spTree>
    <p:extLst>
      <p:ext uri="{BB962C8B-B14F-4D97-AF65-F5344CB8AC3E}">
        <p14:creationId xmlns:p14="http://schemas.microsoft.com/office/powerpoint/2010/main" val="5673340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par>
                                <p:cTn id="8" presetID="1" presetClass="entr" presetSubtype="0"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childTnLst>
                                </p:cTn>
                              </p:par>
                              <p:par>
                                <p:cTn id="10" presetID="1"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childTnLst>
                                </p:cTn>
                              </p:par>
                              <p:par>
                                <p:cTn id="12" presetID="10" presetClass="entr" presetSubtype="0" fill="hold" nodeType="withEffect">
                                  <p:stCondLst>
                                    <p:cond delay="0"/>
                                  </p:stCondLst>
                                  <p:childTnLst>
                                    <p:set>
                                      <p:cBhvr>
                                        <p:cTn id="13" dur="1" fill="hold">
                                          <p:stCondLst>
                                            <p:cond delay="0"/>
                                          </p:stCondLst>
                                        </p:cTn>
                                        <p:tgtEl>
                                          <p:spTgt spid="30"/>
                                        </p:tgtEl>
                                        <p:attrNameLst>
                                          <p:attrName>style.visibility</p:attrName>
                                        </p:attrNameLst>
                                      </p:cBhvr>
                                      <p:to>
                                        <p:strVal val="visible"/>
                                      </p:to>
                                    </p:set>
                                    <p:animEffect transition="in" filter="fade">
                                      <p:cBhvr>
                                        <p:cTn id="14" dur="1500"/>
                                        <p:tgtEl>
                                          <p:spTgt spid="3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67"/>
                                        </p:tgtEl>
                                        <p:attrNameLst>
                                          <p:attrName>style.visibility</p:attrName>
                                        </p:attrNameLst>
                                      </p:cBhvr>
                                      <p:to>
                                        <p:strVal val="visible"/>
                                      </p:to>
                                    </p:set>
                                    <p:animEffect transition="in" filter="fade">
                                      <p:cBhvr>
                                        <p:cTn id="17" dur="500"/>
                                        <p:tgtEl>
                                          <p:spTgt spid="67"/>
                                        </p:tgtEl>
                                      </p:cBhvr>
                                    </p:animEffect>
                                  </p:childTnLst>
                                </p:cTn>
                              </p:par>
                            </p:childTnLst>
                          </p:cTn>
                        </p:par>
                        <p:par>
                          <p:cTn id="18" fill="hold">
                            <p:stCondLst>
                              <p:cond delay="1500"/>
                            </p:stCondLst>
                            <p:childTnLst>
                              <p:par>
                                <p:cTn id="19" presetID="42" presetClass="path" presetSubtype="0" accel="50000" decel="50000" fill="hold" grpId="1" nodeType="afterEffect">
                                  <p:stCondLst>
                                    <p:cond delay="0"/>
                                  </p:stCondLst>
                                  <p:childTnLst>
                                    <p:animMotion origin="layout" path="M 2.5E-6 -1.85185E-6 L 0.34323 -0.32916 " pathEditMode="relative" rAng="0" ptsTypes="AA">
                                      <p:cBhvr>
                                        <p:cTn id="20" dur="2000" fill="hold"/>
                                        <p:tgtEl>
                                          <p:spTgt spid="67"/>
                                        </p:tgtEl>
                                        <p:attrNameLst>
                                          <p:attrName>ppt_x</p:attrName>
                                          <p:attrName>ppt_y</p:attrName>
                                        </p:attrNameLst>
                                      </p:cBhvr>
                                      <p:rCtr x="17344" y="-16458"/>
                                    </p:animMotion>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68"/>
                                        </p:tgtEl>
                                        <p:attrNameLst>
                                          <p:attrName>style.visibility</p:attrName>
                                        </p:attrNameLst>
                                      </p:cBhvr>
                                      <p:to>
                                        <p:strVal val="visible"/>
                                      </p:to>
                                    </p:set>
                                    <p:animEffect transition="in" filter="fade">
                                      <p:cBhvr>
                                        <p:cTn id="25" dur="500"/>
                                        <p:tgtEl>
                                          <p:spTgt spid="68"/>
                                        </p:tgtEl>
                                      </p:cBhvr>
                                    </p:animEffect>
                                  </p:childTnLst>
                                </p:cTn>
                              </p:par>
                              <p:par>
                                <p:cTn id="26" presetID="8" presetClass="emph" presetSubtype="0" fill="hold" nodeType="withEffect">
                                  <p:stCondLst>
                                    <p:cond delay="0"/>
                                  </p:stCondLst>
                                  <p:childTnLst>
                                    <p:animRot by="21600000">
                                      <p:cBhvr>
                                        <p:cTn id="27" dur="2000" fill="hold"/>
                                        <p:tgtEl>
                                          <p:spTgt spid="4"/>
                                        </p:tgtEl>
                                        <p:attrNameLst>
                                          <p:attrName>r</p:attrName>
                                        </p:attrNameLst>
                                      </p:cBhvr>
                                    </p:animRot>
                                  </p:childTnLst>
                                </p:cTn>
                              </p:par>
                              <p:par>
                                <p:cTn id="28" presetID="1" presetClass="entr" presetSubtype="0" fill="hold" nodeType="withEffect">
                                  <p:stCondLst>
                                    <p:cond delay="0"/>
                                  </p:stCondLst>
                                  <p:childTnLst>
                                    <p:set>
                                      <p:cBhvr>
                                        <p:cTn id="29" dur="1" fill="hold">
                                          <p:stCondLst>
                                            <p:cond delay="0"/>
                                          </p:stCondLst>
                                        </p:cTn>
                                        <p:tgtEl>
                                          <p:spTgt spid="3"/>
                                        </p:tgtEl>
                                        <p:attrNameLst>
                                          <p:attrName>style.visibility</p:attrName>
                                        </p:attrNameLst>
                                      </p:cBhvr>
                                      <p:to>
                                        <p:strVal val="visible"/>
                                      </p:to>
                                    </p:set>
                                  </p:childTnLst>
                                </p:cTn>
                              </p:par>
                              <p:par>
                                <p:cTn id="30" presetID="42" presetClass="path" presetSubtype="0" accel="50000" decel="50000" fill="hold" nodeType="withEffect">
                                  <p:stCondLst>
                                    <p:cond delay="0"/>
                                  </p:stCondLst>
                                  <p:childTnLst>
                                    <p:animMotion origin="layout" path="M -1.38889E-6 3.33333E-6 L 0.23229 -0.13843 " pathEditMode="relative" rAng="0" ptsTypes="AA">
                                      <p:cBhvr>
                                        <p:cTn id="31" dur="2000" fill="hold"/>
                                        <p:tgtEl>
                                          <p:spTgt spid="3"/>
                                        </p:tgtEl>
                                        <p:attrNameLst>
                                          <p:attrName>ppt_x</p:attrName>
                                          <p:attrName>ppt_y</p:attrName>
                                        </p:attrNameLst>
                                      </p:cBhvr>
                                      <p:rCtr x="11615" y="-6921"/>
                                    </p:animMotion>
                                  </p:childTnLst>
                                </p:cTn>
                              </p:par>
                              <p:par>
                                <p:cTn id="32" presetID="27" presetClass="emph" presetSubtype="0" fill="remove" nodeType="withEffect">
                                  <p:stCondLst>
                                    <p:cond delay="0"/>
                                  </p:stCondLst>
                                  <p:childTnLst>
                                    <p:animClr clrSpc="rgb" dir="cw">
                                      <p:cBhvr override="childStyle">
                                        <p:cTn id="33" dur="1000" autoRev="1" fill="remove"/>
                                        <p:tgtEl>
                                          <p:spTgt spid="21"/>
                                        </p:tgtEl>
                                        <p:attrNameLst>
                                          <p:attrName>style.color</p:attrName>
                                        </p:attrNameLst>
                                      </p:cBhvr>
                                      <p:to>
                                        <a:schemeClr val="bg2"/>
                                      </p:to>
                                    </p:animClr>
                                    <p:animClr clrSpc="rgb" dir="cw">
                                      <p:cBhvr>
                                        <p:cTn id="34" dur="1000" autoRev="1" fill="remove"/>
                                        <p:tgtEl>
                                          <p:spTgt spid="21"/>
                                        </p:tgtEl>
                                        <p:attrNameLst>
                                          <p:attrName>fillcolor</p:attrName>
                                        </p:attrNameLst>
                                      </p:cBhvr>
                                      <p:to>
                                        <a:schemeClr val="bg2"/>
                                      </p:to>
                                    </p:animClr>
                                    <p:set>
                                      <p:cBhvr>
                                        <p:cTn id="35" dur="1000" autoRev="1" fill="remove"/>
                                        <p:tgtEl>
                                          <p:spTgt spid="21"/>
                                        </p:tgtEl>
                                        <p:attrNameLst>
                                          <p:attrName>fill.type</p:attrName>
                                        </p:attrNameLst>
                                      </p:cBhvr>
                                      <p:to>
                                        <p:strVal val="solid"/>
                                      </p:to>
                                    </p:set>
                                    <p:set>
                                      <p:cBhvr>
                                        <p:cTn id="36" dur="1000" autoRev="1" fill="remove"/>
                                        <p:tgtEl>
                                          <p:spTgt spid="21"/>
                                        </p:tgtEl>
                                        <p:attrNameLst>
                                          <p:attrName>fill.on</p:attrName>
                                        </p:attrNameLst>
                                      </p:cBhvr>
                                      <p:to>
                                        <p:strVal val="true"/>
                                      </p:to>
                                    </p:set>
                                  </p:childTnLst>
                                  <p:subTnLst>
                                    <p:set>
                                      <p:cBhvr override="childStyle">
                                        <p:cTn dur="1" fill="hold" display="0" masterRel="sameClick" afterEffect="1">
                                          <p:stCondLst>
                                            <p:cond evt="end" delay="0">
                                              <p:tn val="32"/>
                                            </p:cond>
                                          </p:stCondLst>
                                        </p:cTn>
                                        <p:tgtEl>
                                          <p:spTgt spid="21"/>
                                        </p:tgtEl>
                                        <p:attrNameLst>
                                          <p:attrName>style.visibility</p:attrName>
                                        </p:attrNameLst>
                                      </p:cBhvr>
                                      <p:to>
                                        <p:strVal val="hidden"/>
                                      </p:to>
                                    </p:set>
                                  </p:subTnLst>
                                </p:cTn>
                              </p:par>
                            </p:childTnLst>
                          </p:cTn>
                        </p:par>
                        <p:par>
                          <p:cTn id="37" fill="hold">
                            <p:stCondLst>
                              <p:cond delay="2000"/>
                            </p:stCondLst>
                            <p:childTnLst>
                              <p:par>
                                <p:cTn id="38" presetID="1" presetClass="entr" presetSubtype="0" fill="hold" nodeType="afterEffect">
                                  <p:stCondLst>
                                    <p:cond delay="0"/>
                                  </p:stCondLst>
                                  <p:childTnLst>
                                    <p:set>
                                      <p:cBhvr>
                                        <p:cTn id="39" dur="1" fill="hold">
                                          <p:stCondLst>
                                            <p:cond delay="0"/>
                                          </p:stCondLst>
                                        </p:cTn>
                                        <p:tgtEl>
                                          <p:spTgt spid="47"/>
                                        </p:tgtEl>
                                        <p:attrNameLst>
                                          <p:attrName>style.visibility</p:attrName>
                                        </p:attrNameLst>
                                      </p:cBhvr>
                                      <p:to>
                                        <p:strVal val="visible"/>
                                      </p:to>
                                    </p:set>
                                  </p:childTnLst>
                                </p:cTn>
                              </p:par>
                            </p:childTnLst>
                          </p:cTn>
                        </p:par>
                        <p:par>
                          <p:cTn id="40" fill="hold">
                            <p:stCondLst>
                              <p:cond delay="2000"/>
                            </p:stCondLst>
                            <p:childTnLst>
                              <p:par>
                                <p:cTn id="41" presetID="42" presetClass="path" presetSubtype="0" accel="50000" decel="50000" fill="hold" nodeType="afterEffect">
                                  <p:stCondLst>
                                    <p:cond delay="0"/>
                                  </p:stCondLst>
                                  <p:childTnLst>
                                    <p:animMotion origin="layout" path="M 5.55556E-7 2.96296E-6 L 0.00017 0.32477 " pathEditMode="relative" rAng="0" ptsTypes="AA">
                                      <p:cBhvr>
                                        <p:cTn id="42" dur="2000" fill="hold"/>
                                        <p:tgtEl>
                                          <p:spTgt spid="47"/>
                                        </p:tgtEl>
                                        <p:attrNameLst>
                                          <p:attrName>ppt_x</p:attrName>
                                          <p:attrName>ppt_y</p:attrName>
                                        </p:attrNameLst>
                                      </p:cBhvr>
                                      <p:rCtr x="0" y="16227"/>
                                    </p:animMotion>
                                  </p:childTnLst>
                                </p:cTn>
                              </p:par>
                            </p:childTnLst>
                          </p:cTn>
                        </p:par>
                        <p:par>
                          <p:cTn id="43" fill="hold">
                            <p:stCondLst>
                              <p:cond delay="4000"/>
                            </p:stCondLst>
                            <p:childTnLst>
                              <p:par>
                                <p:cTn id="44" presetID="1" presetClass="entr" presetSubtype="0" fill="hold" nodeType="afterEffect">
                                  <p:stCondLst>
                                    <p:cond delay="0"/>
                                  </p:stCondLst>
                                  <p:childTnLst>
                                    <p:set>
                                      <p:cBhvr>
                                        <p:cTn id="45" dur="1" fill="hold">
                                          <p:stCondLst>
                                            <p:cond delay="0"/>
                                          </p:stCondLst>
                                        </p:cTn>
                                        <p:tgtEl>
                                          <p:spTgt spid="19"/>
                                        </p:tgtEl>
                                        <p:attrNameLst>
                                          <p:attrName>style.visibility</p:attrName>
                                        </p:attrNameLst>
                                      </p:cBhvr>
                                      <p:to>
                                        <p:strVal val="visible"/>
                                      </p:to>
                                    </p:set>
                                  </p:childTnLst>
                                </p:cTn>
                              </p:par>
                            </p:childTnLst>
                          </p:cTn>
                        </p:par>
                        <p:par>
                          <p:cTn id="46" fill="hold">
                            <p:stCondLst>
                              <p:cond delay="4000"/>
                            </p:stCondLst>
                            <p:childTnLst>
                              <p:par>
                                <p:cTn id="47" presetID="1" presetClass="exit" presetSubtype="0" fill="hold" grpId="2" nodeType="afterEffect">
                                  <p:stCondLst>
                                    <p:cond delay="0"/>
                                  </p:stCondLst>
                                  <p:childTnLst>
                                    <p:set>
                                      <p:cBhvr>
                                        <p:cTn id="48" dur="1" fill="hold">
                                          <p:stCondLst>
                                            <p:cond delay="0"/>
                                          </p:stCondLst>
                                        </p:cTn>
                                        <p:tgtEl>
                                          <p:spTgt spid="67"/>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grpId="0" nodeType="clickEffect">
                                  <p:stCondLst>
                                    <p:cond delay="0"/>
                                  </p:stCondLst>
                                  <p:childTnLst>
                                    <p:set>
                                      <p:cBhvr>
                                        <p:cTn id="52" dur="1" fill="hold">
                                          <p:stCondLst>
                                            <p:cond delay="0"/>
                                          </p:stCondLst>
                                        </p:cTn>
                                        <p:tgtEl>
                                          <p:spTgt spid="69"/>
                                        </p:tgtEl>
                                        <p:attrNameLst>
                                          <p:attrName>style.visibility</p:attrName>
                                        </p:attrNameLst>
                                      </p:cBhvr>
                                      <p:to>
                                        <p:strVal val="visible"/>
                                      </p:to>
                                    </p:set>
                                    <p:animEffect transition="in" filter="fade">
                                      <p:cBhvr>
                                        <p:cTn id="53" dur="500"/>
                                        <p:tgtEl>
                                          <p:spTgt spid="69"/>
                                        </p:tgtEl>
                                      </p:cBhvr>
                                    </p:animEffect>
                                  </p:childTnLst>
                                </p:cTn>
                              </p:par>
                              <p:par>
                                <p:cTn id="54" presetID="10" presetClass="exit" presetSubtype="0" fill="hold" nodeType="withEffect">
                                  <p:stCondLst>
                                    <p:cond delay="0"/>
                                  </p:stCondLst>
                                  <p:childTnLst>
                                    <p:animEffect transition="out" filter="fade">
                                      <p:cBhvr>
                                        <p:cTn id="55" dur="500"/>
                                        <p:tgtEl>
                                          <p:spTgt spid="30"/>
                                        </p:tgtEl>
                                      </p:cBhvr>
                                    </p:animEffect>
                                    <p:set>
                                      <p:cBhvr>
                                        <p:cTn id="56" dur="1" fill="hold">
                                          <p:stCondLst>
                                            <p:cond delay="499"/>
                                          </p:stCondLst>
                                        </p:cTn>
                                        <p:tgtEl>
                                          <p:spTgt spid="30"/>
                                        </p:tgtEl>
                                        <p:attrNameLst>
                                          <p:attrName>style.visibility</p:attrName>
                                        </p:attrNameLst>
                                      </p:cBhvr>
                                      <p:to>
                                        <p:strVal val="hidden"/>
                                      </p:to>
                                    </p:set>
                                  </p:childTnLst>
                                </p:cTn>
                              </p:par>
                              <p:par>
                                <p:cTn id="57" presetID="1" presetClass="entr" presetSubtype="0" fill="hold" nodeType="withEffect">
                                  <p:stCondLst>
                                    <p:cond delay="0"/>
                                  </p:stCondLst>
                                  <p:childTnLst>
                                    <p:set>
                                      <p:cBhvr>
                                        <p:cTn id="58" dur="1" fill="hold">
                                          <p:stCondLst>
                                            <p:cond delay="0"/>
                                          </p:stCondLst>
                                        </p:cTn>
                                        <p:tgtEl>
                                          <p:spTgt spid="3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9"/>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03"/>
                                        </p:tgtEl>
                                        <p:attrNameLst>
                                          <p:attrName>style.visibility</p:attrName>
                                        </p:attrNameLst>
                                      </p:cBhvr>
                                      <p:to>
                                        <p:strVal val="visible"/>
                                      </p:to>
                                    </p:set>
                                  </p:childTnLst>
                                </p:cTn>
                              </p:par>
                              <p:par>
                                <p:cTn id="63" presetID="42" presetClass="path" presetSubtype="0" accel="50000" decel="50000" fill="hold" grpId="1" nodeType="withEffect">
                                  <p:stCondLst>
                                    <p:cond delay="0"/>
                                  </p:stCondLst>
                                  <p:childTnLst>
                                    <p:animMotion origin="layout" path="M -4.72222E-6 2.96296E-6 L -0.41267 0.26852 " pathEditMode="relative" rAng="0" ptsTypes="AA">
                                      <p:cBhvr>
                                        <p:cTn id="64" dur="2000" fill="hold"/>
                                        <p:tgtEl>
                                          <p:spTgt spid="103"/>
                                        </p:tgtEl>
                                        <p:attrNameLst>
                                          <p:attrName>ppt_x</p:attrName>
                                          <p:attrName>ppt_y</p:attrName>
                                        </p:attrNameLst>
                                      </p:cBhvr>
                                      <p:rCtr x="-20642" y="13426"/>
                                    </p:animMotion>
                                  </p:childTnLst>
                                </p:cTn>
                              </p:par>
                            </p:childTnLst>
                          </p:cTn>
                        </p:par>
                        <p:par>
                          <p:cTn id="65" fill="hold">
                            <p:stCondLst>
                              <p:cond delay="2000"/>
                            </p:stCondLst>
                            <p:childTnLst>
                              <p:par>
                                <p:cTn id="66" presetID="1" presetClass="entr" presetSubtype="0" fill="hold" grpId="0" nodeType="afterEffect">
                                  <p:stCondLst>
                                    <p:cond delay="0"/>
                                  </p:stCondLst>
                                  <p:childTnLst>
                                    <p:set>
                                      <p:cBhvr>
                                        <p:cTn id="67" dur="1" fill="hold">
                                          <p:stCondLst>
                                            <p:cond delay="0"/>
                                          </p:stCondLst>
                                        </p:cTn>
                                        <p:tgtEl>
                                          <p:spTgt spid="108"/>
                                        </p:tgtEl>
                                        <p:attrNameLst>
                                          <p:attrName>style.visibility</p:attrName>
                                        </p:attrNameLst>
                                      </p:cBhvr>
                                      <p:to>
                                        <p:strVal val="visible"/>
                                      </p:to>
                                    </p:set>
                                  </p:childTnLst>
                                </p:cTn>
                              </p:par>
                            </p:childTnLst>
                          </p:cTn>
                        </p:par>
                        <p:par>
                          <p:cTn id="68" fill="hold">
                            <p:stCondLst>
                              <p:cond delay="2000"/>
                            </p:stCondLst>
                            <p:childTnLst>
                              <p:par>
                                <p:cTn id="69" presetID="1" presetClass="entr" presetSubtype="0" fill="hold" grpId="0" nodeType="afterEffect">
                                  <p:stCondLst>
                                    <p:cond delay="0"/>
                                  </p:stCondLst>
                                  <p:childTnLst>
                                    <p:set>
                                      <p:cBhvr>
                                        <p:cTn id="70" dur="1" fill="hold">
                                          <p:stCondLst>
                                            <p:cond delay="0"/>
                                          </p:stCondLst>
                                        </p:cTn>
                                        <p:tgtEl>
                                          <p:spTgt spid="107"/>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70"/>
                                        </p:tgtEl>
                                        <p:attrNameLst>
                                          <p:attrName>style.visibility</p:attrName>
                                        </p:attrNameLst>
                                      </p:cBhvr>
                                      <p:to>
                                        <p:strVal val="visible"/>
                                      </p:to>
                                    </p:set>
                                    <p:animEffect transition="in" filter="fade">
                                      <p:cBhvr>
                                        <p:cTn id="75" dur="500"/>
                                        <p:tgtEl>
                                          <p:spTgt spid="70"/>
                                        </p:tgtEl>
                                      </p:cBhvr>
                                    </p:animEffect>
                                  </p:childTnLst>
                                </p:cTn>
                              </p:par>
                              <p:par>
                                <p:cTn id="76" presetID="1" presetClass="exit" presetSubtype="0" fill="hold" grpId="1" nodeType="withEffect">
                                  <p:stCondLst>
                                    <p:cond delay="0"/>
                                  </p:stCondLst>
                                  <p:childTnLst>
                                    <p:set>
                                      <p:cBhvr>
                                        <p:cTn id="77" dur="1" fill="hold">
                                          <p:stCondLst>
                                            <p:cond delay="0"/>
                                          </p:stCondLst>
                                        </p:cTn>
                                        <p:tgtEl>
                                          <p:spTgt spid="109"/>
                                        </p:tgtEl>
                                        <p:attrNameLst>
                                          <p:attrName>style.visibility</p:attrName>
                                        </p:attrNameLst>
                                      </p:cBhvr>
                                      <p:to>
                                        <p:strVal val="hidden"/>
                                      </p:to>
                                    </p:set>
                                  </p:childTnLst>
                                </p:cTn>
                              </p:par>
                              <p:par>
                                <p:cTn id="78" presetID="1" presetClass="exit" presetSubtype="0" fill="hold" grpId="1" nodeType="withEffect">
                                  <p:stCondLst>
                                    <p:cond delay="0"/>
                                  </p:stCondLst>
                                  <p:childTnLst>
                                    <p:set>
                                      <p:cBhvr>
                                        <p:cTn id="79" dur="1" fill="hold">
                                          <p:stCondLst>
                                            <p:cond delay="0"/>
                                          </p:stCondLst>
                                        </p:cTn>
                                        <p:tgtEl>
                                          <p:spTgt spid="108"/>
                                        </p:tgtEl>
                                        <p:attrNameLst>
                                          <p:attrName>style.visibility</p:attrName>
                                        </p:attrNameLst>
                                      </p:cBhvr>
                                      <p:to>
                                        <p:strVal val="hidden"/>
                                      </p:to>
                                    </p:set>
                                  </p:childTnLst>
                                </p:cTn>
                              </p:par>
                              <p:par>
                                <p:cTn id="80" presetID="1" presetClass="exit" presetSubtype="0" fill="hold" grpId="1" nodeType="withEffect">
                                  <p:stCondLst>
                                    <p:cond delay="0"/>
                                  </p:stCondLst>
                                  <p:childTnLst>
                                    <p:set>
                                      <p:cBhvr>
                                        <p:cTn id="81" dur="1" fill="hold">
                                          <p:stCondLst>
                                            <p:cond delay="0"/>
                                          </p:stCondLst>
                                        </p:cTn>
                                        <p:tgtEl>
                                          <p:spTgt spid="107"/>
                                        </p:tgtEl>
                                        <p:attrNameLst>
                                          <p:attrName>style.visibility</p:attrName>
                                        </p:attrNameLst>
                                      </p:cBhvr>
                                      <p:to>
                                        <p:strVal val="hidden"/>
                                      </p:to>
                                    </p:set>
                                  </p:childTnLst>
                                </p:cTn>
                              </p:par>
                              <p:par>
                                <p:cTn id="82" presetID="1" presetClass="exit" presetSubtype="0" fill="hold" nodeType="withEffect">
                                  <p:stCondLst>
                                    <p:cond delay="0"/>
                                  </p:stCondLst>
                                  <p:childTnLst>
                                    <p:set>
                                      <p:cBhvr>
                                        <p:cTn id="83" dur="1" fill="hold">
                                          <p:stCondLst>
                                            <p:cond delay="0"/>
                                          </p:stCondLst>
                                        </p:cTn>
                                        <p:tgtEl>
                                          <p:spTgt spid="36"/>
                                        </p:tgtEl>
                                        <p:attrNameLst>
                                          <p:attrName>style.visibility</p:attrName>
                                        </p:attrNameLst>
                                      </p:cBhvr>
                                      <p:to>
                                        <p:strVal val="hidden"/>
                                      </p:to>
                                    </p:set>
                                  </p:childTnLst>
                                </p:cTn>
                              </p:par>
                              <p:par>
                                <p:cTn id="84" presetID="1" presetClass="exit" presetSubtype="0" fill="hold" grpId="2" nodeType="withEffect">
                                  <p:stCondLst>
                                    <p:cond delay="0"/>
                                  </p:stCondLst>
                                  <p:childTnLst>
                                    <p:set>
                                      <p:cBhvr>
                                        <p:cTn id="85" dur="1" fill="hold">
                                          <p:stCondLst>
                                            <p:cond delay="0"/>
                                          </p:stCondLst>
                                        </p:cTn>
                                        <p:tgtEl>
                                          <p:spTgt spid="103"/>
                                        </p:tgtEl>
                                        <p:attrNameLst>
                                          <p:attrName>style.visibility</p:attrName>
                                        </p:attrNameLst>
                                      </p:cBhvr>
                                      <p:to>
                                        <p:strVal val="hidden"/>
                                      </p:to>
                                    </p:set>
                                  </p:childTnLst>
                                </p:cTn>
                              </p:par>
                              <p:par>
                                <p:cTn id="86" presetID="1" presetClass="entr" presetSubtype="0" fill="hold" grpId="1" nodeType="withEffect">
                                  <p:stCondLst>
                                    <p:cond delay="0"/>
                                  </p:stCondLst>
                                  <p:childTnLst>
                                    <p:set>
                                      <p:cBhvr>
                                        <p:cTn id="87" dur="1" fill="hold">
                                          <p:stCondLst>
                                            <p:cond delay="0"/>
                                          </p:stCondLst>
                                        </p:cTn>
                                        <p:tgtEl>
                                          <p:spTgt spid="88"/>
                                        </p:tgtEl>
                                        <p:attrNameLst>
                                          <p:attrName>style.visibility</p:attrName>
                                        </p:attrNameLst>
                                      </p:cBhvr>
                                      <p:to>
                                        <p:strVal val="visible"/>
                                      </p:to>
                                    </p:set>
                                  </p:childTnLst>
                                </p:cTn>
                              </p:par>
                              <p:par>
                                <p:cTn id="88" presetID="1" presetClass="entr" presetSubtype="0" fill="hold" nodeType="withEffect">
                                  <p:stCondLst>
                                    <p:cond delay="0"/>
                                  </p:stCondLst>
                                  <p:childTnLst>
                                    <p:set>
                                      <p:cBhvr>
                                        <p:cTn id="89" dur="1" fill="hold">
                                          <p:stCondLst>
                                            <p:cond delay="0"/>
                                          </p:stCondLst>
                                        </p:cTn>
                                        <p:tgtEl>
                                          <p:spTgt spid="30"/>
                                        </p:tgtEl>
                                        <p:attrNameLst>
                                          <p:attrName>style.visibility</p:attrName>
                                        </p:attrNameLst>
                                      </p:cBhvr>
                                      <p:to>
                                        <p:strVal val="visible"/>
                                      </p:to>
                                    </p:set>
                                  </p:childTnLst>
                                </p:cTn>
                              </p:par>
                            </p:childTnLst>
                          </p:cTn>
                        </p:par>
                        <p:par>
                          <p:cTn id="90" fill="hold">
                            <p:stCondLst>
                              <p:cond delay="500"/>
                            </p:stCondLst>
                            <p:childTnLst>
                              <p:par>
                                <p:cTn id="91" presetID="42" presetClass="path" presetSubtype="0" accel="50000" decel="50000" fill="hold" grpId="0" nodeType="afterEffect">
                                  <p:stCondLst>
                                    <p:cond delay="0"/>
                                  </p:stCondLst>
                                  <p:childTnLst>
                                    <p:animMotion origin="layout" path="M 3.33333E-6 4.81481E-6 L -0.34358 0.33032 " pathEditMode="relative" rAng="0" ptsTypes="AA">
                                      <p:cBhvr>
                                        <p:cTn id="92" dur="2000" fill="hold"/>
                                        <p:tgtEl>
                                          <p:spTgt spid="88"/>
                                        </p:tgtEl>
                                        <p:attrNameLst>
                                          <p:attrName>ppt_x</p:attrName>
                                          <p:attrName>ppt_y</p:attrName>
                                        </p:attrNameLst>
                                      </p:cBhvr>
                                      <p:rCtr x="-17188" y="16505"/>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6" grpId="0" animBg="1"/>
      <p:bldP spid="32" grpId="0" animBg="1"/>
      <p:bldP spid="67" grpId="0" animBg="1"/>
      <p:bldP spid="67" grpId="1" animBg="1"/>
      <p:bldP spid="67" grpId="2" animBg="1"/>
      <p:bldP spid="68" grpId="0"/>
      <p:bldP spid="69" grpId="0"/>
      <p:bldP spid="70" grpId="0"/>
      <p:bldP spid="88" grpId="0" animBg="1"/>
      <p:bldP spid="88" grpId="1" animBg="1"/>
      <p:bldP spid="103" grpId="0" animBg="1"/>
      <p:bldP spid="103" grpId="1" animBg="1"/>
      <p:bldP spid="103" grpId="2" animBg="1"/>
      <p:bldP spid="108" grpId="0" animBg="1"/>
      <p:bldP spid="108" grpId="1" animBg="1"/>
      <p:bldP spid="109" grpId="0" animBg="1"/>
      <p:bldP spid="109" grpId="1" animBg="1"/>
      <p:bldP spid="107" grpId="0" animBg="1"/>
      <p:bldP spid="107"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ular Callout 12"/>
          <p:cNvSpPr/>
          <p:nvPr/>
        </p:nvSpPr>
        <p:spPr>
          <a:xfrm>
            <a:off x="6917690" y="4126222"/>
            <a:ext cx="2716731" cy="2035335"/>
          </a:xfrm>
          <a:prstGeom prst="wedgeRectCallout">
            <a:avLst>
              <a:gd name="adj1" fmla="val 55498"/>
              <a:gd name="adj2" fmla="val 17111"/>
            </a:avLst>
          </a:prstGeom>
          <a:solidFill>
            <a:schemeClr val="accent4">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ular Callout 9"/>
          <p:cNvSpPr/>
          <p:nvPr/>
        </p:nvSpPr>
        <p:spPr>
          <a:xfrm>
            <a:off x="6917690" y="1874679"/>
            <a:ext cx="2729661" cy="2035335"/>
          </a:xfrm>
          <a:prstGeom prst="wedgeRectCallout">
            <a:avLst>
              <a:gd name="adj1" fmla="val 55498"/>
              <a:gd name="adj2" fmla="val 17111"/>
            </a:avLst>
          </a:prstGeom>
          <a:solidFill>
            <a:schemeClr val="bg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a:lstStyle/>
          <a:p>
            <a:r>
              <a:rPr lang="en-US" dirty="0" smtClean="0"/>
              <a:t>Normal Activity – PDW Processing</a:t>
            </a:r>
            <a:endParaRPr lang="en-US" dirty="0"/>
          </a:p>
        </p:txBody>
      </p:sp>
      <p:cxnSp>
        <p:nvCxnSpPr>
          <p:cNvPr id="8" name="Straight Connector 7"/>
          <p:cNvCxnSpPr/>
          <p:nvPr/>
        </p:nvCxnSpPr>
        <p:spPr>
          <a:xfrm flipV="1">
            <a:off x="7016117" y="3963564"/>
            <a:ext cx="3706139" cy="32187"/>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839972" y="1903329"/>
            <a:ext cx="3186395" cy="382308"/>
          </a:xfrm>
          <a:prstGeom prst="rect">
            <a:avLst/>
          </a:prstGeom>
          <a:noFill/>
        </p:spPr>
        <p:txBody>
          <a:bodyPr wrap="square" rtlCol="0">
            <a:spAutoFit/>
          </a:bodyPr>
          <a:lstStyle/>
          <a:p>
            <a:r>
              <a:rPr lang="en-US" sz="1836" dirty="0"/>
              <a:t>Landing Zone Server - Prod</a:t>
            </a:r>
          </a:p>
        </p:txBody>
      </p:sp>
      <p:sp>
        <p:nvSpPr>
          <p:cNvPr id="14" name="TextBox 13"/>
          <p:cNvSpPr txBox="1"/>
          <p:nvPr/>
        </p:nvSpPr>
        <p:spPr>
          <a:xfrm>
            <a:off x="6988826" y="4111761"/>
            <a:ext cx="3186395" cy="382308"/>
          </a:xfrm>
          <a:prstGeom prst="rect">
            <a:avLst/>
          </a:prstGeom>
          <a:noFill/>
        </p:spPr>
        <p:txBody>
          <a:bodyPr wrap="square" rtlCol="0">
            <a:spAutoFit/>
          </a:bodyPr>
          <a:lstStyle/>
          <a:p>
            <a:r>
              <a:rPr lang="en-US" sz="1836" dirty="0"/>
              <a:t>Landing Zone Server - DR</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08091" y="2534227"/>
            <a:ext cx="922603" cy="922603"/>
          </a:xfrm>
          <a:prstGeom prst="rect">
            <a:avLst/>
          </a:prstGeom>
          <a:effectLst>
            <a:outerShdw blurRad="50800" dist="50800" dir="5400000" algn="ctr" rotWithShape="0">
              <a:srgbClr val="000000">
                <a:alpha val="52000"/>
              </a:srgbClr>
            </a:outerShdw>
          </a:effectLst>
        </p:spPr>
      </p:pic>
      <p:pic>
        <p:nvPicPr>
          <p:cNvPr id="18" name="Picture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37472" y="4663017"/>
            <a:ext cx="922603" cy="922603"/>
          </a:xfrm>
          <a:prstGeom prst="rect">
            <a:avLst/>
          </a:prstGeom>
          <a:effectLst>
            <a:outerShdw blurRad="50800" dist="50800" dir="5400000" algn="ctr" rotWithShape="0">
              <a:srgbClr val="000000">
                <a:alpha val="52000"/>
              </a:srgbClr>
            </a:outerShdw>
          </a:effectLst>
        </p:spPr>
      </p:pic>
      <p:pic>
        <p:nvPicPr>
          <p:cNvPr id="22" name="Picture 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22489" y="4818450"/>
            <a:ext cx="611601" cy="611601"/>
          </a:xfrm>
          <a:prstGeom prst="rect">
            <a:avLst/>
          </a:prstGeom>
        </p:spPr>
      </p:pic>
      <p:pic>
        <p:nvPicPr>
          <p:cNvPr id="23" name="Picture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72650" y="2548549"/>
            <a:ext cx="611601" cy="611601"/>
          </a:xfrm>
          <a:prstGeom prst="rect">
            <a:avLst/>
          </a:prstGeom>
        </p:spPr>
      </p:pic>
      <p:pic>
        <p:nvPicPr>
          <p:cNvPr id="24" name="Picture 23"/>
          <p:cNvPicPr>
            <a:picLocks noChangeAspect="1"/>
          </p:cNvPicPr>
          <p:nvPr/>
        </p:nvPicPr>
        <p:blipFill>
          <a:blip r:embed="rId4"/>
          <a:stretch>
            <a:fillRect/>
          </a:stretch>
        </p:blipFill>
        <p:spPr>
          <a:xfrm>
            <a:off x="9813924" y="2069694"/>
            <a:ext cx="910573" cy="1934968"/>
          </a:xfrm>
          <a:prstGeom prst="rect">
            <a:avLst/>
          </a:prstGeom>
        </p:spPr>
      </p:pic>
      <p:pic>
        <p:nvPicPr>
          <p:cNvPr id="25" name="Picture 24"/>
          <p:cNvPicPr>
            <a:picLocks noChangeAspect="1"/>
          </p:cNvPicPr>
          <p:nvPr/>
        </p:nvPicPr>
        <p:blipFill>
          <a:blip r:embed="rId4"/>
          <a:stretch>
            <a:fillRect/>
          </a:stretch>
        </p:blipFill>
        <p:spPr>
          <a:xfrm>
            <a:off x="9804059" y="4226589"/>
            <a:ext cx="910573" cy="1934968"/>
          </a:xfrm>
          <a:prstGeom prst="rect">
            <a:avLst/>
          </a:prstGeom>
        </p:spPr>
      </p:pic>
      <p:sp>
        <p:nvSpPr>
          <p:cNvPr id="42" name="TextBox 41"/>
          <p:cNvSpPr txBox="1"/>
          <p:nvPr/>
        </p:nvSpPr>
        <p:spPr>
          <a:xfrm>
            <a:off x="8334076" y="5517903"/>
            <a:ext cx="1300345" cy="286306"/>
          </a:xfrm>
          <a:prstGeom prst="rect">
            <a:avLst/>
          </a:prstGeom>
          <a:noFill/>
        </p:spPr>
        <p:txBody>
          <a:bodyPr wrap="square" rtlCol="0">
            <a:spAutoFit/>
          </a:bodyPr>
          <a:lstStyle/>
          <a:p>
            <a:r>
              <a:rPr lang="en-US" sz="1224" dirty="0"/>
              <a:t>Load (SSIS)</a:t>
            </a:r>
          </a:p>
        </p:txBody>
      </p:sp>
      <p:sp>
        <p:nvSpPr>
          <p:cNvPr id="44" name="TextBox 43"/>
          <p:cNvSpPr txBox="1"/>
          <p:nvPr/>
        </p:nvSpPr>
        <p:spPr>
          <a:xfrm>
            <a:off x="8252878" y="3252293"/>
            <a:ext cx="1300345" cy="286306"/>
          </a:xfrm>
          <a:prstGeom prst="rect">
            <a:avLst/>
          </a:prstGeom>
          <a:noFill/>
        </p:spPr>
        <p:txBody>
          <a:bodyPr wrap="square" rtlCol="0">
            <a:spAutoFit/>
          </a:bodyPr>
          <a:lstStyle/>
          <a:p>
            <a:r>
              <a:rPr lang="en-US" sz="1224" dirty="0"/>
              <a:t>Load (SSIS)</a:t>
            </a:r>
          </a:p>
        </p:txBody>
      </p:sp>
      <p:pic>
        <p:nvPicPr>
          <p:cNvPr id="46" name="Picture 4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40672" y="2480165"/>
            <a:ext cx="339344" cy="452458"/>
          </a:xfrm>
          <a:prstGeom prst="rect">
            <a:avLst/>
          </a:prstGeom>
        </p:spPr>
      </p:pic>
      <p:pic>
        <p:nvPicPr>
          <p:cNvPr id="47" name="Picture 4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02866" y="4987728"/>
            <a:ext cx="339344" cy="452458"/>
          </a:xfrm>
          <a:prstGeom prst="rect">
            <a:avLst/>
          </a:prstGeom>
        </p:spPr>
      </p:pic>
      <p:sp>
        <p:nvSpPr>
          <p:cNvPr id="53" name="TextBox 52"/>
          <p:cNvSpPr txBox="1"/>
          <p:nvPr/>
        </p:nvSpPr>
        <p:spPr>
          <a:xfrm>
            <a:off x="1912588" y="1963770"/>
            <a:ext cx="4081814" cy="531812"/>
          </a:xfrm>
          <a:prstGeom prst="rect">
            <a:avLst/>
          </a:prstGeom>
          <a:noFill/>
        </p:spPr>
        <p:txBody>
          <a:bodyPr wrap="square" rtlCol="0">
            <a:spAutoFit/>
          </a:bodyPr>
          <a:lstStyle/>
          <a:p>
            <a:r>
              <a:rPr lang="en-US" sz="1428" dirty="0"/>
              <a:t>Step 5</a:t>
            </a:r>
            <a:r>
              <a:rPr lang="en-US" sz="1428" dirty="0"/>
              <a:t>: </a:t>
            </a:r>
            <a:r>
              <a:rPr lang="en-US" sz="1428" dirty="0"/>
              <a:t>PDW Load </a:t>
            </a:r>
            <a:r>
              <a:rPr lang="en-US" sz="1428" dirty="0"/>
              <a:t>Process reads ETL Control Detail to determine what needs to be completed</a:t>
            </a:r>
            <a:endParaRPr lang="en-US" sz="1428" dirty="0"/>
          </a:p>
        </p:txBody>
      </p:sp>
      <p:sp>
        <p:nvSpPr>
          <p:cNvPr id="54" name="TextBox 53"/>
          <p:cNvSpPr txBox="1"/>
          <p:nvPr/>
        </p:nvSpPr>
        <p:spPr>
          <a:xfrm>
            <a:off x="1903271" y="3495478"/>
            <a:ext cx="5007190" cy="766513"/>
          </a:xfrm>
          <a:prstGeom prst="rect">
            <a:avLst/>
          </a:prstGeom>
          <a:noFill/>
        </p:spPr>
        <p:txBody>
          <a:bodyPr wrap="square" rtlCol="0">
            <a:spAutoFit/>
          </a:bodyPr>
          <a:lstStyle/>
          <a:p>
            <a:r>
              <a:rPr lang="en-US" sz="1428" dirty="0"/>
              <a:t>Step </a:t>
            </a:r>
            <a:r>
              <a:rPr lang="en-US" sz="1428" dirty="0"/>
              <a:t>8: Verification/Notification/Clean up – Based on the ETL Control Detail Table, the DFS folder is cleaned up it all PDW’s have processed the file </a:t>
            </a:r>
            <a:endParaRPr lang="en-US" sz="1428" dirty="0"/>
          </a:p>
        </p:txBody>
      </p:sp>
      <p:sp>
        <p:nvSpPr>
          <p:cNvPr id="35" name="TextBox 34"/>
          <p:cNvSpPr txBox="1"/>
          <p:nvPr/>
        </p:nvSpPr>
        <p:spPr>
          <a:xfrm>
            <a:off x="1907631" y="2547583"/>
            <a:ext cx="4081814" cy="542399"/>
          </a:xfrm>
          <a:prstGeom prst="rect">
            <a:avLst/>
          </a:prstGeom>
          <a:noFill/>
        </p:spPr>
        <p:txBody>
          <a:bodyPr wrap="square" rtlCol="0">
            <a:spAutoFit/>
          </a:bodyPr>
          <a:lstStyle/>
          <a:p>
            <a:r>
              <a:rPr lang="en-US" sz="1428" dirty="0"/>
              <a:t>Step </a:t>
            </a:r>
            <a:r>
              <a:rPr lang="en-US" sz="1428" dirty="0"/>
              <a:t>6: Each PDW is loaded with the Data  it needs</a:t>
            </a:r>
            <a:endParaRPr lang="en-US" sz="1428" dirty="0"/>
          </a:p>
        </p:txBody>
      </p:sp>
      <p:sp>
        <p:nvSpPr>
          <p:cNvPr id="36" name="TextBox 35"/>
          <p:cNvSpPr txBox="1"/>
          <p:nvPr/>
        </p:nvSpPr>
        <p:spPr>
          <a:xfrm>
            <a:off x="1903272" y="2911665"/>
            <a:ext cx="4081814" cy="542399"/>
          </a:xfrm>
          <a:prstGeom prst="rect">
            <a:avLst/>
          </a:prstGeom>
          <a:noFill/>
        </p:spPr>
        <p:txBody>
          <a:bodyPr wrap="square" rtlCol="0">
            <a:spAutoFit/>
          </a:bodyPr>
          <a:lstStyle/>
          <a:p>
            <a:r>
              <a:rPr lang="en-US" sz="1428" dirty="0"/>
              <a:t>Step </a:t>
            </a:r>
            <a:r>
              <a:rPr lang="en-US" sz="1428" dirty="0"/>
              <a:t>7: Each ETL Updated the Control Table indicating it processed the File</a:t>
            </a:r>
            <a:endParaRPr lang="en-US" sz="1428" dirty="0"/>
          </a:p>
        </p:txBody>
      </p:sp>
      <p:grpSp>
        <p:nvGrpSpPr>
          <p:cNvPr id="37" name="Group 36"/>
          <p:cNvGrpSpPr/>
          <p:nvPr/>
        </p:nvGrpSpPr>
        <p:grpSpPr>
          <a:xfrm>
            <a:off x="1858751" y="4243502"/>
            <a:ext cx="4885136" cy="2149096"/>
            <a:chOff x="-4225561" y="3227624"/>
            <a:chExt cx="4789784" cy="2107148"/>
          </a:xfrm>
        </p:grpSpPr>
        <p:grpSp>
          <p:nvGrpSpPr>
            <p:cNvPr id="38" name="Group 37"/>
            <p:cNvGrpSpPr/>
            <p:nvPr/>
          </p:nvGrpSpPr>
          <p:grpSpPr>
            <a:xfrm>
              <a:off x="-4225561" y="3227624"/>
              <a:ext cx="4789784" cy="2107148"/>
              <a:chOff x="-4225561" y="3227624"/>
              <a:chExt cx="4789784" cy="2107148"/>
            </a:xfrm>
          </p:grpSpPr>
          <p:grpSp>
            <p:nvGrpSpPr>
              <p:cNvPr id="63" name="Group 62"/>
              <p:cNvGrpSpPr/>
              <p:nvPr/>
            </p:nvGrpSpPr>
            <p:grpSpPr>
              <a:xfrm>
                <a:off x="-4225561" y="3227624"/>
                <a:ext cx="4789784" cy="2107148"/>
                <a:chOff x="2105348" y="4108015"/>
                <a:chExt cx="2775698" cy="2107148"/>
              </a:xfrm>
            </p:grpSpPr>
            <p:grpSp>
              <p:nvGrpSpPr>
                <p:cNvPr id="67" name="Group 66"/>
                <p:cNvGrpSpPr/>
                <p:nvPr/>
              </p:nvGrpSpPr>
              <p:grpSpPr>
                <a:xfrm>
                  <a:off x="2105348" y="4108015"/>
                  <a:ext cx="2775698" cy="2107148"/>
                  <a:chOff x="1110502" y="2900284"/>
                  <a:chExt cx="4156324" cy="2107148"/>
                </a:xfrm>
              </p:grpSpPr>
              <p:sp>
                <p:nvSpPr>
                  <p:cNvPr id="77" name="Rectangle 76"/>
                  <p:cNvSpPr/>
                  <p:nvPr/>
                </p:nvSpPr>
                <p:spPr>
                  <a:xfrm>
                    <a:off x="1110502" y="2900284"/>
                    <a:ext cx="4156324" cy="20543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836" dirty="0"/>
                      <a:t>ETL Control Detail Table</a:t>
                    </a:r>
                    <a:endParaRPr lang="en-US" sz="1836" dirty="0"/>
                  </a:p>
                </p:txBody>
              </p:sp>
              <p:sp>
                <p:nvSpPr>
                  <p:cNvPr id="78" name="Rectangle 77"/>
                  <p:cNvSpPr/>
                  <p:nvPr/>
                </p:nvSpPr>
                <p:spPr>
                  <a:xfrm>
                    <a:off x="1124294" y="3105719"/>
                    <a:ext cx="4133351" cy="190171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sp>
              <p:nvSpPr>
                <p:cNvPr id="68" name="Rectangle 67"/>
                <p:cNvSpPr/>
                <p:nvPr/>
              </p:nvSpPr>
              <p:spPr>
                <a:xfrm>
                  <a:off x="2119140" y="4331931"/>
                  <a:ext cx="689740" cy="25201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err="1">
                      <a:solidFill>
                        <a:schemeClr val="tx1"/>
                      </a:solidFill>
                    </a:rPr>
                    <a:t>Extract_Table</a:t>
                  </a:r>
                  <a:endParaRPr lang="en-US" sz="1224" dirty="0">
                    <a:solidFill>
                      <a:schemeClr val="tx1"/>
                    </a:solidFill>
                  </a:endParaRPr>
                </a:p>
              </p:txBody>
            </p:sp>
            <p:sp>
              <p:nvSpPr>
                <p:cNvPr id="69" name="Rectangle 68"/>
                <p:cNvSpPr/>
                <p:nvPr/>
              </p:nvSpPr>
              <p:spPr>
                <a:xfrm>
                  <a:off x="2781936" y="4331931"/>
                  <a:ext cx="414294" cy="25201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Status</a:t>
                  </a:r>
                  <a:endParaRPr lang="en-US" sz="1224" dirty="0">
                    <a:solidFill>
                      <a:schemeClr val="tx1"/>
                    </a:solidFill>
                  </a:endParaRPr>
                </a:p>
              </p:txBody>
            </p:sp>
            <p:grpSp>
              <p:nvGrpSpPr>
                <p:cNvPr id="70" name="Group 69"/>
                <p:cNvGrpSpPr/>
                <p:nvPr/>
              </p:nvGrpSpPr>
              <p:grpSpPr>
                <a:xfrm>
                  <a:off x="2119139" y="4578360"/>
                  <a:ext cx="1074275" cy="259521"/>
                  <a:chOff x="1110501" y="5588850"/>
                  <a:chExt cx="1074275" cy="259521"/>
                </a:xfrm>
              </p:grpSpPr>
              <p:sp>
                <p:nvSpPr>
                  <p:cNvPr id="75" name="Rectangle 74"/>
                  <p:cNvSpPr/>
                  <p:nvPr/>
                </p:nvSpPr>
                <p:spPr>
                  <a:xfrm>
                    <a:off x="1110501" y="5596353"/>
                    <a:ext cx="668927"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Patient</a:t>
                    </a:r>
                    <a:endParaRPr lang="en-US" sz="1224" dirty="0">
                      <a:solidFill>
                        <a:schemeClr val="tx1"/>
                      </a:solidFill>
                    </a:endParaRPr>
                  </a:p>
                </p:txBody>
              </p:sp>
              <p:sp>
                <p:nvSpPr>
                  <p:cNvPr id="76" name="Rectangle 75"/>
                  <p:cNvSpPr/>
                  <p:nvPr/>
                </p:nvSpPr>
                <p:spPr>
                  <a:xfrm>
                    <a:off x="1770482" y="5588850"/>
                    <a:ext cx="414294"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grpSp>
            <p:grpSp>
              <p:nvGrpSpPr>
                <p:cNvPr id="71" name="Group 70"/>
                <p:cNvGrpSpPr/>
                <p:nvPr/>
              </p:nvGrpSpPr>
              <p:grpSpPr>
                <a:xfrm>
                  <a:off x="2119475" y="4825844"/>
                  <a:ext cx="1073939" cy="262584"/>
                  <a:chOff x="1110837" y="5598146"/>
                  <a:chExt cx="1073939" cy="262584"/>
                </a:xfrm>
              </p:grpSpPr>
              <p:sp>
                <p:nvSpPr>
                  <p:cNvPr id="73" name="Rectangle 72"/>
                  <p:cNvSpPr/>
                  <p:nvPr/>
                </p:nvSpPr>
                <p:spPr>
                  <a:xfrm>
                    <a:off x="1110837" y="5598146"/>
                    <a:ext cx="668927"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Procedure</a:t>
                    </a:r>
                    <a:endParaRPr lang="en-US" sz="1224" dirty="0">
                      <a:solidFill>
                        <a:schemeClr val="tx1"/>
                      </a:solidFill>
                    </a:endParaRPr>
                  </a:p>
                </p:txBody>
              </p:sp>
              <p:sp>
                <p:nvSpPr>
                  <p:cNvPr id="74" name="Rectangle 73"/>
                  <p:cNvSpPr/>
                  <p:nvPr/>
                </p:nvSpPr>
                <p:spPr>
                  <a:xfrm>
                    <a:off x="1770482" y="5608712"/>
                    <a:ext cx="414294"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grpSp>
            <p:sp>
              <p:nvSpPr>
                <p:cNvPr id="72" name="Rectangle 71"/>
                <p:cNvSpPr/>
                <p:nvPr/>
              </p:nvSpPr>
              <p:spPr>
                <a:xfrm>
                  <a:off x="2115794" y="5082688"/>
                  <a:ext cx="659716"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Patient</a:t>
                  </a:r>
                  <a:endParaRPr lang="en-US" sz="1224" dirty="0">
                    <a:solidFill>
                      <a:schemeClr val="tx1"/>
                    </a:solidFill>
                  </a:endParaRPr>
                </a:p>
              </p:txBody>
            </p:sp>
          </p:grpSp>
          <p:sp>
            <p:nvSpPr>
              <p:cNvPr id="64" name="Rectangle 63"/>
              <p:cNvSpPr/>
              <p:nvPr/>
            </p:nvSpPr>
            <p:spPr>
              <a:xfrm>
                <a:off x="-2347979" y="3442820"/>
                <a:ext cx="1193582" cy="25201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err="1">
                    <a:solidFill>
                      <a:schemeClr val="tx1"/>
                    </a:solidFill>
                  </a:rPr>
                  <a:t>FileName</a:t>
                </a:r>
                <a:endParaRPr lang="en-US" sz="1224" dirty="0">
                  <a:solidFill>
                    <a:schemeClr val="tx1"/>
                  </a:solidFill>
                </a:endParaRPr>
              </a:p>
            </p:txBody>
          </p:sp>
          <p:sp>
            <p:nvSpPr>
              <p:cNvPr id="65" name="Rectangle 64"/>
              <p:cNvSpPr/>
              <p:nvPr/>
            </p:nvSpPr>
            <p:spPr>
              <a:xfrm>
                <a:off x="-1170130" y="3444662"/>
                <a:ext cx="909603" cy="25201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err="1">
                    <a:solidFill>
                      <a:schemeClr val="tx1"/>
                    </a:solidFill>
                  </a:rPr>
                  <a:t>PDWStatus</a:t>
                </a:r>
                <a:endParaRPr lang="en-US" sz="1224" dirty="0">
                  <a:solidFill>
                    <a:schemeClr val="tx1"/>
                  </a:solidFill>
                </a:endParaRPr>
              </a:p>
            </p:txBody>
          </p:sp>
          <p:sp>
            <p:nvSpPr>
              <p:cNvPr id="66" name="Rectangle 65"/>
              <p:cNvSpPr/>
              <p:nvPr/>
            </p:nvSpPr>
            <p:spPr>
              <a:xfrm>
                <a:off x="-255467" y="3444350"/>
                <a:ext cx="795186" cy="25201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err="1">
                    <a:solidFill>
                      <a:schemeClr val="tx1"/>
                    </a:solidFill>
                  </a:rPr>
                  <a:t>DRStatus</a:t>
                </a:r>
                <a:endParaRPr lang="en-US" sz="1224" dirty="0">
                  <a:solidFill>
                    <a:schemeClr val="tx1"/>
                  </a:solidFill>
                </a:endParaRPr>
              </a:p>
            </p:txBody>
          </p:sp>
        </p:grpSp>
        <p:grpSp>
          <p:nvGrpSpPr>
            <p:cNvPr id="39" name="Group 38"/>
            <p:cNvGrpSpPr/>
            <p:nvPr/>
          </p:nvGrpSpPr>
          <p:grpSpPr>
            <a:xfrm>
              <a:off x="-2356905" y="3950939"/>
              <a:ext cx="2887698" cy="253860"/>
              <a:chOff x="-3167275" y="2332377"/>
              <a:chExt cx="2887698" cy="253860"/>
            </a:xfrm>
          </p:grpSpPr>
          <p:sp>
            <p:nvSpPr>
              <p:cNvPr id="60" name="Rectangle 59"/>
              <p:cNvSpPr/>
              <p:nvPr/>
            </p:nvSpPr>
            <p:spPr>
              <a:xfrm>
                <a:off x="-3167275" y="2332377"/>
                <a:ext cx="1193582"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Proc20130903x</a:t>
                </a:r>
                <a:endParaRPr lang="en-US" sz="1224" dirty="0">
                  <a:solidFill>
                    <a:schemeClr val="tx1"/>
                  </a:solidFill>
                </a:endParaRPr>
              </a:p>
            </p:txBody>
          </p:sp>
          <p:sp>
            <p:nvSpPr>
              <p:cNvPr id="61" name="Rectangle 60"/>
              <p:cNvSpPr/>
              <p:nvPr/>
            </p:nvSpPr>
            <p:spPr>
              <a:xfrm>
                <a:off x="-1989426" y="2334219"/>
                <a:ext cx="909603"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sp>
            <p:nvSpPr>
              <p:cNvPr id="62" name="Rectangle 61"/>
              <p:cNvSpPr/>
              <p:nvPr/>
            </p:nvSpPr>
            <p:spPr>
              <a:xfrm>
                <a:off x="-1074763" y="2333907"/>
                <a:ext cx="795186"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grpSp>
        <p:grpSp>
          <p:nvGrpSpPr>
            <p:cNvPr id="40" name="Group 39"/>
            <p:cNvGrpSpPr/>
            <p:nvPr/>
          </p:nvGrpSpPr>
          <p:grpSpPr>
            <a:xfrm>
              <a:off x="-2356905" y="4199192"/>
              <a:ext cx="2887698" cy="253860"/>
              <a:chOff x="-3167275" y="2332377"/>
              <a:chExt cx="2887698" cy="253860"/>
            </a:xfrm>
          </p:grpSpPr>
          <p:sp>
            <p:nvSpPr>
              <p:cNvPr id="57" name="Rectangle 56"/>
              <p:cNvSpPr/>
              <p:nvPr/>
            </p:nvSpPr>
            <p:spPr>
              <a:xfrm>
                <a:off x="-3167275" y="2332377"/>
                <a:ext cx="1193582"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Pat20130903a</a:t>
                </a:r>
                <a:endParaRPr lang="en-US" sz="1224" dirty="0">
                  <a:solidFill>
                    <a:schemeClr val="tx1"/>
                  </a:solidFill>
                </a:endParaRPr>
              </a:p>
            </p:txBody>
          </p:sp>
          <p:sp>
            <p:nvSpPr>
              <p:cNvPr id="58" name="Rectangle 57"/>
              <p:cNvSpPr/>
              <p:nvPr/>
            </p:nvSpPr>
            <p:spPr>
              <a:xfrm>
                <a:off x="-1989426" y="2334219"/>
                <a:ext cx="909603"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4" dirty="0">
                  <a:solidFill>
                    <a:schemeClr val="tx1"/>
                  </a:solidFill>
                </a:endParaRPr>
              </a:p>
            </p:txBody>
          </p:sp>
          <p:sp>
            <p:nvSpPr>
              <p:cNvPr id="59" name="Rectangle 58"/>
              <p:cNvSpPr/>
              <p:nvPr/>
            </p:nvSpPr>
            <p:spPr>
              <a:xfrm>
                <a:off x="-1074763" y="2333907"/>
                <a:ext cx="795186"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4" dirty="0">
                  <a:solidFill>
                    <a:schemeClr val="tx1"/>
                  </a:solidFill>
                </a:endParaRPr>
              </a:p>
            </p:txBody>
          </p:sp>
        </p:grpSp>
        <p:grpSp>
          <p:nvGrpSpPr>
            <p:cNvPr id="45" name="Group 44"/>
            <p:cNvGrpSpPr/>
            <p:nvPr/>
          </p:nvGrpSpPr>
          <p:grpSpPr>
            <a:xfrm>
              <a:off x="-2353679" y="3704551"/>
              <a:ext cx="2887698" cy="253860"/>
              <a:chOff x="-3167275" y="2332377"/>
              <a:chExt cx="2887698" cy="253860"/>
            </a:xfrm>
          </p:grpSpPr>
          <p:sp>
            <p:nvSpPr>
              <p:cNvPr id="48" name="Rectangle 47"/>
              <p:cNvSpPr/>
              <p:nvPr/>
            </p:nvSpPr>
            <p:spPr>
              <a:xfrm>
                <a:off x="-3167275" y="2332377"/>
                <a:ext cx="1193582"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Pat20130903x</a:t>
                </a:r>
                <a:endParaRPr lang="en-US" sz="1224" dirty="0">
                  <a:solidFill>
                    <a:schemeClr val="tx1"/>
                  </a:solidFill>
                </a:endParaRPr>
              </a:p>
            </p:txBody>
          </p:sp>
          <p:sp>
            <p:nvSpPr>
              <p:cNvPr id="55" name="Rectangle 54"/>
              <p:cNvSpPr/>
              <p:nvPr/>
            </p:nvSpPr>
            <p:spPr>
              <a:xfrm>
                <a:off x="-1989426" y="2334219"/>
                <a:ext cx="909603"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sp>
            <p:nvSpPr>
              <p:cNvPr id="56" name="Rectangle 55"/>
              <p:cNvSpPr/>
              <p:nvPr/>
            </p:nvSpPr>
            <p:spPr>
              <a:xfrm>
                <a:off x="-1074763" y="2333907"/>
                <a:ext cx="795186"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grpSp>
      </p:grpSp>
      <p:sp>
        <p:nvSpPr>
          <p:cNvPr id="79" name="Rectangle 78"/>
          <p:cNvSpPr/>
          <p:nvPr/>
        </p:nvSpPr>
        <p:spPr>
          <a:xfrm>
            <a:off x="3038214" y="5241603"/>
            <a:ext cx="740454"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New</a:t>
            </a:r>
            <a:endParaRPr lang="en-US" sz="1224" dirty="0">
              <a:solidFill>
                <a:schemeClr val="tx1"/>
              </a:solidFill>
            </a:endParaRPr>
          </a:p>
        </p:txBody>
      </p:sp>
      <p:sp>
        <p:nvSpPr>
          <p:cNvPr id="80" name="Rectangle 79"/>
          <p:cNvSpPr/>
          <p:nvPr/>
        </p:nvSpPr>
        <p:spPr>
          <a:xfrm>
            <a:off x="3761136" y="5241603"/>
            <a:ext cx="1217343"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Pat20130903a</a:t>
            </a:r>
            <a:endParaRPr lang="en-US" sz="1224" dirty="0">
              <a:solidFill>
                <a:schemeClr val="tx1"/>
              </a:solidFill>
            </a:endParaRPr>
          </a:p>
        </p:txBody>
      </p:sp>
      <p:sp>
        <p:nvSpPr>
          <p:cNvPr id="81" name="Rectangle 80"/>
          <p:cNvSpPr/>
          <p:nvPr/>
        </p:nvSpPr>
        <p:spPr>
          <a:xfrm>
            <a:off x="3763717" y="5239215"/>
            <a:ext cx="1217343"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Pat20130903a</a:t>
            </a:r>
            <a:endParaRPr lang="en-US" sz="1224" dirty="0">
              <a:solidFill>
                <a:schemeClr val="tx1"/>
              </a:solidFill>
            </a:endParaRPr>
          </a:p>
        </p:txBody>
      </p:sp>
      <p:sp>
        <p:nvSpPr>
          <p:cNvPr id="82" name="Rectangle 81"/>
          <p:cNvSpPr/>
          <p:nvPr/>
        </p:nvSpPr>
        <p:spPr>
          <a:xfrm>
            <a:off x="8325269" y="3579881"/>
            <a:ext cx="927711"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sp>
        <p:nvSpPr>
          <p:cNvPr id="83" name="Rectangle 82"/>
          <p:cNvSpPr/>
          <p:nvPr/>
        </p:nvSpPr>
        <p:spPr>
          <a:xfrm>
            <a:off x="8285917" y="5828770"/>
            <a:ext cx="807847"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spTree>
    <p:extLst>
      <p:ext uri="{BB962C8B-B14F-4D97-AF65-F5344CB8AC3E}">
        <p14:creationId xmlns:p14="http://schemas.microsoft.com/office/powerpoint/2010/main" val="23524889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500"/>
                                        <p:tgtEl>
                                          <p:spTgt spid="53"/>
                                        </p:tgtEl>
                                      </p:cBhvr>
                                    </p:animEffect>
                                  </p:childTnLst>
                                </p:cTn>
                              </p:par>
                              <p:par>
                                <p:cTn id="8" presetID="42" presetClass="path" presetSubtype="0" accel="50000" decel="50000" fill="hold" grpId="0" nodeType="withEffect">
                                  <p:stCondLst>
                                    <p:cond delay="0"/>
                                  </p:stCondLst>
                                  <p:childTnLst>
                                    <p:animMotion origin="layout" path="M 3.88889E-6 -2.59259E-6 L 0.36076 0.08935 " pathEditMode="relative" rAng="0" ptsTypes="AA">
                                      <p:cBhvr>
                                        <p:cTn id="9" dur="2000" fill="hold"/>
                                        <p:tgtEl>
                                          <p:spTgt spid="80"/>
                                        </p:tgtEl>
                                        <p:attrNameLst>
                                          <p:attrName>ppt_x</p:attrName>
                                          <p:attrName>ppt_y</p:attrName>
                                        </p:attrNameLst>
                                      </p:cBhvr>
                                      <p:rCtr x="18038" y="4468"/>
                                    </p:animMotion>
                                  </p:childTnLst>
                                </p:cTn>
                              </p:par>
                              <p:par>
                                <p:cTn id="10" presetID="42" presetClass="path" presetSubtype="0" accel="50000" decel="50000" fill="hold" grpId="0" nodeType="withEffect">
                                  <p:stCondLst>
                                    <p:cond delay="0"/>
                                  </p:stCondLst>
                                  <p:childTnLst>
                                    <p:animMotion origin="layout" path="M -3.33333E-6 -1.11111E-6 L 0.35313 -0.2456 " pathEditMode="relative" rAng="0" ptsTypes="AA">
                                      <p:cBhvr>
                                        <p:cTn id="11" dur="2000" fill="hold"/>
                                        <p:tgtEl>
                                          <p:spTgt spid="81"/>
                                        </p:tgtEl>
                                        <p:attrNameLst>
                                          <p:attrName>ppt_x</p:attrName>
                                          <p:attrName>ppt_y</p:attrName>
                                        </p:attrNameLst>
                                      </p:cBhvr>
                                      <p:rCtr x="17656" y="-12292"/>
                                    </p:animMotion>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fade">
                                      <p:cBhvr>
                                        <p:cTn id="16" dur="500"/>
                                        <p:tgtEl>
                                          <p:spTgt spid="35"/>
                                        </p:tgtEl>
                                      </p:cBhvr>
                                    </p:animEffect>
                                  </p:childTnLst>
                                </p:cTn>
                              </p:par>
                              <p:par>
                                <p:cTn id="17" presetID="8" presetClass="emph" presetSubtype="0" fill="hold" nodeType="withEffect">
                                  <p:stCondLst>
                                    <p:cond delay="0"/>
                                  </p:stCondLst>
                                  <p:childTnLst>
                                    <p:animRot by="21600000">
                                      <p:cBhvr>
                                        <p:cTn id="18" dur="2000" fill="hold"/>
                                        <p:tgtEl>
                                          <p:spTgt spid="23"/>
                                        </p:tgtEl>
                                        <p:attrNameLst>
                                          <p:attrName>r</p:attrName>
                                        </p:attrNameLst>
                                      </p:cBhvr>
                                    </p:animRot>
                                  </p:childTnLst>
                                </p:cTn>
                              </p:par>
                              <p:par>
                                <p:cTn id="19" presetID="1" presetClass="entr" presetSubtype="0" fill="hold" nodeType="with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par>
                                <p:cTn id="21" presetID="42" presetClass="path" presetSubtype="0" accel="50000" decel="50000" fill="hold" nodeType="withEffect">
                                  <p:stCondLst>
                                    <p:cond delay="0"/>
                                  </p:stCondLst>
                                  <p:childTnLst>
                                    <p:animMotion origin="layout" path="M -0.02118 0.05138 L 0.27343 0.05046 " pathEditMode="relative" rAng="0" ptsTypes="AA">
                                      <p:cBhvr>
                                        <p:cTn id="22" dur="2000" fill="hold"/>
                                        <p:tgtEl>
                                          <p:spTgt spid="46"/>
                                        </p:tgtEl>
                                        <p:attrNameLst>
                                          <p:attrName>ppt_x</p:attrName>
                                          <p:attrName>ppt_y</p:attrName>
                                        </p:attrNameLst>
                                      </p:cBhvr>
                                      <p:rCtr x="14722" y="-46"/>
                                    </p:animMotion>
                                  </p:childTnLst>
                                  <p:subTnLst>
                                    <p:set>
                                      <p:cBhvr override="childStyle">
                                        <p:cTn dur="1" fill="hold" display="0" masterRel="sameClick" afterEffect="1">
                                          <p:stCondLst>
                                            <p:cond evt="end" delay="0">
                                              <p:tn val="21"/>
                                            </p:cond>
                                          </p:stCondLst>
                                        </p:cTn>
                                        <p:tgtEl>
                                          <p:spTgt spid="46"/>
                                        </p:tgtEl>
                                        <p:attrNameLst>
                                          <p:attrName>style.visibility</p:attrName>
                                        </p:attrNameLst>
                                      </p:cBhvr>
                                      <p:to>
                                        <p:strVal val="hidden"/>
                                      </p:to>
                                    </p:set>
                                  </p:subTnLst>
                                </p:cTn>
                              </p:par>
                              <p:par>
                                <p:cTn id="23" presetID="1" presetClass="entr" presetSubtype="0" fill="hold" nodeType="with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par>
                                <p:cTn id="25" presetID="42" presetClass="path" presetSubtype="0" accel="50000" decel="50000" fill="hold" nodeType="withEffect">
                                  <p:stCondLst>
                                    <p:cond delay="0"/>
                                  </p:stCondLst>
                                  <p:childTnLst>
                                    <p:animMotion origin="layout" path="M -0.02118 0.05139 L 0.28819 0.04884 " pathEditMode="relative" rAng="0" ptsTypes="AA">
                                      <p:cBhvr>
                                        <p:cTn id="26" dur="2000" fill="hold"/>
                                        <p:tgtEl>
                                          <p:spTgt spid="47"/>
                                        </p:tgtEl>
                                        <p:attrNameLst>
                                          <p:attrName>ppt_x</p:attrName>
                                          <p:attrName>ppt_y</p:attrName>
                                        </p:attrNameLst>
                                      </p:cBhvr>
                                      <p:rCtr x="15469" y="-139"/>
                                    </p:animMotion>
                                  </p:childTnLst>
                                  <p:subTnLst>
                                    <p:set>
                                      <p:cBhvr override="childStyle">
                                        <p:cTn dur="1" fill="hold" display="0" masterRel="sameClick" afterEffect="1">
                                          <p:stCondLst>
                                            <p:cond evt="end" delay="0">
                                              <p:tn val="25"/>
                                            </p:cond>
                                          </p:stCondLst>
                                        </p:cTn>
                                        <p:tgtEl>
                                          <p:spTgt spid="47"/>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36"/>
                                        </p:tgtEl>
                                        <p:attrNameLst>
                                          <p:attrName>style.visibility</p:attrName>
                                        </p:attrNameLst>
                                      </p:cBhvr>
                                      <p:to>
                                        <p:strVal val="visible"/>
                                      </p:to>
                                    </p:set>
                                    <p:animEffect transition="in" filter="fade">
                                      <p:cBhvr>
                                        <p:cTn id="31" dur="500"/>
                                        <p:tgtEl>
                                          <p:spTgt spid="36"/>
                                        </p:tgtEl>
                                      </p:cBhvr>
                                    </p:animEffect>
                                  </p:childTnLst>
                                </p:cTn>
                              </p:par>
                              <p:par>
                                <p:cTn id="32" presetID="1" presetClass="entr" presetSubtype="0" fill="hold" grpId="0" nodeType="withEffect">
                                  <p:stCondLst>
                                    <p:cond delay="0"/>
                                  </p:stCondLst>
                                  <p:childTnLst>
                                    <p:set>
                                      <p:cBhvr>
                                        <p:cTn id="33" dur="1" fill="hold">
                                          <p:stCondLst>
                                            <p:cond delay="0"/>
                                          </p:stCondLst>
                                        </p:cTn>
                                        <p:tgtEl>
                                          <p:spTgt spid="82"/>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83"/>
                                        </p:tgtEl>
                                        <p:attrNameLst>
                                          <p:attrName>style.visibility</p:attrName>
                                        </p:attrNameLst>
                                      </p:cBhvr>
                                      <p:to>
                                        <p:strVal val="visible"/>
                                      </p:to>
                                    </p:set>
                                  </p:childTnLst>
                                </p:cTn>
                              </p:par>
                              <p:par>
                                <p:cTn id="36" presetID="42" presetClass="path" presetSubtype="0" accel="50000" decel="50000" fill="hold" grpId="1" nodeType="withEffect">
                                  <p:stCondLst>
                                    <p:cond delay="0"/>
                                  </p:stCondLst>
                                  <p:childTnLst>
                                    <p:animMotion origin="layout" path="M -8.33333E-7 -0.00787 L -0.35851 0.23727 " pathEditMode="relative" rAng="0" ptsTypes="AA">
                                      <p:cBhvr>
                                        <p:cTn id="37" dur="2000" fill="hold"/>
                                        <p:tgtEl>
                                          <p:spTgt spid="82"/>
                                        </p:tgtEl>
                                        <p:attrNameLst>
                                          <p:attrName>ppt_x</p:attrName>
                                          <p:attrName>ppt_y</p:attrName>
                                        </p:attrNameLst>
                                      </p:cBhvr>
                                      <p:rCtr x="-17934" y="12245"/>
                                    </p:animMotion>
                                  </p:childTnLst>
                                </p:cTn>
                              </p:par>
                            </p:childTnLst>
                          </p:cTn>
                        </p:par>
                        <p:par>
                          <p:cTn id="38" fill="hold">
                            <p:stCondLst>
                              <p:cond delay="2000"/>
                            </p:stCondLst>
                            <p:childTnLst>
                              <p:par>
                                <p:cTn id="39" presetID="42" presetClass="path" presetSubtype="0" accel="50000" decel="50000" fill="hold" grpId="1" nodeType="afterEffect">
                                  <p:stCondLst>
                                    <p:cond delay="0"/>
                                  </p:stCondLst>
                                  <p:childTnLst>
                                    <p:animMotion origin="layout" path="M -5.55556E-7 -3.7037E-7 L -0.25469 -0.08287 " pathEditMode="relative" rAng="0" ptsTypes="AA">
                                      <p:cBhvr>
                                        <p:cTn id="40" dur="2000" fill="hold"/>
                                        <p:tgtEl>
                                          <p:spTgt spid="83"/>
                                        </p:tgtEl>
                                        <p:attrNameLst>
                                          <p:attrName>ppt_x</p:attrName>
                                          <p:attrName>ppt_y</p:attrName>
                                        </p:attrNameLst>
                                      </p:cBhvr>
                                      <p:rCtr x="-12743" y="-4144"/>
                                    </p:animMotion>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54"/>
                                        </p:tgtEl>
                                        <p:attrNameLst>
                                          <p:attrName>style.visibility</p:attrName>
                                        </p:attrNameLst>
                                      </p:cBhvr>
                                      <p:to>
                                        <p:strVal val="visible"/>
                                      </p:to>
                                    </p:set>
                                    <p:animEffect transition="in" filter="fade">
                                      <p:cBhvr>
                                        <p:cTn id="45" dur="500"/>
                                        <p:tgtEl>
                                          <p:spTgt spid="54"/>
                                        </p:tgtEl>
                                      </p:cBhvr>
                                    </p:animEffect>
                                  </p:childTnLst>
                                </p:cTn>
                              </p:par>
                              <p:par>
                                <p:cTn id="46" presetID="1" presetClass="exit" presetSubtype="0" fill="hold" grpId="1" nodeType="withEffect">
                                  <p:stCondLst>
                                    <p:cond delay="0"/>
                                  </p:stCondLst>
                                  <p:childTnLst>
                                    <p:set>
                                      <p:cBhvr>
                                        <p:cTn id="47" dur="1" fill="hold">
                                          <p:stCondLst>
                                            <p:cond delay="0"/>
                                          </p:stCondLst>
                                        </p:cTn>
                                        <p:tgtEl>
                                          <p:spTgt spid="81"/>
                                        </p:tgtEl>
                                        <p:attrNameLst>
                                          <p:attrName>style.visibility</p:attrName>
                                        </p:attrNameLst>
                                      </p:cBhvr>
                                      <p:to>
                                        <p:strVal val="hidden"/>
                                      </p:to>
                                    </p:set>
                                  </p:childTnLst>
                                </p:cTn>
                              </p:par>
                              <p:par>
                                <p:cTn id="48" presetID="1" presetClass="exit" presetSubtype="0" fill="hold" grpId="1" nodeType="withEffect">
                                  <p:stCondLst>
                                    <p:cond delay="0"/>
                                  </p:stCondLst>
                                  <p:childTnLst>
                                    <p:set>
                                      <p:cBhvr>
                                        <p:cTn id="49" dur="1" fill="hold">
                                          <p:stCondLst>
                                            <p:cond delay="0"/>
                                          </p:stCondLst>
                                        </p:cTn>
                                        <p:tgtEl>
                                          <p:spTgt spid="8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4" grpId="0"/>
      <p:bldP spid="35" grpId="0"/>
      <p:bldP spid="36" grpId="0"/>
      <p:bldP spid="80" grpId="0" animBg="1"/>
      <p:bldP spid="80" grpId="1" animBg="1"/>
      <p:bldP spid="81" grpId="0" animBg="1"/>
      <p:bldP spid="81" grpId="1" animBg="1"/>
      <p:bldP spid="82" grpId="0" animBg="1"/>
      <p:bldP spid="82" grpId="1" animBg="1"/>
      <p:bldP spid="83" grpId="0" animBg="1"/>
      <p:bldP spid="83"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ular Callout 12"/>
          <p:cNvSpPr/>
          <p:nvPr/>
        </p:nvSpPr>
        <p:spPr>
          <a:xfrm>
            <a:off x="7928010" y="4048505"/>
            <a:ext cx="2953244" cy="2035335"/>
          </a:xfrm>
          <a:prstGeom prst="wedgeRectCallout">
            <a:avLst>
              <a:gd name="adj1" fmla="val 49906"/>
              <a:gd name="adj2" fmla="val 16634"/>
            </a:avLst>
          </a:prstGeom>
          <a:solidFill>
            <a:schemeClr val="accent4">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ular Callout 9"/>
          <p:cNvSpPr/>
          <p:nvPr/>
        </p:nvSpPr>
        <p:spPr>
          <a:xfrm>
            <a:off x="7928010" y="1787489"/>
            <a:ext cx="2953244" cy="2035335"/>
          </a:xfrm>
          <a:prstGeom prst="wedgeRectCallout">
            <a:avLst>
              <a:gd name="adj1" fmla="val 50235"/>
              <a:gd name="adj2" fmla="val 1711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2" name="Title 1"/>
          <p:cNvSpPr>
            <a:spLocks noGrp="1"/>
          </p:cNvSpPr>
          <p:nvPr>
            <p:ph type="title"/>
          </p:nvPr>
        </p:nvSpPr>
        <p:spPr>
          <a:xfrm>
            <a:off x="122237" y="239065"/>
            <a:ext cx="10253077" cy="1277667"/>
          </a:xfrm>
        </p:spPr>
        <p:txBody>
          <a:bodyPr/>
          <a:lstStyle/>
          <a:p>
            <a:r>
              <a:rPr lang="en-US" dirty="0" smtClean="0"/>
              <a:t>DR Activity - Source </a:t>
            </a:r>
            <a:r>
              <a:rPr lang="en-US" dirty="0"/>
              <a:t>System Extract</a:t>
            </a:r>
          </a:p>
        </p:txBody>
      </p:sp>
      <p:cxnSp>
        <p:nvCxnSpPr>
          <p:cNvPr id="8" name="Straight Connector 7"/>
          <p:cNvCxnSpPr/>
          <p:nvPr/>
        </p:nvCxnSpPr>
        <p:spPr>
          <a:xfrm>
            <a:off x="7909218" y="3963564"/>
            <a:ext cx="2813040" cy="0"/>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8037528" y="1845521"/>
            <a:ext cx="3186395" cy="382308"/>
          </a:xfrm>
          <a:prstGeom prst="rect">
            <a:avLst/>
          </a:prstGeom>
          <a:noFill/>
        </p:spPr>
        <p:txBody>
          <a:bodyPr wrap="square" rtlCol="0">
            <a:spAutoFit/>
          </a:bodyPr>
          <a:lstStyle/>
          <a:p>
            <a:r>
              <a:rPr lang="en-US" sz="1836" dirty="0"/>
              <a:t>Landing Zone Server - </a:t>
            </a:r>
            <a:r>
              <a:rPr lang="en-US" sz="1836" dirty="0"/>
              <a:t>Prod</a:t>
            </a:r>
            <a:endParaRPr lang="en-US" sz="1836" dirty="0"/>
          </a:p>
        </p:txBody>
      </p:sp>
      <p:sp>
        <p:nvSpPr>
          <p:cNvPr id="14" name="TextBox 13"/>
          <p:cNvSpPr txBox="1"/>
          <p:nvPr/>
        </p:nvSpPr>
        <p:spPr>
          <a:xfrm>
            <a:off x="8037528" y="4083667"/>
            <a:ext cx="3186395" cy="382308"/>
          </a:xfrm>
          <a:prstGeom prst="rect">
            <a:avLst/>
          </a:prstGeom>
          <a:noFill/>
        </p:spPr>
        <p:txBody>
          <a:bodyPr wrap="square" rtlCol="0">
            <a:spAutoFit/>
          </a:bodyPr>
          <a:lstStyle/>
          <a:p>
            <a:r>
              <a:rPr lang="en-US" sz="1836" dirty="0"/>
              <a:t>Landing Zone Server - </a:t>
            </a:r>
            <a:r>
              <a:rPr lang="en-US" sz="1836" dirty="0"/>
              <a:t>DR</a:t>
            </a:r>
            <a:endParaRPr lang="en-US" sz="1836" dirty="0"/>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59278" y="4479028"/>
            <a:ext cx="611601" cy="611601"/>
          </a:xfrm>
          <a:prstGeom prst="rect">
            <a:avLst/>
          </a:prstGeom>
        </p:spPr>
      </p:pic>
      <p:pic>
        <p:nvPicPr>
          <p:cNvPr id="17" name="Picture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85128" y="2748519"/>
            <a:ext cx="611601" cy="611601"/>
          </a:xfrm>
          <a:prstGeom prst="rect">
            <a:avLst/>
          </a:prstGeom>
        </p:spPr>
      </p:pic>
      <p:pic>
        <p:nvPicPr>
          <p:cNvPr id="7" name="Picture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44628" y="2456510"/>
            <a:ext cx="922603" cy="922603"/>
          </a:xfrm>
          <a:prstGeom prst="rect">
            <a:avLst/>
          </a:prstGeom>
          <a:effectLst>
            <a:outerShdw blurRad="50800" dist="50800" dir="5400000" algn="ctr" rotWithShape="0">
              <a:srgbClr val="000000">
                <a:alpha val="52000"/>
              </a:srgbClr>
            </a:outerShdw>
          </a:effectLst>
        </p:spPr>
      </p:pic>
      <p:pic>
        <p:nvPicPr>
          <p:cNvPr id="18" name="Picture 1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174009" y="4789144"/>
            <a:ext cx="922603" cy="922603"/>
          </a:xfrm>
          <a:prstGeom prst="rect">
            <a:avLst/>
          </a:prstGeom>
          <a:effectLst>
            <a:outerShdw blurRad="50800" dist="50800" dir="5400000" algn="ctr" rotWithShape="0">
              <a:srgbClr val="000000">
                <a:alpha val="52000"/>
              </a:srgbClr>
            </a:outerShdw>
          </a:effectLst>
        </p:spPr>
      </p:pic>
      <p:cxnSp>
        <p:nvCxnSpPr>
          <p:cNvPr id="21" name="Straight Arrow Connector 20"/>
          <p:cNvCxnSpPr/>
          <p:nvPr/>
        </p:nvCxnSpPr>
        <p:spPr>
          <a:xfrm>
            <a:off x="9866475" y="3431399"/>
            <a:ext cx="9490" cy="1434946"/>
          </a:xfrm>
          <a:prstGeom prst="straightConnector1">
            <a:avLst/>
          </a:prstGeom>
          <a:ln w="7620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7928011" y="3453993"/>
            <a:ext cx="1219521" cy="286306"/>
          </a:xfrm>
          <a:prstGeom prst="rect">
            <a:avLst/>
          </a:prstGeom>
          <a:noFill/>
        </p:spPr>
        <p:txBody>
          <a:bodyPr wrap="square" rtlCol="0">
            <a:spAutoFit/>
          </a:bodyPr>
          <a:lstStyle/>
          <a:p>
            <a:r>
              <a:rPr lang="en-US" sz="1224" dirty="0"/>
              <a:t>Extract (SSIS)</a:t>
            </a:r>
          </a:p>
        </p:txBody>
      </p:sp>
      <p:sp>
        <p:nvSpPr>
          <p:cNvPr id="27" name="TextBox 26"/>
          <p:cNvSpPr txBox="1"/>
          <p:nvPr/>
        </p:nvSpPr>
        <p:spPr>
          <a:xfrm>
            <a:off x="7909215" y="5136807"/>
            <a:ext cx="1300345" cy="286306"/>
          </a:xfrm>
          <a:prstGeom prst="rect">
            <a:avLst/>
          </a:prstGeom>
          <a:noFill/>
        </p:spPr>
        <p:txBody>
          <a:bodyPr wrap="square" rtlCol="0">
            <a:spAutoFit/>
          </a:bodyPr>
          <a:lstStyle/>
          <a:p>
            <a:r>
              <a:rPr lang="en-US" sz="1224" dirty="0"/>
              <a:t>Extract (SSIS)</a:t>
            </a:r>
          </a:p>
        </p:txBody>
      </p:sp>
      <p:sp>
        <p:nvSpPr>
          <p:cNvPr id="31" name="TextBox 30"/>
          <p:cNvSpPr txBox="1"/>
          <p:nvPr/>
        </p:nvSpPr>
        <p:spPr>
          <a:xfrm>
            <a:off x="1710654" y="1908303"/>
            <a:ext cx="5871121" cy="542399"/>
          </a:xfrm>
          <a:prstGeom prst="rect">
            <a:avLst/>
          </a:prstGeom>
          <a:noFill/>
        </p:spPr>
        <p:txBody>
          <a:bodyPr wrap="square" rtlCol="0">
            <a:spAutoFit/>
          </a:bodyPr>
          <a:lstStyle/>
          <a:p>
            <a:r>
              <a:rPr lang="en-US" sz="1428" dirty="0"/>
              <a:t>Step </a:t>
            </a:r>
            <a:r>
              <a:rPr lang="en-US" sz="1428" dirty="0"/>
              <a:t>2:  </a:t>
            </a:r>
            <a:r>
              <a:rPr lang="en-US" sz="1428" dirty="0"/>
              <a:t>SSIS reads configuration table to determine data to be extracted</a:t>
            </a:r>
          </a:p>
        </p:txBody>
      </p:sp>
      <p:pic>
        <p:nvPicPr>
          <p:cNvPr id="3" name="Picture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42432" y="3737337"/>
            <a:ext cx="339344" cy="452458"/>
          </a:xfrm>
          <a:prstGeom prst="rect">
            <a:avLst/>
          </a:prstGeom>
        </p:spPr>
      </p:pic>
      <p:pic>
        <p:nvPicPr>
          <p:cNvPr id="19" name="Picture 1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418364" y="5093798"/>
            <a:ext cx="339344" cy="452458"/>
          </a:xfrm>
          <a:prstGeom prst="rect">
            <a:avLst/>
          </a:prstGeom>
        </p:spPr>
      </p:pic>
      <p:sp>
        <p:nvSpPr>
          <p:cNvPr id="6" name="Flowchart: Magnetic Disk 5"/>
          <p:cNvSpPr/>
          <p:nvPr/>
        </p:nvSpPr>
        <p:spPr>
          <a:xfrm>
            <a:off x="1720369" y="4994542"/>
            <a:ext cx="699453" cy="511805"/>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nvGrpSpPr>
          <p:cNvPr id="30" name="Group 29"/>
          <p:cNvGrpSpPr/>
          <p:nvPr/>
        </p:nvGrpSpPr>
        <p:grpSpPr>
          <a:xfrm>
            <a:off x="2944698" y="4152633"/>
            <a:ext cx="2834096" cy="2149096"/>
            <a:chOff x="2105348" y="4108015"/>
            <a:chExt cx="2778778" cy="2107148"/>
          </a:xfrm>
        </p:grpSpPr>
        <p:grpSp>
          <p:nvGrpSpPr>
            <p:cNvPr id="20" name="Group 19"/>
            <p:cNvGrpSpPr/>
            <p:nvPr/>
          </p:nvGrpSpPr>
          <p:grpSpPr>
            <a:xfrm>
              <a:off x="2105348" y="4108015"/>
              <a:ext cx="2775698" cy="2107148"/>
              <a:chOff x="1110502" y="2900284"/>
              <a:chExt cx="4156324" cy="2107148"/>
            </a:xfrm>
          </p:grpSpPr>
          <p:sp>
            <p:nvSpPr>
              <p:cNvPr id="15" name="Rectangle 14"/>
              <p:cNvSpPr/>
              <p:nvPr/>
            </p:nvSpPr>
            <p:spPr>
              <a:xfrm>
                <a:off x="1110502" y="2900284"/>
                <a:ext cx="4156324" cy="20543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836" dirty="0"/>
                  <a:t>ETL Control Table</a:t>
                </a:r>
                <a:endParaRPr lang="en-US" sz="1836" dirty="0"/>
              </a:p>
            </p:txBody>
          </p:sp>
          <p:sp>
            <p:nvSpPr>
              <p:cNvPr id="16" name="Rectangle 15"/>
              <p:cNvSpPr/>
              <p:nvPr/>
            </p:nvSpPr>
            <p:spPr>
              <a:xfrm>
                <a:off x="1124294" y="3105719"/>
                <a:ext cx="4133351" cy="190171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sp>
          <p:nvSpPr>
            <p:cNvPr id="28" name="Rectangle 27"/>
            <p:cNvSpPr/>
            <p:nvPr/>
          </p:nvSpPr>
          <p:spPr>
            <a:xfrm>
              <a:off x="2119140" y="4331931"/>
              <a:ext cx="1314106" cy="25201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err="1">
                  <a:solidFill>
                    <a:schemeClr val="tx1"/>
                  </a:solidFill>
                </a:rPr>
                <a:t>Extract_Table</a:t>
              </a:r>
              <a:endParaRPr lang="en-US" sz="1224" dirty="0">
                <a:solidFill>
                  <a:schemeClr val="tx1"/>
                </a:solidFill>
              </a:endParaRPr>
            </a:p>
          </p:txBody>
        </p:sp>
        <p:sp>
          <p:nvSpPr>
            <p:cNvPr id="45" name="Rectangle 44"/>
            <p:cNvSpPr/>
            <p:nvPr/>
          </p:nvSpPr>
          <p:spPr>
            <a:xfrm>
              <a:off x="3447038" y="4331931"/>
              <a:ext cx="1434008" cy="25201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err="1">
                  <a:solidFill>
                    <a:schemeClr val="tx1"/>
                  </a:solidFill>
                </a:rPr>
                <a:t>Last_Extract_Date</a:t>
              </a:r>
              <a:endParaRPr lang="en-US" sz="1224" dirty="0">
                <a:solidFill>
                  <a:schemeClr val="tx1"/>
                </a:solidFill>
              </a:endParaRPr>
            </a:p>
          </p:txBody>
        </p:sp>
        <p:grpSp>
          <p:nvGrpSpPr>
            <p:cNvPr id="29" name="Group 28"/>
            <p:cNvGrpSpPr/>
            <p:nvPr/>
          </p:nvGrpSpPr>
          <p:grpSpPr>
            <a:xfrm>
              <a:off x="2119140" y="4560531"/>
              <a:ext cx="2761906" cy="252018"/>
              <a:chOff x="1110502" y="5571021"/>
              <a:chExt cx="2761906" cy="252018"/>
            </a:xfrm>
          </p:grpSpPr>
          <p:sp>
            <p:nvSpPr>
              <p:cNvPr id="48" name="Rectangle 47"/>
              <p:cNvSpPr/>
              <p:nvPr/>
            </p:nvSpPr>
            <p:spPr>
              <a:xfrm>
                <a:off x="1110502" y="5571021"/>
                <a:ext cx="1314106"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Patient</a:t>
                </a:r>
                <a:endParaRPr lang="en-US" sz="1224" dirty="0">
                  <a:solidFill>
                    <a:schemeClr val="tx1"/>
                  </a:solidFill>
                </a:endParaRPr>
              </a:p>
            </p:txBody>
          </p:sp>
          <p:sp>
            <p:nvSpPr>
              <p:cNvPr id="55" name="Rectangle 54"/>
              <p:cNvSpPr/>
              <p:nvPr/>
            </p:nvSpPr>
            <p:spPr>
              <a:xfrm>
                <a:off x="2438400" y="5571021"/>
                <a:ext cx="1434008"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09/03/2013 6:37:45</a:t>
                </a:r>
                <a:endParaRPr lang="en-US" sz="1224" dirty="0">
                  <a:solidFill>
                    <a:schemeClr val="tx1"/>
                  </a:solidFill>
                </a:endParaRPr>
              </a:p>
            </p:txBody>
          </p:sp>
        </p:grpSp>
        <p:grpSp>
          <p:nvGrpSpPr>
            <p:cNvPr id="56" name="Group 55"/>
            <p:cNvGrpSpPr/>
            <p:nvPr/>
          </p:nvGrpSpPr>
          <p:grpSpPr>
            <a:xfrm>
              <a:off x="2119140" y="4798719"/>
              <a:ext cx="2761906" cy="252018"/>
              <a:chOff x="1110502" y="5571021"/>
              <a:chExt cx="2761906" cy="252018"/>
            </a:xfrm>
          </p:grpSpPr>
          <p:sp>
            <p:nvSpPr>
              <p:cNvPr id="57" name="Rectangle 56"/>
              <p:cNvSpPr/>
              <p:nvPr/>
            </p:nvSpPr>
            <p:spPr>
              <a:xfrm>
                <a:off x="1110502" y="5571021"/>
                <a:ext cx="1314106"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Procedure</a:t>
                </a:r>
                <a:endParaRPr lang="en-US" sz="1224" dirty="0">
                  <a:solidFill>
                    <a:schemeClr val="tx1"/>
                  </a:solidFill>
                </a:endParaRPr>
              </a:p>
            </p:txBody>
          </p:sp>
          <p:sp>
            <p:nvSpPr>
              <p:cNvPr id="58" name="Rectangle 57"/>
              <p:cNvSpPr/>
              <p:nvPr/>
            </p:nvSpPr>
            <p:spPr>
              <a:xfrm>
                <a:off x="2438400" y="5571021"/>
                <a:ext cx="1434008"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09/03/2013 6:37:05</a:t>
                </a:r>
                <a:endParaRPr lang="en-US" sz="1224" dirty="0">
                  <a:solidFill>
                    <a:schemeClr val="tx1"/>
                  </a:solidFill>
                </a:endParaRPr>
              </a:p>
            </p:txBody>
          </p:sp>
        </p:grpSp>
        <p:grpSp>
          <p:nvGrpSpPr>
            <p:cNvPr id="59" name="Group 58"/>
            <p:cNvGrpSpPr/>
            <p:nvPr/>
          </p:nvGrpSpPr>
          <p:grpSpPr>
            <a:xfrm>
              <a:off x="2122220" y="5035617"/>
              <a:ext cx="2761906" cy="252018"/>
              <a:chOff x="1110502" y="5571021"/>
              <a:chExt cx="2761906" cy="252018"/>
            </a:xfrm>
          </p:grpSpPr>
          <p:sp>
            <p:nvSpPr>
              <p:cNvPr id="60" name="Rectangle 59"/>
              <p:cNvSpPr/>
              <p:nvPr/>
            </p:nvSpPr>
            <p:spPr>
              <a:xfrm>
                <a:off x="1110502" y="5571021"/>
                <a:ext cx="1314106"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4" dirty="0">
                  <a:solidFill>
                    <a:schemeClr val="tx1"/>
                  </a:solidFill>
                </a:endParaRPr>
              </a:p>
            </p:txBody>
          </p:sp>
          <p:sp>
            <p:nvSpPr>
              <p:cNvPr id="61" name="Rectangle 60"/>
              <p:cNvSpPr/>
              <p:nvPr/>
            </p:nvSpPr>
            <p:spPr>
              <a:xfrm>
                <a:off x="2438400" y="5571021"/>
                <a:ext cx="1434008"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4" dirty="0">
                  <a:solidFill>
                    <a:schemeClr val="tx1"/>
                  </a:solidFill>
                </a:endParaRPr>
              </a:p>
            </p:txBody>
          </p:sp>
        </p:grpSp>
      </p:grpSp>
      <p:sp>
        <p:nvSpPr>
          <p:cNvPr id="32" name="Left Brace 31"/>
          <p:cNvSpPr/>
          <p:nvPr/>
        </p:nvSpPr>
        <p:spPr>
          <a:xfrm>
            <a:off x="2338961" y="4182875"/>
            <a:ext cx="537448" cy="2088613"/>
          </a:xfrm>
          <a:prstGeom prst="leftBrace">
            <a:avLst>
              <a:gd name="adj1" fmla="val 8333"/>
              <a:gd name="adj2" fmla="val 51861"/>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36"/>
          </a:p>
        </p:txBody>
      </p:sp>
      <p:sp>
        <p:nvSpPr>
          <p:cNvPr id="67" name="Rectangle 66"/>
          <p:cNvSpPr/>
          <p:nvPr/>
        </p:nvSpPr>
        <p:spPr>
          <a:xfrm>
            <a:off x="4306845" y="4606447"/>
            <a:ext cx="1462555"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09/03/2013 6:37:45</a:t>
            </a:r>
            <a:endParaRPr lang="en-US" sz="1224" dirty="0">
              <a:solidFill>
                <a:schemeClr val="tx1"/>
              </a:solidFill>
            </a:endParaRPr>
          </a:p>
        </p:txBody>
      </p:sp>
      <p:sp>
        <p:nvSpPr>
          <p:cNvPr id="68" name="TextBox 67"/>
          <p:cNvSpPr txBox="1"/>
          <p:nvPr/>
        </p:nvSpPr>
        <p:spPr>
          <a:xfrm>
            <a:off x="1710654" y="2250755"/>
            <a:ext cx="5871121" cy="542399"/>
          </a:xfrm>
          <a:prstGeom prst="rect">
            <a:avLst/>
          </a:prstGeom>
          <a:noFill/>
        </p:spPr>
        <p:txBody>
          <a:bodyPr wrap="square" rtlCol="0">
            <a:spAutoFit/>
          </a:bodyPr>
          <a:lstStyle/>
          <a:p>
            <a:r>
              <a:rPr lang="en-US" sz="1428" dirty="0"/>
              <a:t>Step 3</a:t>
            </a:r>
            <a:r>
              <a:rPr lang="en-US" sz="1428" dirty="0"/>
              <a:t>:  SSIS Extracts Data from Source system and Places it on DFS</a:t>
            </a:r>
          </a:p>
          <a:p>
            <a:r>
              <a:rPr lang="en-US" sz="1428" dirty="0"/>
              <a:t>	</a:t>
            </a:r>
            <a:r>
              <a:rPr lang="en-US" sz="1428" dirty="0"/>
              <a:t>- DFS Fails to Copy to Prod</a:t>
            </a:r>
            <a:endParaRPr lang="en-US" sz="1428" dirty="0"/>
          </a:p>
        </p:txBody>
      </p:sp>
      <p:sp>
        <p:nvSpPr>
          <p:cNvPr id="69" name="TextBox 68"/>
          <p:cNvSpPr txBox="1"/>
          <p:nvPr/>
        </p:nvSpPr>
        <p:spPr>
          <a:xfrm>
            <a:off x="1681377" y="2921392"/>
            <a:ext cx="5871121" cy="542399"/>
          </a:xfrm>
          <a:prstGeom prst="rect">
            <a:avLst/>
          </a:prstGeom>
          <a:noFill/>
        </p:spPr>
        <p:txBody>
          <a:bodyPr wrap="square" rtlCol="0">
            <a:spAutoFit/>
          </a:bodyPr>
          <a:lstStyle/>
          <a:p>
            <a:r>
              <a:rPr lang="en-US" sz="1428" dirty="0"/>
              <a:t>Step 4</a:t>
            </a:r>
            <a:r>
              <a:rPr lang="en-US" sz="1428" dirty="0"/>
              <a:t>: SSIS Creates Record in ETL Control Detail Table with Status of New</a:t>
            </a:r>
            <a:endParaRPr lang="en-US" sz="1428" dirty="0"/>
          </a:p>
        </p:txBody>
      </p:sp>
      <p:sp>
        <p:nvSpPr>
          <p:cNvPr id="70" name="TextBox 69"/>
          <p:cNvSpPr txBox="1"/>
          <p:nvPr/>
        </p:nvSpPr>
        <p:spPr>
          <a:xfrm>
            <a:off x="1683695" y="3368999"/>
            <a:ext cx="5871121" cy="318286"/>
          </a:xfrm>
          <a:prstGeom prst="rect">
            <a:avLst/>
          </a:prstGeom>
          <a:noFill/>
        </p:spPr>
        <p:txBody>
          <a:bodyPr wrap="square" rtlCol="0">
            <a:spAutoFit/>
          </a:bodyPr>
          <a:lstStyle/>
          <a:p>
            <a:r>
              <a:rPr lang="en-US" sz="1428" dirty="0"/>
              <a:t>Step </a:t>
            </a:r>
            <a:r>
              <a:rPr lang="en-US" sz="1428" dirty="0"/>
              <a:t>5: SSIS Records Last Extract Date</a:t>
            </a:r>
            <a:endParaRPr lang="en-US" sz="1428" dirty="0"/>
          </a:p>
        </p:txBody>
      </p:sp>
      <p:sp>
        <p:nvSpPr>
          <p:cNvPr id="88" name="Rectangle 87"/>
          <p:cNvSpPr/>
          <p:nvPr/>
        </p:nvSpPr>
        <p:spPr>
          <a:xfrm>
            <a:off x="7955809" y="5780627"/>
            <a:ext cx="1462555"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09/03/2013 8:36:00</a:t>
            </a:r>
            <a:endParaRPr lang="en-US" sz="1224" dirty="0">
              <a:solidFill>
                <a:schemeClr val="tx1"/>
              </a:solidFill>
            </a:endParaRPr>
          </a:p>
        </p:txBody>
      </p:sp>
      <p:grpSp>
        <p:nvGrpSpPr>
          <p:cNvPr id="36" name="Group 35"/>
          <p:cNvGrpSpPr/>
          <p:nvPr/>
        </p:nvGrpSpPr>
        <p:grpSpPr>
          <a:xfrm>
            <a:off x="2933399" y="4148872"/>
            <a:ext cx="4885136" cy="2149096"/>
            <a:chOff x="-4225561" y="3227624"/>
            <a:chExt cx="4789784" cy="2107148"/>
          </a:xfrm>
        </p:grpSpPr>
        <p:grpSp>
          <p:nvGrpSpPr>
            <p:cNvPr id="34" name="Group 33"/>
            <p:cNvGrpSpPr/>
            <p:nvPr/>
          </p:nvGrpSpPr>
          <p:grpSpPr>
            <a:xfrm>
              <a:off x="-4225561" y="3227624"/>
              <a:ext cx="4789784" cy="2107148"/>
              <a:chOff x="-4225561" y="3227624"/>
              <a:chExt cx="4789784" cy="2107148"/>
            </a:xfrm>
          </p:grpSpPr>
          <p:grpSp>
            <p:nvGrpSpPr>
              <p:cNvPr id="71" name="Group 70"/>
              <p:cNvGrpSpPr/>
              <p:nvPr/>
            </p:nvGrpSpPr>
            <p:grpSpPr>
              <a:xfrm>
                <a:off x="-4225561" y="3227624"/>
                <a:ext cx="4789784" cy="2107148"/>
                <a:chOff x="2105348" y="4108015"/>
                <a:chExt cx="2775698" cy="2107148"/>
              </a:xfrm>
            </p:grpSpPr>
            <p:grpSp>
              <p:nvGrpSpPr>
                <p:cNvPr id="72" name="Group 71"/>
                <p:cNvGrpSpPr/>
                <p:nvPr/>
              </p:nvGrpSpPr>
              <p:grpSpPr>
                <a:xfrm>
                  <a:off x="2105348" y="4108015"/>
                  <a:ext cx="2775698" cy="2107148"/>
                  <a:chOff x="1110502" y="2900284"/>
                  <a:chExt cx="4156324" cy="2107148"/>
                </a:xfrm>
              </p:grpSpPr>
              <p:sp>
                <p:nvSpPr>
                  <p:cNvPr id="84" name="Rectangle 83"/>
                  <p:cNvSpPr/>
                  <p:nvPr/>
                </p:nvSpPr>
                <p:spPr>
                  <a:xfrm>
                    <a:off x="1110502" y="2900284"/>
                    <a:ext cx="4156324" cy="20543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836" dirty="0"/>
                      <a:t>ETL Control Detail Table</a:t>
                    </a:r>
                    <a:endParaRPr lang="en-US" sz="1836" dirty="0"/>
                  </a:p>
                </p:txBody>
              </p:sp>
              <p:sp>
                <p:nvSpPr>
                  <p:cNvPr id="85" name="Rectangle 84"/>
                  <p:cNvSpPr/>
                  <p:nvPr/>
                </p:nvSpPr>
                <p:spPr>
                  <a:xfrm>
                    <a:off x="1124294" y="3105719"/>
                    <a:ext cx="4133351" cy="190171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sp>
              <p:nvSpPr>
                <p:cNvPr id="73" name="Rectangle 72"/>
                <p:cNvSpPr/>
                <p:nvPr/>
              </p:nvSpPr>
              <p:spPr>
                <a:xfrm>
                  <a:off x="2119140" y="4331931"/>
                  <a:ext cx="689740" cy="25201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err="1">
                      <a:solidFill>
                        <a:schemeClr val="tx1"/>
                      </a:solidFill>
                    </a:rPr>
                    <a:t>Extract_Table</a:t>
                  </a:r>
                  <a:endParaRPr lang="en-US" sz="1224" dirty="0">
                    <a:solidFill>
                      <a:schemeClr val="tx1"/>
                    </a:solidFill>
                  </a:endParaRPr>
                </a:p>
              </p:txBody>
            </p:sp>
            <p:sp>
              <p:nvSpPr>
                <p:cNvPr id="74" name="Rectangle 73"/>
                <p:cNvSpPr/>
                <p:nvPr/>
              </p:nvSpPr>
              <p:spPr>
                <a:xfrm>
                  <a:off x="2781936" y="4331931"/>
                  <a:ext cx="414294" cy="25201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Status</a:t>
                  </a:r>
                  <a:endParaRPr lang="en-US" sz="1224" dirty="0">
                    <a:solidFill>
                      <a:schemeClr val="tx1"/>
                    </a:solidFill>
                  </a:endParaRPr>
                </a:p>
              </p:txBody>
            </p:sp>
            <p:grpSp>
              <p:nvGrpSpPr>
                <p:cNvPr id="75" name="Group 74"/>
                <p:cNvGrpSpPr/>
                <p:nvPr/>
              </p:nvGrpSpPr>
              <p:grpSpPr>
                <a:xfrm>
                  <a:off x="2119139" y="4578360"/>
                  <a:ext cx="1074275" cy="259521"/>
                  <a:chOff x="1110501" y="5588850"/>
                  <a:chExt cx="1074275" cy="259521"/>
                </a:xfrm>
              </p:grpSpPr>
              <p:sp>
                <p:nvSpPr>
                  <p:cNvPr id="82" name="Rectangle 81"/>
                  <p:cNvSpPr/>
                  <p:nvPr/>
                </p:nvSpPr>
                <p:spPr>
                  <a:xfrm>
                    <a:off x="1110501" y="5596353"/>
                    <a:ext cx="668927"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Patient</a:t>
                    </a:r>
                    <a:endParaRPr lang="en-US" sz="1224" dirty="0">
                      <a:solidFill>
                        <a:schemeClr val="tx1"/>
                      </a:solidFill>
                    </a:endParaRPr>
                  </a:p>
                </p:txBody>
              </p:sp>
              <p:sp>
                <p:nvSpPr>
                  <p:cNvPr id="83" name="Rectangle 82"/>
                  <p:cNvSpPr/>
                  <p:nvPr/>
                </p:nvSpPr>
                <p:spPr>
                  <a:xfrm>
                    <a:off x="1770482" y="5588850"/>
                    <a:ext cx="414294"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grpSp>
            <p:grpSp>
              <p:nvGrpSpPr>
                <p:cNvPr id="76" name="Group 75"/>
                <p:cNvGrpSpPr/>
                <p:nvPr/>
              </p:nvGrpSpPr>
              <p:grpSpPr>
                <a:xfrm>
                  <a:off x="2119475" y="4825844"/>
                  <a:ext cx="1073939" cy="262584"/>
                  <a:chOff x="1110837" y="5598146"/>
                  <a:chExt cx="1073939" cy="262584"/>
                </a:xfrm>
              </p:grpSpPr>
              <p:sp>
                <p:nvSpPr>
                  <p:cNvPr id="80" name="Rectangle 79"/>
                  <p:cNvSpPr/>
                  <p:nvPr/>
                </p:nvSpPr>
                <p:spPr>
                  <a:xfrm>
                    <a:off x="1110837" y="5598146"/>
                    <a:ext cx="668927"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Procedure</a:t>
                    </a:r>
                    <a:endParaRPr lang="en-US" sz="1224" dirty="0">
                      <a:solidFill>
                        <a:schemeClr val="tx1"/>
                      </a:solidFill>
                    </a:endParaRPr>
                  </a:p>
                </p:txBody>
              </p:sp>
              <p:sp>
                <p:nvSpPr>
                  <p:cNvPr id="81" name="Rectangle 80"/>
                  <p:cNvSpPr/>
                  <p:nvPr/>
                </p:nvSpPr>
                <p:spPr>
                  <a:xfrm>
                    <a:off x="1770482" y="5608712"/>
                    <a:ext cx="414294"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grpSp>
            <p:sp>
              <p:nvSpPr>
                <p:cNvPr id="78" name="Rectangle 77"/>
                <p:cNvSpPr/>
                <p:nvPr/>
              </p:nvSpPr>
              <p:spPr>
                <a:xfrm>
                  <a:off x="2115794" y="5082688"/>
                  <a:ext cx="659716"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4" dirty="0">
                    <a:solidFill>
                      <a:schemeClr val="tx1"/>
                    </a:solidFill>
                  </a:endParaRPr>
                </a:p>
              </p:txBody>
            </p:sp>
          </p:grpSp>
          <p:sp>
            <p:nvSpPr>
              <p:cNvPr id="89" name="Rectangle 88"/>
              <p:cNvSpPr/>
              <p:nvPr/>
            </p:nvSpPr>
            <p:spPr>
              <a:xfrm>
                <a:off x="-2347979" y="3442820"/>
                <a:ext cx="1193582" cy="25201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err="1">
                    <a:solidFill>
                      <a:schemeClr val="tx1"/>
                    </a:solidFill>
                  </a:rPr>
                  <a:t>FileName</a:t>
                </a:r>
                <a:endParaRPr lang="en-US" sz="1224" dirty="0">
                  <a:solidFill>
                    <a:schemeClr val="tx1"/>
                  </a:solidFill>
                </a:endParaRPr>
              </a:p>
            </p:txBody>
          </p:sp>
          <p:sp>
            <p:nvSpPr>
              <p:cNvPr id="90" name="Rectangle 89"/>
              <p:cNvSpPr/>
              <p:nvPr/>
            </p:nvSpPr>
            <p:spPr>
              <a:xfrm>
                <a:off x="-1170130" y="3444662"/>
                <a:ext cx="909603" cy="25201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err="1">
                    <a:solidFill>
                      <a:schemeClr val="tx1"/>
                    </a:solidFill>
                  </a:rPr>
                  <a:t>PDWStatus</a:t>
                </a:r>
                <a:endParaRPr lang="en-US" sz="1224" dirty="0">
                  <a:solidFill>
                    <a:schemeClr val="tx1"/>
                  </a:solidFill>
                </a:endParaRPr>
              </a:p>
            </p:txBody>
          </p:sp>
          <p:sp>
            <p:nvSpPr>
              <p:cNvPr id="91" name="Rectangle 90"/>
              <p:cNvSpPr/>
              <p:nvPr/>
            </p:nvSpPr>
            <p:spPr>
              <a:xfrm>
                <a:off x="-255467" y="3444350"/>
                <a:ext cx="795186" cy="25201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err="1">
                    <a:solidFill>
                      <a:schemeClr val="tx1"/>
                    </a:solidFill>
                  </a:rPr>
                  <a:t>DRStatus</a:t>
                </a:r>
                <a:endParaRPr lang="en-US" sz="1224" dirty="0">
                  <a:solidFill>
                    <a:schemeClr val="tx1"/>
                  </a:solidFill>
                </a:endParaRPr>
              </a:p>
            </p:txBody>
          </p:sp>
        </p:grpSp>
        <p:grpSp>
          <p:nvGrpSpPr>
            <p:cNvPr id="35" name="Group 34"/>
            <p:cNvGrpSpPr/>
            <p:nvPr/>
          </p:nvGrpSpPr>
          <p:grpSpPr>
            <a:xfrm>
              <a:off x="-2356905" y="3950939"/>
              <a:ext cx="2887698" cy="253860"/>
              <a:chOff x="-3167275" y="2332377"/>
              <a:chExt cx="2887698" cy="253860"/>
            </a:xfrm>
          </p:grpSpPr>
          <p:sp>
            <p:nvSpPr>
              <p:cNvPr id="92" name="Rectangle 91"/>
              <p:cNvSpPr/>
              <p:nvPr/>
            </p:nvSpPr>
            <p:spPr>
              <a:xfrm>
                <a:off x="-3167275" y="2332377"/>
                <a:ext cx="1193582"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Proc20130903x</a:t>
                </a:r>
                <a:endParaRPr lang="en-US" sz="1224" dirty="0">
                  <a:solidFill>
                    <a:schemeClr val="tx1"/>
                  </a:solidFill>
                </a:endParaRPr>
              </a:p>
            </p:txBody>
          </p:sp>
          <p:sp>
            <p:nvSpPr>
              <p:cNvPr id="93" name="Rectangle 92"/>
              <p:cNvSpPr/>
              <p:nvPr/>
            </p:nvSpPr>
            <p:spPr>
              <a:xfrm>
                <a:off x="-1989426" y="2334219"/>
                <a:ext cx="909603"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sp>
            <p:nvSpPr>
              <p:cNvPr id="94" name="Rectangle 93"/>
              <p:cNvSpPr/>
              <p:nvPr/>
            </p:nvSpPr>
            <p:spPr>
              <a:xfrm>
                <a:off x="-1074763" y="2333907"/>
                <a:ext cx="795186"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grpSp>
        <p:grpSp>
          <p:nvGrpSpPr>
            <p:cNvPr id="95" name="Group 94"/>
            <p:cNvGrpSpPr/>
            <p:nvPr/>
          </p:nvGrpSpPr>
          <p:grpSpPr>
            <a:xfrm>
              <a:off x="-2356905" y="4199192"/>
              <a:ext cx="2887698" cy="253860"/>
              <a:chOff x="-3167275" y="2332377"/>
              <a:chExt cx="2887698" cy="253860"/>
            </a:xfrm>
          </p:grpSpPr>
          <p:sp>
            <p:nvSpPr>
              <p:cNvPr id="96" name="Rectangle 95"/>
              <p:cNvSpPr/>
              <p:nvPr/>
            </p:nvSpPr>
            <p:spPr>
              <a:xfrm>
                <a:off x="-3167275" y="2332377"/>
                <a:ext cx="1193582"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4" dirty="0">
                  <a:solidFill>
                    <a:schemeClr val="tx1"/>
                  </a:solidFill>
                </a:endParaRPr>
              </a:p>
            </p:txBody>
          </p:sp>
          <p:sp>
            <p:nvSpPr>
              <p:cNvPr id="97" name="Rectangle 96"/>
              <p:cNvSpPr/>
              <p:nvPr/>
            </p:nvSpPr>
            <p:spPr>
              <a:xfrm>
                <a:off x="-1989426" y="2334219"/>
                <a:ext cx="909603"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4" dirty="0">
                  <a:solidFill>
                    <a:schemeClr val="tx1"/>
                  </a:solidFill>
                </a:endParaRPr>
              </a:p>
            </p:txBody>
          </p:sp>
          <p:sp>
            <p:nvSpPr>
              <p:cNvPr id="98" name="Rectangle 97"/>
              <p:cNvSpPr/>
              <p:nvPr/>
            </p:nvSpPr>
            <p:spPr>
              <a:xfrm>
                <a:off x="-1074763" y="2333907"/>
                <a:ext cx="795186"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4" dirty="0">
                  <a:solidFill>
                    <a:schemeClr val="tx1"/>
                  </a:solidFill>
                </a:endParaRPr>
              </a:p>
            </p:txBody>
          </p:sp>
        </p:grpSp>
        <p:grpSp>
          <p:nvGrpSpPr>
            <p:cNvPr id="99" name="Group 98"/>
            <p:cNvGrpSpPr/>
            <p:nvPr/>
          </p:nvGrpSpPr>
          <p:grpSpPr>
            <a:xfrm>
              <a:off x="-2353679" y="3704551"/>
              <a:ext cx="2887698" cy="253860"/>
              <a:chOff x="-3167275" y="2332377"/>
              <a:chExt cx="2887698" cy="253860"/>
            </a:xfrm>
          </p:grpSpPr>
          <p:sp>
            <p:nvSpPr>
              <p:cNvPr id="100" name="Rectangle 99"/>
              <p:cNvSpPr/>
              <p:nvPr/>
            </p:nvSpPr>
            <p:spPr>
              <a:xfrm>
                <a:off x="-3167275" y="2332377"/>
                <a:ext cx="1193582"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Pat20130903x</a:t>
                </a:r>
                <a:endParaRPr lang="en-US" sz="1224" dirty="0">
                  <a:solidFill>
                    <a:schemeClr val="tx1"/>
                  </a:solidFill>
                </a:endParaRPr>
              </a:p>
            </p:txBody>
          </p:sp>
          <p:sp>
            <p:nvSpPr>
              <p:cNvPr id="101" name="Rectangle 100"/>
              <p:cNvSpPr/>
              <p:nvPr/>
            </p:nvSpPr>
            <p:spPr>
              <a:xfrm>
                <a:off x="-1989426" y="2334219"/>
                <a:ext cx="909603"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sp>
            <p:nvSpPr>
              <p:cNvPr id="102" name="Rectangle 101"/>
              <p:cNvSpPr/>
              <p:nvPr/>
            </p:nvSpPr>
            <p:spPr>
              <a:xfrm>
                <a:off x="-1074763" y="2333907"/>
                <a:ext cx="795186"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grpSp>
      </p:grpSp>
      <p:sp>
        <p:nvSpPr>
          <p:cNvPr id="103" name="Rectangle 102"/>
          <p:cNvSpPr/>
          <p:nvPr/>
        </p:nvSpPr>
        <p:spPr>
          <a:xfrm>
            <a:off x="8750746" y="5649097"/>
            <a:ext cx="1217343"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Proc20130903a</a:t>
            </a:r>
            <a:endParaRPr lang="en-US" sz="1224" dirty="0">
              <a:solidFill>
                <a:schemeClr val="tx1"/>
              </a:solidFill>
            </a:endParaRPr>
          </a:p>
        </p:txBody>
      </p:sp>
      <p:sp>
        <p:nvSpPr>
          <p:cNvPr id="108" name="Rectangle 107"/>
          <p:cNvSpPr/>
          <p:nvPr/>
        </p:nvSpPr>
        <p:spPr>
          <a:xfrm>
            <a:off x="2970141" y="5146685"/>
            <a:ext cx="1161078"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Patient</a:t>
            </a:r>
          </a:p>
        </p:txBody>
      </p:sp>
      <p:sp>
        <p:nvSpPr>
          <p:cNvPr id="109" name="Rectangle 108"/>
          <p:cNvSpPr/>
          <p:nvPr/>
        </p:nvSpPr>
        <p:spPr>
          <a:xfrm>
            <a:off x="4120563" y="5152169"/>
            <a:ext cx="729144"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4" dirty="0">
              <a:solidFill>
                <a:schemeClr val="tx1"/>
              </a:solidFill>
            </a:endParaRPr>
          </a:p>
        </p:txBody>
      </p:sp>
      <p:sp>
        <p:nvSpPr>
          <p:cNvPr id="107" name="Rectangle 106"/>
          <p:cNvSpPr/>
          <p:nvPr/>
        </p:nvSpPr>
        <p:spPr>
          <a:xfrm>
            <a:off x="4134623" y="5148816"/>
            <a:ext cx="729144"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New</a:t>
            </a:r>
            <a:endParaRPr lang="en-US" sz="1224" dirty="0">
              <a:solidFill>
                <a:schemeClr val="tx1"/>
              </a:solidFill>
            </a:endParaRPr>
          </a:p>
        </p:txBody>
      </p:sp>
      <p:grpSp>
        <p:nvGrpSpPr>
          <p:cNvPr id="9" name="Group 8"/>
          <p:cNvGrpSpPr/>
          <p:nvPr/>
        </p:nvGrpSpPr>
        <p:grpSpPr>
          <a:xfrm>
            <a:off x="9322912" y="3940858"/>
            <a:ext cx="379842" cy="606488"/>
            <a:chOff x="9486949" y="3454499"/>
            <a:chExt cx="372428" cy="594650"/>
          </a:xfrm>
        </p:grpSpPr>
        <p:pic>
          <p:nvPicPr>
            <p:cNvPr id="47" name="Picture 4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26657" y="3525074"/>
              <a:ext cx="332720" cy="443627"/>
            </a:xfrm>
            <a:prstGeom prst="rect">
              <a:avLst/>
            </a:prstGeom>
          </p:spPr>
        </p:pic>
        <p:sp>
          <p:nvSpPr>
            <p:cNvPr id="5" name="TextBox 4"/>
            <p:cNvSpPr txBox="1"/>
            <p:nvPr/>
          </p:nvSpPr>
          <p:spPr>
            <a:xfrm>
              <a:off x="9486949" y="3454499"/>
              <a:ext cx="323910" cy="594650"/>
            </a:xfrm>
            <a:prstGeom prst="rect">
              <a:avLst/>
            </a:prstGeom>
            <a:noFill/>
          </p:spPr>
          <p:txBody>
            <a:bodyPr wrap="square" rtlCol="0">
              <a:spAutoFit/>
            </a:bodyPr>
            <a:lstStyle/>
            <a:p>
              <a:r>
                <a:rPr lang="en-US" sz="3264" b="1" dirty="0">
                  <a:solidFill>
                    <a:srgbClr val="FF0000"/>
                  </a:solidFill>
                </a:rPr>
                <a:t>X</a:t>
              </a:r>
              <a:endParaRPr lang="en-US" sz="3264" b="1" dirty="0">
                <a:solidFill>
                  <a:srgbClr val="FF0000"/>
                </a:solidFill>
              </a:endParaRPr>
            </a:p>
          </p:txBody>
        </p:sp>
      </p:grpSp>
      <p:pic>
        <p:nvPicPr>
          <p:cNvPr id="79" name="Picture 78"/>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432209" y="5091366"/>
            <a:ext cx="339344" cy="452458"/>
          </a:xfrm>
          <a:prstGeom prst="rect">
            <a:avLst/>
          </a:prstGeom>
        </p:spPr>
      </p:pic>
      <p:sp>
        <p:nvSpPr>
          <p:cNvPr id="86" name="TextBox 85"/>
          <p:cNvSpPr txBox="1"/>
          <p:nvPr/>
        </p:nvSpPr>
        <p:spPr>
          <a:xfrm>
            <a:off x="1710654" y="1578603"/>
            <a:ext cx="5871121" cy="318286"/>
          </a:xfrm>
          <a:prstGeom prst="rect">
            <a:avLst/>
          </a:prstGeom>
          <a:noFill/>
        </p:spPr>
        <p:txBody>
          <a:bodyPr wrap="square" rtlCol="0">
            <a:spAutoFit/>
          </a:bodyPr>
          <a:lstStyle/>
          <a:p>
            <a:r>
              <a:rPr lang="en-US" sz="1428" dirty="0"/>
              <a:t>Step 1</a:t>
            </a:r>
            <a:r>
              <a:rPr lang="en-US" sz="1428" dirty="0"/>
              <a:t>:  Load Balancer and IP pointed to DR.</a:t>
            </a:r>
            <a:endParaRPr lang="en-US" sz="1428" dirty="0"/>
          </a:p>
        </p:txBody>
      </p:sp>
    </p:spTree>
    <p:extLst>
      <p:ext uri="{BB962C8B-B14F-4D97-AF65-F5344CB8AC3E}">
        <p14:creationId xmlns:p14="http://schemas.microsoft.com/office/powerpoint/2010/main" val="13292201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fade">
                                      <p:cBhvr>
                                        <p:cTn id="7" dur="500"/>
                                        <p:tgtEl>
                                          <p:spTgt spid="8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par>
                                <p:cTn id="13" presetID="1" presetClass="entr" presetSubtype="0" fill="hold" grpId="0" nodeType="withEffect">
                                  <p:stCondLst>
                                    <p:cond delay="0"/>
                                  </p:stCondLst>
                                  <p:childTnLst>
                                    <p:set>
                                      <p:cBhvr>
                                        <p:cTn id="14" dur="1" fill="hold">
                                          <p:stCondLst>
                                            <p:cond delay="0"/>
                                          </p:stCondLst>
                                        </p:cTn>
                                        <p:tgtEl>
                                          <p:spTgt spid="3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0" presetClass="entr" presetSubtype="0" fill="hold"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1500"/>
                                        <p:tgtEl>
                                          <p:spTgt spid="3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7"/>
                                        </p:tgtEl>
                                        <p:attrNameLst>
                                          <p:attrName>style.visibility</p:attrName>
                                        </p:attrNameLst>
                                      </p:cBhvr>
                                      <p:to>
                                        <p:strVal val="visible"/>
                                      </p:to>
                                    </p:set>
                                    <p:animEffect transition="in" filter="fade">
                                      <p:cBhvr>
                                        <p:cTn id="22" dur="500"/>
                                        <p:tgtEl>
                                          <p:spTgt spid="67"/>
                                        </p:tgtEl>
                                      </p:cBhvr>
                                    </p:animEffect>
                                  </p:childTnLst>
                                </p:cTn>
                              </p:par>
                            </p:childTnLst>
                          </p:cTn>
                        </p:par>
                        <p:par>
                          <p:cTn id="23" fill="hold">
                            <p:stCondLst>
                              <p:cond delay="1500"/>
                            </p:stCondLst>
                            <p:childTnLst>
                              <p:par>
                                <p:cTn id="24" presetID="42" presetClass="path" presetSubtype="0" accel="50000" decel="50000" fill="hold" grpId="1" nodeType="afterEffect">
                                  <p:stCondLst>
                                    <p:cond delay="0"/>
                                  </p:stCondLst>
                                  <p:childTnLst>
                                    <p:animMotion origin="layout" path="M -0.00052 -0.00185 L 0.38715 0.16898 " pathEditMode="relative" rAng="0" ptsTypes="AA">
                                      <p:cBhvr>
                                        <p:cTn id="25" dur="2000" fill="hold"/>
                                        <p:tgtEl>
                                          <p:spTgt spid="67"/>
                                        </p:tgtEl>
                                        <p:attrNameLst>
                                          <p:attrName>ppt_x</p:attrName>
                                          <p:attrName>ppt_y</p:attrName>
                                        </p:attrNameLst>
                                      </p:cBhvr>
                                      <p:rCtr x="19375" y="8542"/>
                                    </p:animMotion>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68"/>
                                        </p:tgtEl>
                                        <p:attrNameLst>
                                          <p:attrName>style.visibility</p:attrName>
                                        </p:attrNameLst>
                                      </p:cBhvr>
                                      <p:to>
                                        <p:strVal val="visible"/>
                                      </p:to>
                                    </p:set>
                                    <p:animEffect transition="in" filter="fade">
                                      <p:cBhvr>
                                        <p:cTn id="30" dur="500"/>
                                        <p:tgtEl>
                                          <p:spTgt spid="68"/>
                                        </p:tgtEl>
                                      </p:cBhvr>
                                    </p:animEffect>
                                  </p:childTnLst>
                                </p:cTn>
                              </p:par>
                              <p:par>
                                <p:cTn id="31" presetID="8" presetClass="emph" presetSubtype="0" fill="hold" nodeType="withEffect">
                                  <p:stCondLst>
                                    <p:cond delay="0"/>
                                  </p:stCondLst>
                                  <p:childTnLst>
                                    <p:animRot by="21600000">
                                      <p:cBhvr>
                                        <p:cTn id="32" dur="2000" fill="hold"/>
                                        <p:tgtEl>
                                          <p:spTgt spid="4"/>
                                        </p:tgtEl>
                                        <p:attrNameLst>
                                          <p:attrName>r</p:attrName>
                                        </p:attrNameLst>
                                      </p:cBhvr>
                                    </p:animRot>
                                  </p:childTnLst>
                                </p:cTn>
                              </p:par>
                              <p:par>
                                <p:cTn id="33" presetID="1" presetClass="entr" presetSubtype="0" fill="hold" nodeType="withEffect">
                                  <p:stCondLst>
                                    <p:cond delay="0"/>
                                  </p:stCondLst>
                                  <p:childTnLst>
                                    <p:set>
                                      <p:cBhvr>
                                        <p:cTn id="34" dur="1" fill="hold">
                                          <p:stCondLst>
                                            <p:cond delay="0"/>
                                          </p:stCondLst>
                                        </p:cTn>
                                        <p:tgtEl>
                                          <p:spTgt spid="3"/>
                                        </p:tgtEl>
                                        <p:attrNameLst>
                                          <p:attrName>style.visibility</p:attrName>
                                        </p:attrNameLst>
                                      </p:cBhvr>
                                      <p:to>
                                        <p:strVal val="visible"/>
                                      </p:to>
                                    </p:set>
                                  </p:childTnLst>
                                </p:cTn>
                              </p:par>
                              <p:par>
                                <p:cTn id="35" presetID="42" presetClass="path" presetSubtype="0" accel="50000" decel="50000" fill="hold" nodeType="withEffect">
                                  <p:stCondLst>
                                    <p:cond delay="0"/>
                                  </p:stCondLst>
                                  <p:childTnLst>
                                    <p:animMotion origin="layout" path="M -1.38889E-6 3.33333E-6 L 0.23229 0.19398 " pathEditMode="relative" rAng="0" ptsTypes="AA">
                                      <p:cBhvr>
                                        <p:cTn id="36" dur="2000" fill="hold"/>
                                        <p:tgtEl>
                                          <p:spTgt spid="3"/>
                                        </p:tgtEl>
                                        <p:attrNameLst>
                                          <p:attrName>ppt_x</p:attrName>
                                          <p:attrName>ppt_y</p:attrName>
                                        </p:attrNameLst>
                                      </p:cBhvr>
                                      <p:rCtr x="11615" y="9699"/>
                                    </p:animMotion>
                                  </p:childTnLst>
                                </p:cTn>
                              </p:par>
                            </p:childTnLst>
                          </p:cTn>
                        </p:par>
                        <p:par>
                          <p:cTn id="37" fill="hold">
                            <p:stCondLst>
                              <p:cond delay="2000"/>
                            </p:stCondLst>
                            <p:childTnLst>
                              <p:par>
                                <p:cTn id="38" presetID="1" presetClass="entr" presetSubtype="0" fill="hold" nodeType="afterEffect">
                                  <p:stCondLst>
                                    <p:cond delay="0"/>
                                  </p:stCondLst>
                                  <p:childTnLst>
                                    <p:set>
                                      <p:cBhvr>
                                        <p:cTn id="39" dur="1" fill="hold">
                                          <p:stCondLst>
                                            <p:cond delay="0"/>
                                          </p:stCondLst>
                                        </p:cTn>
                                        <p:tgtEl>
                                          <p:spTgt spid="79"/>
                                        </p:tgtEl>
                                        <p:attrNameLst>
                                          <p:attrName>style.visibility</p:attrName>
                                        </p:attrNameLst>
                                      </p:cBhvr>
                                      <p:to>
                                        <p:strVal val="visible"/>
                                      </p:to>
                                    </p:set>
                                  </p:childTnLst>
                                </p:cTn>
                              </p:par>
                            </p:childTnLst>
                          </p:cTn>
                        </p:par>
                        <p:par>
                          <p:cTn id="40" fill="hold">
                            <p:stCondLst>
                              <p:cond delay="2000"/>
                            </p:stCondLst>
                            <p:childTnLst>
                              <p:par>
                                <p:cTn id="41" presetID="42" presetClass="path" presetSubtype="0" accel="50000" decel="50000" fill="hold" nodeType="afterEffect">
                                  <p:stCondLst>
                                    <p:cond delay="0"/>
                                  </p:stCondLst>
                                  <p:childTnLst>
                                    <p:animMotion origin="layout" path="M 2.77778E-6 4.81481E-6 L 0.00104 -0.15926 " pathEditMode="relative" rAng="0" ptsTypes="AA">
                                      <p:cBhvr>
                                        <p:cTn id="42" dur="2000" fill="hold"/>
                                        <p:tgtEl>
                                          <p:spTgt spid="79"/>
                                        </p:tgtEl>
                                        <p:attrNameLst>
                                          <p:attrName>ppt_x</p:attrName>
                                          <p:attrName>ppt_y</p:attrName>
                                        </p:attrNameLst>
                                      </p:cBhvr>
                                      <p:rCtr x="52" y="-7963"/>
                                    </p:animMotion>
                                  </p:childTnLst>
                                </p:cTn>
                              </p:par>
                              <p:par>
                                <p:cTn id="43" presetID="27" presetClass="emph" presetSubtype="0" fill="remove" nodeType="withEffect">
                                  <p:stCondLst>
                                    <p:cond delay="0"/>
                                  </p:stCondLst>
                                  <p:childTnLst>
                                    <p:animClr clrSpc="rgb" dir="cw">
                                      <p:cBhvr override="childStyle">
                                        <p:cTn id="44" dur="1000" autoRev="1" fill="remove"/>
                                        <p:tgtEl>
                                          <p:spTgt spid="21"/>
                                        </p:tgtEl>
                                        <p:attrNameLst>
                                          <p:attrName>style.color</p:attrName>
                                        </p:attrNameLst>
                                      </p:cBhvr>
                                      <p:to>
                                        <a:schemeClr val="bg2"/>
                                      </p:to>
                                    </p:animClr>
                                    <p:animClr clrSpc="rgb" dir="cw">
                                      <p:cBhvr>
                                        <p:cTn id="45" dur="1000" autoRev="1" fill="remove"/>
                                        <p:tgtEl>
                                          <p:spTgt spid="21"/>
                                        </p:tgtEl>
                                        <p:attrNameLst>
                                          <p:attrName>fillcolor</p:attrName>
                                        </p:attrNameLst>
                                      </p:cBhvr>
                                      <p:to>
                                        <a:schemeClr val="bg2"/>
                                      </p:to>
                                    </p:animClr>
                                    <p:set>
                                      <p:cBhvr>
                                        <p:cTn id="46" dur="1000" autoRev="1" fill="remove"/>
                                        <p:tgtEl>
                                          <p:spTgt spid="21"/>
                                        </p:tgtEl>
                                        <p:attrNameLst>
                                          <p:attrName>fill.type</p:attrName>
                                        </p:attrNameLst>
                                      </p:cBhvr>
                                      <p:to>
                                        <p:strVal val="solid"/>
                                      </p:to>
                                    </p:set>
                                    <p:set>
                                      <p:cBhvr>
                                        <p:cTn id="47" dur="1000" autoRev="1" fill="remove"/>
                                        <p:tgtEl>
                                          <p:spTgt spid="21"/>
                                        </p:tgtEl>
                                        <p:attrNameLst>
                                          <p:attrName>fill.on</p:attrName>
                                        </p:attrNameLst>
                                      </p:cBhvr>
                                      <p:to>
                                        <p:strVal val="true"/>
                                      </p:to>
                                    </p:set>
                                  </p:childTnLst>
                                  <p:subTnLst>
                                    <p:set>
                                      <p:cBhvr override="childStyle">
                                        <p:cTn dur="1" fill="hold" display="0" masterRel="sameClick" afterEffect="1">
                                          <p:stCondLst>
                                            <p:cond evt="end" delay="0">
                                              <p:tn val="43"/>
                                            </p:cond>
                                          </p:stCondLst>
                                        </p:cTn>
                                        <p:tgtEl>
                                          <p:spTgt spid="21"/>
                                        </p:tgtEl>
                                        <p:attrNameLst>
                                          <p:attrName>style.visibility</p:attrName>
                                        </p:attrNameLst>
                                      </p:cBhvr>
                                      <p:to>
                                        <p:strVal val="hidden"/>
                                      </p:to>
                                    </p:set>
                                  </p:subTnLst>
                                </p:cTn>
                              </p:par>
                            </p:childTnLst>
                          </p:cTn>
                        </p:par>
                        <p:par>
                          <p:cTn id="48" fill="hold">
                            <p:stCondLst>
                              <p:cond delay="4000"/>
                            </p:stCondLst>
                            <p:childTnLst>
                              <p:par>
                                <p:cTn id="49" presetID="1" presetClass="exit" presetSubtype="0" fill="hold" nodeType="afterEffect">
                                  <p:stCondLst>
                                    <p:cond delay="0"/>
                                  </p:stCondLst>
                                  <p:childTnLst>
                                    <p:set>
                                      <p:cBhvr>
                                        <p:cTn id="50" dur="1" fill="hold">
                                          <p:stCondLst>
                                            <p:cond delay="0"/>
                                          </p:stCondLst>
                                        </p:cTn>
                                        <p:tgtEl>
                                          <p:spTgt spid="79"/>
                                        </p:tgtEl>
                                        <p:attrNameLst>
                                          <p:attrName>style.visibility</p:attrName>
                                        </p:attrNameLst>
                                      </p:cBhvr>
                                      <p:to>
                                        <p:strVal val="hidden"/>
                                      </p:to>
                                    </p:set>
                                  </p:childTnLst>
                                </p:cTn>
                              </p:par>
                            </p:childTnLst>
                          </p:cTn>
                        </p:par>
                        <p:par>
                          <p:cTn id="51" fill="hold">
                            <p:stCondLst>
                              <p:cond delay="4000"/>
                            </p:stCondLst>
                            <p:childTnLst>
                              <p:par>
                                <p:cTn id="52" presetID="1" presetClass="entr" presetSubtype="0" fill="hold" nodeType="afterEffect">
                                  <p:stCondLst>
                                    <p:cond delay="0"/>
                                  </p:stCondLst>
                                  <p:childTnLst>
                                    <p:set>
                                      <p:cBhvr>
                                        <p:cTn id="53" dur="1" fill="hold">
                                          <p:stCondLst>
                                            <p:cond delay="0"/>
                                          </p:stCondLst>
                                        </p:cTn>
                                        <p:tgtEl>
                                          <p:spTgt spid="9"/>
                                        </p:tgtEl>
                                        <p:attrNameLst>
                                          <p:attrName>style.visibility</p:attrName>
                                        </p:attrNameLst>
                                      </p:cBhvr>
                                      <p:to>
                                        <p:strVal val="visible"/>
                                      </p:to>
                                    </p:set>
                                  </p:childTnLst>
                                </p:cTn>
                              </p:par>
                            </p:childTnLst>
                          </p:cTn>
                        </p:par>
                        <p:par>
                          <p:cTn id="54" fill="hold">
                            <p:stCondLst>
                              <p:cond delay="4000"/>
                            </p:stCondLst>
                            <p:childTnLst>
                              <p:par>
                                <p:cTn id="55" presetID="1" presetClass="entr" presetSubtype="0" fill="hold" nodeType="afterEffect">
                                  <p:stCondLst>
                                    <p:cond delay="0"/>
                                  </p:stCondLst>
                                  <p:childTnLst>
                                    <p:set>
                                      <p:cBhvr>
                                        <p:cTn id="56" dur="1" fill="hold">
                                          <p:stCondLst>
                                            <p:cond delay="0"/>
                                          </p:stCondLst>
                                        </p:cTn>
                                        <p:tgtEl>
                                          <p:spTgt spid="19"/>
                                        </p:tgtEl>
                                        <p:attrNameLst>
                                          <p:attrName>style.visibility</p:attrName>
                                        </p:attrNameLst>
                                      </p:cBhvr>
                                      <p:to>
                                        <p:strVal val="visible"/>
                                      </p:to>
                                    </p:set>
                                  </p:childTnLst>
                                </p:cTn>
                              </p:par>
                            </p:childTnLst>
                          </p:cTn>
                        </p:par>
                        <p:par>
                          <p:cTn id="57" fill="hold">
                            <p:stCondLst>
                              <p:cond delay="4000"/>
                            </p:stCondLst>
                            <p:childTnLst>
                              <p:par>
                                <p:cTn id="58" presetID="1" presetClass="exit" presetSubtype="0" fill="hold" grpId="2" nodeType="afterEffect">
                                  <p:stCondLst>
                                    <p:cond delay="0"/>
                                  </p:stCondLst>
                                  <p:childTnLst>
                                    <p:set>
                                      <p:cBhvr>
                                        <p:cTn id="59" dur="1" fill="hold">
                                          <p:stCondLst>
                                            <p:cond delay="0"/>
                                          </p:stCondLst>
                                        </p:cTn>
                                        <p:tgtEl>
                                          <p:spTgt spid="67"/>
                                        </p:tgtEl>
                                        <p:attrNameLst>
                                          <p:attrName>style.visibility</p:attrName>
                                        </p:attrNameLst>
                                      </p:cBhvr>
                                      <p:to>
                                        <p:strVal val="hidden"/>
                                      </p:to>
                                    </p:se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69"/>
                                        </p:tgtEl>
                                        <p:attrNameLst>
                                          <p:attrName>style.visibility</p:attrName>
                                        </p:attrNameLst>
                                      </p:cBhvr>
                                      <p:to>
                                        <p:strVal val="visible"/>
                                      </p:to>
                                    </p:set>
                                    <p:animEffect transition="in" filter="fade">
                                      <p:cBhvr>
                                        <p:cTn id="64" dur="500"/>
                                        <p:tgtEl>
                                          <p:spTgt spid="69"/>
                                        </p:tgtEl>
                                      </p:cBhvr>
                                    </p:animEffect>
                                  </p:childTnLst>
                                </p:cTn>
                              </p:par>
                              <p:par>
                                <p:cTn id="65" presetID="10" presetClass="exit" presetSubtype="0" fill="hold" nodeType="withEffect">
                                  <p:stCondLst>
                                    <p:cond delay="0"/>
                                  </p:stCondLst>
                                  <p:childTnLst>
                                    <p:animEffect transition="out" filter="fade">
                                      <p:cBhvr>
                                        <p:cTn id="66" dur="500"/>
                                        <p:tgtEl>
                                          <p:spTgt spid="30"/>
                                        </p:tgtEl>
                                      </p:cBhvr>
                                    </p:animEffect>
                                    <p:set>
                                      <p:cBhvr>
                                        <p:cTn id="67" dur="1" fill="hold">
                                          <p:stCondLst>
                                            <p:cond delay="499"/>
                                          </p:stCondLst>
                                        </p:cTn>
                                        <p:tgtEl>
                                          <p:spTgt spid="30"/>
                                        </p:tgtEl>
                                        <p:attrNameLst>
                                          <p:attrName>style.visibility</p:attrName>
                                        </p:attrNameLst>
                                      </p:cBhvr>
                                      <p:to>
                                        <p:strVal val="hidden"/>
                                      </p:to>
                                    </p:set>
                                  </p:childTnLst>
                                </p:cTn>
                              </p:par>
                              <p:par>
                                <p:cTn id="68" presetID="1" presetClass="entr" presetSubtype="0" fill="hold" nodeType="withEffect">
                                  <p:stCondLst>
                                    <p:cond delay="0"/>
                                  </p:stCondLst>
                                  <p:childTnLst>
                                    <p:set>
                                      <p:cBhvr>
                                        <p:cTn id="69" dur="1" fill="hold">
                                          <p:stCondLst>
                                            <p:cond delay="0"/>
                                          </p:stCondLst>
                                        </p:cTn>
                                        <p:tgtEl>
                                          <p:spTgt spid="36"/>
                                        </p:tgtEl>
                                        <p:attrNameLst>
                                          <p:attrName>style.visibility</p:attrName>
                                        </p:attrNameLst>
                                      </p:cBhvr>
                                      <p:to>
                                        <p:strVal val="visible"/>
                                      </p:to>
                                    </p:set>
                                  </p:childTnLst>
                                </p:cTn>
                              </p:par>
                              <p:par>
                                <p:cTn id="70" presetID="1" presetClass="entr" presetSubtype="0" fill="hold" grpId="0" nodeType="withEffect">
                                  <p:stCondLst>
                                    <p:cond delay="0"/>
                                  </p:stCondLst>
                                  <p:childTnLst>
                                    <p:set>
                                      <p:cBhvr>
                                        <p:cTn id="71" dur="1" fill="hold">
                                          <p:stCondLst>
                                            <p:cond delay="0"/>
                                          </p:stCondLst>
                                        </p:cTn>
                                        <p:tgtEl>
                                          <p:spTgt spid="109"/>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103"/>
                                        </p:tgtEl>
                                        <p:attrNameLst>
                                          <p:attrName>style.visibility</p:attrName>
                                        </p:attrNameLst>
                                      </p:cBhvr>
                                      <p:to>
                                        <p:strVal val="visible"/>
                                      </p:to>
                                    </p:set>
                                  </p:childTnLst>
                                </p:cTn>
                              </p:par>
                              <p:par>
                                <p:cTn id="74" presetID="42" presetClass="path" presetSubtype="0" accel="50000" decel="50000" fill="hold" grpId="1" nodeType="withEffect">
                                  <p:stCondLst>
                                    <p:cond delay="0"/>
                                  </p:stCondLst>
                                  <p:childTnLst>
                                    <p:animMotion origin="layout" path="M 3.61111E-6 1.11111E-6 L -0.41806 -0.0713 " pathEditMode="relative" rAng="0" ptsTypes="AA">
                                      <p:cBhvr>
                                        <p:cTn id="75" dur="2000" fill="hold"/>
                                        <p:tgtEl>
                                          <p:spTgt spid="103"/>
                                        </p:tgtEl>
                                        <p:attrNameLst>
                                          <p:attrName>ppt_x</p:attrName>
                                          <p:attrName>ppt_y</p:attrName>
                                        </p:attrNameLst>
                                      </p:cBhvr>
                                      <p:rCtr x="-20937" y="-3588"/>
                                    </p:animMotion>
                                  </p:childTnLst>
                                </p:cTn>
                              </p:par>
                            </p:childTnLst>
                          </p:cTn>
                        </p:par>
                        <p:par>
                          <p:cTn id="76" fill="hold">
                            <p:stCondLst>
                              <p:cond delay="2000"/>
                            </p:stCondLst>
                            <p:childTnLst>
                              <p:par>
                                <p:cTn id="77" presetID="1" presetClass="entr" presetSubtype="0" fill="hold" grpId="0" nodeType="afterEffect">
                                  <p:stCondLst>
                                    <p:cond delay="0"/>
                                  </p:stCondLst>
                                  <p:childTnLst>
                                    <p:set>
                                      <p:cBhvr>
                                        <p:cTn id="78" dur="1" fill="hold">
                                          <p:stCondLst>
                                            <p:cond delay="0"/>
                                          </p:stCondLst>
                                        </p:cTn>
                                        <p:tgtEl>
                                          <p:spTgt spid="108"/>
                                        </p:tgtEl>
                                        <p:attrNameLst>
                                          <p:attrName>style.visibility</p:attrName>
                                        </p:attrNameLst>
                                      </p:cBhvr>
                                      <p:to>
                                        <p:strVal val="visible"/>
                                      </p:to>
                                    </p:set>
                                  </p:childTnLst>
                                </p:cTn>
                              </p:par>
                            </p:childTnLst>
                          </p:cTn>
                        </p:par>
                        <p:par>
                          <p:cTn id="79" fill="hold">
                            <p:stCondLst>
                              <p:cond delay="2000"/>
                            </p:stCondLst>
                            <p:childTnLst>
                              <p:par>
                                <p:cTn id="80" presetID="1" presetClass="entr" presetSubtype="0" fill="hold" grpId="0" nodeType="afterEffect">
                                  <p:stCondLst>
                                    <p:cond delay="0"/>
                                  </p:stCondLst>
                                  <p:childTnLst>
                                    <p:set>
                                      <p:cBhvr>
                                        <p:cTn id="81" dur="1" fill="hold">
                                          <p:stCondLst>
                                            <p:cond delay="0"/>
                                          </p:stCondLst>
                                        </p:cTn>
                                        <p:tgtEl>
                                          <p:spTgt spid="107"/>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70"/>
                                        </p:tgtEl>
                                        <p:attrNameLst>
                                          <p:attrName>style.visibility</p:attrName>
                                        </p:attrNameLst>
                                      </p:cBhvr>
                                      <p:to>
                                        <p:strVal val="visible"/>
                                      </p:to>
                                    </p:set>
                                    <p:animEffect transition="in" filter="fade">
                                      <p:cBhvr>
                                        <p:cTn id="86" dur="500"/>
                                        <p:tgtEl>
                                          <p:spTgt spid="70"/>
                                        </p:tgtEl>
                                      </p:cBhvr>
                                    </p:animEffect>
                                  </p:childTnLst>
                                </p:cTn>
                              </p:par>
                              <p:par>
                                <p:cTn id="87" presetID="1" presetClass="exit" presetSubtype="0" fill="hold" grpId="1" nodeType="withEffect">
                                  <p:stCondLst>
                                    <p:cond delay="0"/>
                                  </p:stCondLst>
                                  <p:childTnLst>
                                    <p:set>
                                      <p:cBhvr>
                                        <p:cTn id="88" dur="1" fill="hold">
                                          <p:stCondLst>
                                            <p:cond delay="0"/>
                                          </p:stCondLst>
                                        </p:cTn>
                                        <p:tgtEl>
                                          <p:spTgt spid="109"/>
                                        </p:tgtEl>
                                        <p:attrNameLst>
                                          <p:attrName>style.visibility</p:attrName>
                                        </p:attrNameLst>
                                      </p:cBhvr>
                                      <p:to>
                                        <p:strVal val="hidden"/>
                                      </p:to>
                                    </p:set>
                                  </p:childTnLst>
                                </p:cTn>
                              </p:par>
                              <p:par>
                                <p:cTn id="89" presetID="1" presetClass="exit" presetSubtype="0" fill="hold" grpId="1" nodeType="withEffect">
                                  <p:stCondLst>
                                    <p:cond delay="0"/>
                                  </p:stCondLst>
                                  <p:childTnLst>
                                    <p:set>
                                      <p:cBhvr>
                                        <p:cTn id="90" dur="1" fill="hold">
                                          <p:stCondLst>
                                            <p:cond delay="0"/>
                                          </p:stCondLst>
                                        </p:cTn>
                                        <p:tgtEl>
                                          <p:spTgt spid="108"/>
                                        </p:tgtEl>
                                        <p:attrNameLst>
                                          <p:attrName>style.visibility</p:attrName>
                                        </p:attrNameLst>
                                      </p:cBhvr>
                                      <p:to>
                                        <p:strVal val="hidden"/>
                                      </p:to>
                                    </p:set>
                                  </p:childTnLst>
                                </p:cTn>
                              </p:par>
                              <p:par>
                                <p:cTn id="91" presetID="1" presetClass="exit" presetSubtype="0" fill="hold" grpId="1" nodeType="withEffect">
                                  <p:stCondLst>
                                    <p:cond delay="0"/>
                                  </p:stCondLst>
                                  <p:childTnLst>
                                    <p:set>
                                      <p:cBhvr>
                                        <p:cTn id="92" dur="1" fill="hold">
                                          <p:stCondLst>
                                            <p:cond delay="0"/>
                                          </p:stCondLst>
                                        </p:cTn>
                                        <p:tgtEl>
                                          <p:spTgt spid="107"/>
                                        </p:tgtEl>
                                        <p:attrNameLst>
                                          <p:attrName>style.visibility</p:attrName>
                                        </p:attrNameLst>
                                      </p:cBhvr>
                                      <p:to>
                                        <p:strVal val="hidden"/>
                                      </p:to>
                                    </p:set>
                                  </p:childTnLst>
                                </p:cTn>
                              </p:par>
                              <p:par>
                                <p:cTn id="93" presetID="1" presetClass="exit" presetSubtype="0" fill="hold" nodeType="withEffect">
                                  <p:stCondLst>
                                    <p:cond delay="0"/>
                                  </p:stCondLst>
                                  <p:childTnLst>
                                    <p:set>
                                      <p:cBhvr>
                                        <p:cTn id="94" dur="1" fill="hold">
                                          <p:stCondLst>
                                            <p:cond delay="0"/>
                                          </p:stCondLst>
                                        </p:cTn>
                                        <p:tgtEl>
                                          <p:spTgt spid="36"/>
                                        </p:tgtEl>
                                        <p:attrNameLst>
                                          <p:attrName>style.visibility</p:attrName>
                                        </p:attrNameLst>
                                      </p:cBhvr>
                                      <p:to>
                                        <p:strVal val="hidden"/>
                                      </p:to>
                                    </p:set>
                                  </p:childTnLst>
                                </p:cTn>
                              </p:par>
                              <p:par>
                                <p:cTn id="95" presetID="1" presetClass="exit" presetSubtype="0" fill="hold" grpId="2" nodeType="withEffect">
                                  <p:stCondLst>
                                    <p:cond delay="0"/>
                                  </p:stCondLst>
                                  <p:childTnLst>
                                    <p:set>
                                      <p:cBhvr>
                                        <p:cTn id="96" dur="1" fill="hold">
                                          <p:stCondLst>
                                            <p:cond delay="0"/>
                                          </p:stCondLst>
                                        </p:cTn>
                                        <p:tgtEl>
                                          <p:spTgt spid="103"/>
                                        </p:tgtEl>
                                        <p:attrNameLst>
                                          <p:attrName>style.visibility</p:attrName>
                                        </p:attrNameLst>
                                      </p:cBhvr>
                                      <p:to>
                                        <p:strVal val="hidden"/>
                                      </p:to>
                                    </p:set>
                                  </p:childTnLst>
                                </p:cTn>
                              </p:par>
                              <p:par>
                                <p:cTn id="97" presetID="1" presetClass="entr" presetSubtype="0" fill="hold" grpId="1" nodeType="withEffect">
                                  <p:stCondLst>
                                    <p:cond delay="0"/>
                                  </p:stCondLst>
                                  <p:childTnLst>
                                    <p:set>
                                      <p:cBhvr>
                                        <p:cTn id="98" dur="1" fill="hold">
                                          <p:stCondLst>
                                            <p:cond delay="0"/>
                                          </p:stCondLst>
                                        </p:cTn>
                                        <p:tgtEl>
                                          <p:spTgt spid="88"/>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30"/>
                                        </p:tgtEl>
                                        <p:attrNameLst>
                                          <p:attrName>style.visibility</p:attrName>
                                        </p:attrNameLst>
                                      </p:cBhvr>
                                      <p:to>
                                        <p:strVal val="visible"/>
                                      </p:to>
                                    </p:set>
                                  </p:childTnLst>
                                </p:cTn>
                              </p:par>
                            </p:childTnLst>
                          </p:cTn>
                        </p:par>
                        <p:par>
                          <p:cTn id="101" fill="hold">
                            <p:stCondLst>
                              <p:cond delay="500"/>
                            </p:stCondLst>
                            <p:childTnLst>
                              <p:par>
                                <p:cTn id="102" presetID="42" presetClass="path" presetSubtype="0" accel="50000" decel="50000" fill="hold" grpId="0" nodeType="afterEffect">
                                  <p:stCondLst>
                                    <p:cond delay="0"/>
                                  </p:stCondLst>
                                  <p:childTnLst>
                                    <p:animMotion origin="layout" path="M -3.33333E-6 4.07407E-6 L -0.39167 -0.16968 " pathEditMode="relative" rAng="0" ptsTypes="AA">
                                      <p:cBhvr>
                                        <p:cTn id="103" dur="2000" fill="hold"/>
                                        <p:tgtEl>
                                          <p:spTgt spid="88"/>
                                        </p:tgtEl>
                                        <p:attrNameLst>
                                          <p:attrName>ppt_x</p:attrName>
                                          <p:attrName>ppt_y</p:attrName>
                                        </p:attrNameLst>
                                      </p:cBhvr>
                                      <p:rCtr x="-19653" y="-814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6" grpId="0" animBg="1"/>
      <p:bldP spid="32" grpId="0" animBg="1"/>
      <p:bldP spid="67" grpId="0" animBg="1"/>
      <p:bldP spid="67" grpId="1" animBg="1"/>
      <p:bldP spid="67" grpId="2" animBg="1"/>
      <p:bldP spid="68" grpId="0"/>
      <p:bldP spid="69" grpId="0"/>
      <p:bldP spid="70" grpId="0"/>
      <p:bldP spid="88" grpId="0" animBg="1"/>
      <p:bldP spid="88" grpId="1" animBg="1"/>
      <p:bldP spid="103" grpId="0" animBg="1"/>
      <p:bldP spid="103" grpId="1" animBg="1"/>
      <p:bldP spid="103" grpId="2" animBg="1"/>
      <p:bldP spid="108" grpId="0" animBg="1"/>
      <p:bldP spid="108" grpId="1" animBg="1"/>
      <p:bldP spid="109" grpId="0" animBg="1"/>
      <p:bldP spid="109" grpId="1" animBg="1"/>
      <p:bldP spid="107" grpId="0" animBg="1"/>
      <p:bldP spid="107" grpId="1" animBg="1"/>
      <p:bldP spid="8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ular Callout 12"/>
          <p:cNvSpPr/>
          <p:nvPr/>
        </p:nvSpPr>
        <p:spPr>
          <a:xfrm>
            <a:off x="6917690" y="4126222"/>
            <a:ext cx="2716731" cy="2035335"/>
          </a:xfrm>
          <a:prstGeom prst="wedgeRectCallout">
            <a:avLst>
              <a:gd name="adj1" fmla="val 55498"/>
              <a:gd name="adj2" fmla="val 17111"/>
            </a:avLst>
          </a:prstGeom>
          <a:solidFill>
            <a:schemeClr val="accent4">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ular Callout 9"/>
          <p:cNvSpPr/>
          <p:nvPr/>
        </p:nvSpPr>
        <p:spPr>
          <a:xfrm>
            <a:off x="6917690" y="1874679"/>
            <a:ext cx="2729661" cy="2035335"/>
          </a:xfrm>
          <a:prstGeom prst="wedgeRectCallout">
            <a:avLst>
              <a:gd name="adj1" fmla="val 55498"/>
              <a:gd name="adj2" fmla="val 17111"/>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2" name="Title 1"/>
          <p:cNvSpPr>
            <a:spLocks noGrp="1"/>
          </p:cNvSpPr>
          <p:nvPr>
            <p:ph type="title"/>
          </p:nvPr>
        </p:nvSpPr>
        <p:spPr/>
        <p:txBody>
          <a:bodyPr/>
          <a:lstStyle/>
          <a:p>
            <a:r>
              <a:rPr lang="en-US" dirty="0" smtClean="0"/>
              <a:t>DR Activity – PDW Processing</a:t>
            </a:r>
            <a:endParaRPr lang="en-US" dirty="0"/>
          </a:p>
        </p:txBody>
      </p:sp>
      <p:cxnSp>
        <p:nvCxnSpPr>
          <p:cNvPr id="8" name="Straight Connector 7"/>
          <p:cNvCxnSpPr/>
          <p:nvPr/>
        </p:nvCxnSpPr>
        <p:spPr>
          <a:xfrm flipV="1">
            <a:off x="7016117" y="3963564"/>
            <a:ext cx="3706139" cy="32187"/>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6839972" y="1903329"/>
            <a:ext cx="3186395" cy="382308"/>
          </a:xfrm>
          <a:prstGeom prst="rect">
            <a:avLst/>
          </a:prstGeom>
          <a:noFill/>
        </p:spPr>
        <p:txBody>
          <a:bodyPr wrap="square" rtlCol="0">
            <a:spAutoFit/>
          </a:bodyPr>
          <a:lstStyle/>
          <a:p>
            <a:r>
              <a:rPr lang="en-US" sz="1836" dirty="0"/>
              <a:t>Landing Zone Server - Prod</a:t>
            </a:r>
          </a:p>
        </p:txBody>
      </p:sp>
      <p:sp>
        <p:nvSpPr>
          <p:cNvPr id="14" name="TextBox 13"/>
          <p:cNvSpPr txBox="1"/>
          <p:nvPr/>
        </p:nvSpPr>
        <p:spPr>
          <a:xfrm>
            <a:off x="6988826" y="4111761"/>
            <a:ext cx="3186395" cy="382308"/>
          </a:xfrm>
          <a:prstGeom prst="rect">
            <a:avLst/>
          </a:prstGeom>
          <a:noFill/>
        </p:spPr>
        <p:txBody>
          <a:bodyPr wrap="square" rtlCol="0">
            <a:spAutoFit/>
          </a:bodyPr>
          <a:lstStyle/>
          <a:p>
            <a:r>
              <a:rPr lang="en-US" sz="1836" dirty="0"/>
              <a:t>Landing Zone Server - DR</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08091" y="2534227"/>
            <a:ext cx="922603" cy="922603"/>
          </a:xfrm>
          <a:prstGeom prst="rect">
            <a:avLst/>
          </a:prstGeom>
          <a:effectLst>
            <a:outerShdw blurRad="50800" dist="50800" dir="5400000" algn="ctr" rotWithShape="0">
              <a:srgbClr val="000000">
                <a:alpha val="52000"/>
              </a:srgbClr>
            </a:outerShdw>
          </a:effectLst>
        </p:spPr>
      </p:pic>
      <p:pic>
        <p:nvPicPr>
          <p:cNvPr id="18" name="Picture 1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37472" y="4663017"/>
            <a:ext cx="922603" cy="922603"/>
          </a:xfrm>
          <a:prstGeom prst="rect">
            <a:avLst/>
          </a:prstGeom>
          <a:effectLst>
            <a:outerShdw blurRad="50800" dist="50800" dir="5400000" algn="ctr" rotWithShape="0">
              <a:srgbClr val="000000">
                <a:alpha val="52000"/>
              </a:srgbClr>
            </a:outerShdw>
          </a:effectLst>
        </p:spPr>
      </p:pic>
      <p:pic>
        <p:nvPicPr>
          <p:cNvPr id="22" name="Picture 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22489" y="4818450"/>
            <a:ext cx="611601" cy="611601"/>
          </a:xfrm>
          <a:prstGeom prst="rect">
            <a:avLst/>
          </a:prstGeom>
        </p:spPr>
      </p:pic>
      <p:pic>
        <p:nvPicPr>
          <p:cNvPr id="23" name="Picture 2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72650" y="2548549"/>
            <a:ext cx="611601" cy="611601"/>
          </a:xfrm>
          <a:prstGeom prst="rect">
            <a:avLst/>
          </a:prstGeom>
        </p:spPr>
      </p:pic>
      <p:pic>
        <p:nvPicPr>
          <p:cNvPr id="24" name="Picture 23"/>
          <p:cNvPicPr>
            <a:picLocks noChangeAspect="1"/>
          </p:cNvPicPr>
          <p:nvPr/>
        </p:nvPicPr>
        <p:blipFill>
          <a:blip r:embed="rId4"/>
          <a:stretch>
            <a:fillRect/>
          </a:stretch>
        </p:blipFill>
        <p:spPr>
          <a:xfrm>
            <a:off x="9813924" y="2069694"/>
            <a:ext cx="910573" cy="1934968"/>
          </a:xfrm>
          <a:prstGeom prst="rect">
            <a:avLst/>
          </a:prstGeom>
        </p:spPr>
      </p:pic>
      <p:pic>
        <p:nvPicPr>
          <p:cNvPr id="25" name="Picture 24"/>
          <p:cNvPicPr>
            <a:picLocks noChangeAspect="1"/>
          </p:cNvPicPr>
          <p:nvPr/>
        </p:nvPicPr>
        <p:blipFill>
          <a:blip r:embed="rId4"/>
          <a:stretch>
            <a:fillRect/>
          </a:stretch>
        </p:blipFill>
        <p:spPr>
          <a:xfrm>
            <a:off x="9804059" y="4226589"/>
            <a:ext cx="910573" cy="1934968"/>
          </a:xfrm>
          <a:prstGeom prst="rect">
            <a:avLst/>
          </a:prstGeom>
        </p:spPr>
      </p:pic>
      <p:sp>
        <p:nvSpPr>
          <p:cNvPr id="42" name="TextBox 41"/>
          <p:cNvSpPr txBox="1"/>
          <p:nvPr/>
        </p:nvSpPr>
        <p:spPr>
          <a:xfrm>
            <a:off x="8334076" y="5517903"/>
            <a:ext cx="1300345" cy="286306"/>
          </a:xfrm>
          <a:prstGeom prst="rect">
            <a:avLst/>
          </a:prstGeom>
          <a:noFill/>
        </p:spPr>
        <p:txBody>
          <a:bodyPr wrap="square" rtlCol="0">
            <a:spAutoFit/>
          </a:bodyPr>
          <a:lstStyle/>
          <a:p>
            <a:r>
              <a:rPr lang="en-US" sz="1224" dirty="0"/>
              <a:t>Load (SSIS)</a:t>
            </a:r>
          </a:p>
        </p:txBody>
      </p:sp>
      <p:sp>
        <p:nvSpPr>
          <p:cNvPr id="44" name="TextBox 43"/>
          <p:cNvSpPr txBox="1"/>
          <p:nvPr/>
        </p:nvSpPr>
        <p:spPr>
          <a:xfrm>
            <a:off x="8252878" y="3252293"/>
            <a:ext cx="1300345" cy="286306"/>
          </a:xfrm>
          <a:prstGeom prst="rect">
            <a:avLst/>
          </a:prstGeom>
          <a:noFill/>
        </p:spPr>
        <p:txBody>
          <a:bodyPr wrap="square" rtlCol="0">
            <a:spAutoFit/>
          </a:bodyPr>
          <a:lstStyle/>
          <a:p>
            <a:r>
              <a:rPr lang="en-US" sz="1224" dirty="0"/>
              <a:t>Load (SSIS)</a:t>
            </a:r>
          </a:p>
        </p:txBody>
      </p:sp>
      <p:pic>
        <p:nvPicPr>
          <p:cNvPr id="46" name="Picture 45"/>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399720" y="4987728"/>
            <a:ext cx="339344" cy="452458"/>
          </a:xfrm>
          <a:prstGeom prst="rect">
            <a:avLst/>
          </a:prstGeom>
        </p:spPr>
      </p:pic>
      <p:pic>
        <p:nvPicPr>
          <p:cNvPr id="47" name="Picture 4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402866" y="4987728"/>
            <a:ext cx="339344" cy="452458"/>
          </a:xfrm>
          <a:prstGeom prst="rect">
            <a:avLst/>
          </a:prstGeom>
        </p:spPr>
      </p:pic>
      <p:sp>
        <p:nvSpPr>
          <p:cNvPr id="53" name="TextBox 52"/>
          <p:cNvSpPr txBox="1"/>
          <p:nvPr/>
        </p:nvSpPr>
        <p:spPr>
          <a:xfrm>
            <a:off x="1912588" y="1963770"/>
            <a:ext cx="4081814" cy="531812"/>
          </a:xfrm>
          <a:prstGeom prst="rect">
            <a:avLst/>
          </a:prstGeom>
          <a:noFill/>
        </p:spPr>
        <p:txBody>
          <a:bodyPr wrap="square" rtlCol="0">
            <a:spAutoFit/>
          </a:bodyPr>
          <a:lstStyle/>
          <a:p>
            <a:r>
              <a:rPr lang="en-US" sz="1428" dirty="0"/>
              <a:t>Step </a:t>
            </a:r>
            <a:r>
              <a:rPr lang="en-US" sz="1428" dirty="0"/>
              <a:t>6: </a:t>
            </a:r>
            <a:r>
              <a:rPr lang="en-US" sz="1428" dirty="0"/>
              <a:t>PDW Load </a:t>
            </a:r>
            <a:r>
              <a:rPr lang="en-US" sz="1428" dirty="0"/>
              <a:t>Process reads ETL Control Detail to determine what needs to be completed</a:t>
            </a:r>
            <a:endParaRPr lang="en-US" sz="1428" dirty="0"/>
          </a:p>
        </p:txBody>
      </p:sp>
      <p:sp>
        <p:nvSpPr>
          <p:cNvPr id="54" name="TextBox 53"/>
          <p:cNvSpPr txBox="1"/>
          <p:nvPr/>
        </p:nvSpPr>
        <p:spPr>
          <a:xfrm>
            <a:off x="1903271" y="3495478"/>
            <a:ext cx="5007190" cy="766513"/>
          </a:xfrm>
          <a:prstGeom prst="rect">
            <a:avLst/>
          </a:prstGeom>
          <a:noFill/>
        </p:spPr>
        <p:txBody>
          <a:bodyPr wrap="square" rtlCol="0">
            <a:spAutoFit/>
          </a:bodyPr>
          <a:lstStyle/>
          <a:p>
            <a:r>
              <a:rPr lang="en-US" sz="1428" dirty="0"/>
              <a:t>Step 9</a:t>
            </a:r>
            <a:r>
              <a:rPr lang="en-US" sz="1428" dirty="0"/>
              <a:t>: Verification/Notification/Clean up – Based on the ETL Control Detail Table, the DFS folder is cleaned up if all PDW’s have processed the file </a:t>
            </a:r>
            <a:endParaRPr lang="en-US" sz="1428" dirty="0"/>
          </a:p>
        </p:txBody>
      </p:sp>
      <p:sp>
        <p:nvSpPr>
          <p:cNvPr id="35" name="TextBox 34"/>
          <p:cNvSpPr txBox="1"/>
          <p:nvPr/>
        </p:nvSpPr>
        <p:spPr>
          <a:xfrm>
            <a:off x="1907631" y="2547583"/>
            <a:ext cx="4081814" cy="542399"/>
          </a:xfrm>
          <a:prstGeom prst="rect">
            <a:avLst/>
          </a:prstGeom>
          <a:noFill/>
        </p:spPr>
        <p:txBody>
          <a:bodyPr wrap="square" rtlCol="0">
            <a:spAutoFit/>
          </a:bodyPr>
          <a:lstStyle/>
          <a:p>
            <a:r>
              <a:rPr lang="en-US" sz="1428" dirty="0"/>
              <a:t>Step 7</a:t>
            </a:r>
            <a:r>
              <a:rPr lang="en-US" sz="1428" dirty="0"/>
              <a:t>: Each PDW is loaded with the Data  it needs</a:t>
            </a:r>
            <a:endParaRPr lang="en-US" sz="1428" dirty="0"/>
          </a:p>
        </p:txBody>
      </p:sp>
      <p:sp>
        <p:nvSpPr>
          <p:cNvPr id="36" name="TextBox 35"/>
          <p:cNvSpPr txBox="1"/>
          <p:nvPr/>
        </p:nvSpPr>
        <p:spPr>
          <a:xfrm>
            <a:off x="1903272" y="2911665"/>
            <a:ext cx="4081814" cy="542399"/>
          </a:xfrm>
          <a:prstGeom prst="rect">
            <a:avLst/>
          </a:prstGeom>
          <a:noFill/>
        </p:spPr>
        <p:txBody>
          <a:bodyPr wrap="square" rtlCol="0">
            <a:spAutoFit/>
          </a:bodyPr>
          <a:lstStyle/>
          <a:p>
            <a:r>
              <a:rPr lang="en-US" sz="1428" dirty="0"/>
              <a:t>Step 8</a:t>
            </a:r>
            <a:r>
              <a:rPr lang="en-US" sz="1428" dirty="0"/>
              <a:t>: Each ETL Updated the Control Table indicating it processed the File</a:t>
            </a:r>
            <a:endParaRPr lang="en-US" sz="1428" dirty="0"/>
          </a:p>
        </p:txBody>
      </p:sp>
      <p:grpSp>
        <p:nvGrpSpPr>
          <p:cNvPr id="37" name="Group 36"/>
          <p:cNvGrpSpPr/>
          <p:nvPr/>
        </p:nvGrpSpPr>
        <p:grpSpPr>
          <a:xfrm>
            <a:off x="1858751" y="4243502"/>
            <a:ext cx="4885136" cy="2149096"/>
            <a:chOff x="-4225561" y="3227624"/>
            <a:chExt cx="4789784" cy="2107148"/>
          </a:xfrm>
        </p:grpSpPr>
        <p:grpSp>
          <p:nvGrpSpPr>
            <p:cNvPr id="38" name="Group 37"/>
            <p:cNvGrpSpPr/>
            <p:nvPr/>
          </p:nvGrpSpPr>
          <p:grpSpPr>
            <a:xfrm>
              <a:off x="-4225561" y="3227624"/>
              <a:ext cx="4789784" cy="2107148"/>
              <a:chOff x="-4225561" y="3227624"/>
              <a:chExt cx="4789784" cy="2107148"/>
            </a:xfrm>
          </p:grpSpPr>
          <p:grpSp>
            <p:nvGrpSpPr>
              <p:cNvPr id="63" name="Group 62"/>
              <p:cNvGrpSpPr/>
              <p:nvPr/>
            </p:nvGrpSpPr>
            <p:grpSpPr>
              <a:xfrm>
                <a:off x="-4225561" y="3227624"/>
                <a:ext cx="4789784" cy="2107148"/>
                <a:chOff x="2105348" y="4108015"/>
                <a:chExt cx="2775698" cy="2107148"/>
              </a:xfrm>
            </p:grpSpPr>
            <p:grpSp>
              <p:nvGrpSpPr>
                <p:cNvPr id="67" name="Group 66"/>
                <p:cNvGrpSpPr/>
                <p:nvPr/>
              </p:nvGrpSpPr>
              <p:grpSpPr>
                <a:xfrm>
                  <a:off x="2105348" y="4108015"/>
                  <a:ext cx="2775698" cy="2107148"/>
                  <a:chOff x="1110502" y="2900284"/>
                  <a:chExt cx="4156324" cy="2107148"/>
                </a:xfrm>
              </p:grpSpPr>
              <p:sp>
                <p:nvSpPr>
                  <p:cNvPr id="77" name="Rectangle 76"/>
                  <p:cNvSpPr/>
                  <p:nvPr/>
                </p:nvSpPr>
                <p:spPr>
                  <a:xfrm>
                    <a:off x="1110502" y="2900284"/>
                    <a:ext cx="4156324" cy="20543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836" dirty="0"/>
                      <a:t>ETL Control Detail Table</a:t>
                    </a:r>
                    <a:endParaRPr lang="en-US" sz="1836" dirty="0"/>
                  </a:p>
                </p:txBody>
              </p:sp>
              <p:sp>
                <p:nvSpPr>
                  <p:cNvPr id="78" name="Rectangle 77"/>
                  <p:cNvSpPr/>
                  <p:nvPr/>
                </p:nvSpPr>
                <p:spPr>
                  <a:xfrm>
                    <a:off x="1124294" y="3105719"/>
                    <a:ext cx="4133351" cy="190171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sp>
              <p:nvSpPr>
                <p:cNvPr id="68" name="Rectangle 67"/>
                <p:cNvSpPr/>
                <p:nvPr/>
              </p:nvSpPr>
              <p:spPr>
                <a:xfrm>
                  <a:off x="2119140" y="4331931"/>
                  <a:ext cx="689740" cy="25201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err="1">
                      <a:solidFill>
                        <a:schemeClr val="tx1"/>
                      </a:solidFill>
                    </a:rPr>
                    <a:t>Extract_Table</a:t>
                  </a:r>
                  <a:endParaRPr lang="en-US" sz="1224" dirty="0">
                    <a:solidFill>
                      <a:schemeClr val="tx1"/>
                    </a:solidFill>
                  </a:endParaRPr>
                </a:p>
              </p:txBody>
            </p:sp>
            <p:sp>
              <p:nvSpPr>
                <p:cNvPr id="69" name="Rectangle 68"/>
                <p:cNvSpPr/>
                <p:nvPr/>
              </p:nvSpPr>
              <p:spPr>
                <a:xfrm>
                  <a:off x="2781936" y="4331931"/>
                  <a:ext cx="414294" cy="25201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Status</a:t>
                  </a:r>
                  <a:endParaRPr lang="en-US" sz="1224" dirty="0">
                    <a:solidFill>
                      <a:schemeClr val="tx1"/>
                    </a:solidFill>
                  </a:endParaRPr>
                </a:p>
              </p:txBody>
            </p:sp>
            <p:grpSp>
              <p:nvGrpSpPr>
                <p:cNvPr id="70" name="Group 69"/>
                <p:cNvGrpSpPr/>
                <p:nvPr/>
              </p:nvGrpSpPr>
              <p:grpSpPr>
                <a:xfrm>
                  <a:off x="2119139" y="4578360"/>
                  <a:ext cx="1074275" cy="259521"/>
                  <a:chOff x="1110501" y="5588850"/>
                  <a:chExt cx="1074275" cy="259521"/>
                </a:xfrm>
              </p:grpSpPr>
              <p:sp>
                <p:nvSpPr>
                  <p:cNvPr id="75" name="Rectangle 74"/>
                  <p:cNvSpPr/>
                  <p:nvPr/>
                </p:nvSpPr>
                <p:spPr>
                  <a:xfrm>
                    <a:off x="1110501" y="5596353"/>
                    <a:ext cx="668927"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Patient</a:t>
                    </a:r>
                    <a:endParaRPr lang="en-US" sz="1224" dirty="0">
                      <a:solidFill>
                        <a:schemeClr val="tx1"/>
                      </a:solidFill>
                    </a:endParaRPr>
                  </a:p>
                </p:txBody>
              </p:sp>
              <p:sp>
                <p:nvSpPr>
                  <p:cNvPr id="76" name="Rectangle 75"/>
                  <p:cNvSpPr/>
                  <p:nvPr/>
                </p:nvSpPr>
                <p:spPr>
                  <a:xfrm>
                    <a:off x="1770482" y="5588850"/>
                    <a:ext cx="414294"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grpSp>
            <p:grpSp>
              <p:nvGrpSpPr>
                <p:cNvPr id="71" name="Group 70"/>
                <p:cNvGrpSpPr/>
                <p:nvPr/>
              </p:nvGrpSpPr>
              <p:grpSpPr>
                <a:xfrm>
                  <a:off x="2119475" y="4825844"/>
                  <a:ext cx="1073939" cy="262584"/>
                  <a:chOff x="1110837" y="5598146"/>
                  <a:chExt cx="1073939" cy="262584"/>
                </a:xfrm>
              </p:grpSpPr>
              <p:sp>
                <p:nvSpPr>
                  <p:cNvPr id="73" name="Rectangle 72"/>
                  <p:cNvSpPr/>
                  <p:nvPr/>
                </p:nvSpPr>
                <p:spPr>
                  <a:xfrm>
                    <a:off x="1110837" y="5598146"/>
                    <a:ext cx="668927"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Procedure</a:t>
                    </a:r>
                    <a:endParaRPr lang="en-US" sz="1224" dirty="0">
                      <a:solidFill>
                        <a:schemeClr val="tx1"/>
                      </a:solidFill>
                    </a:endParaRPr>
                  </a:p>
                </p:txBody>
              </p:sp>
              <p:sp>
                <p:nvSpPr>
                  <p:cNvPr id="74" name="Rectangle 73"/>
                  <p:cNvSpPr/>
                  <p:nvPr/>
                </p:nvSpPr>
                <p:spPr>
                  <a:xfrm>
                    <a:off x="1770482" y="5608712"/>
                    <a:ext cx="414294"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grpSp>
            <p:sp>
              <p:nvSpPr>
                <p:cNvPr id="72" name="Rectangle 71"/>
                <p:cNvSpPr/>
                <p:nvPr/>
              </p:nvSpPr>
              <p:spPr>
                <a:xfrm>
                  <a:off x="2115794" y="5082688"/>
                  <a:ext cx="659716"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Patient</a:t>
                  </a:r>
                  <a:endParaRPr lang="en-US" sz="1224" dirty="0">
                    <a:solidFill>
                      <a:schemeClr val="tx1"/>
                    </a:solidFill>
                  </a:endParaRPr>
                </a:p>
              </p:txBody>
            </p:sp>
          </p:grpSp>
          <p:sp>
            <p:nvSpPr>
              <p:cNvPr id="64" name="Rectangle 63"/>
              <p:cNvSpPr/>
              <p:nvPr/>
            </p:nvSpPr>
            <p:spPr>
              <a:xfrm>
                <a:off x="-2347979" y="3442820"/>
                <a:ext cx="1193582" cy="25201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err="1">
                    <a:solidFill>
                      <a:schemeClr val="tx1"/>
                    </a:solidFill>
                  </a:rPr>
                  <a:t>FileName</a:t>
                </a:r>
                <a:endParaRPr lang="en-US" sz="1224" dirty="0">
                  <a:solidFill>
                    <a:schemeClr val="tx1"/>
                  </a:solidFill>
                </a:endParaRPr>
              </a:p>
            </p:txBody>
          </p:sp>
          <p:sp>
            <p:nvSpPr>
              <p:cNvPr id="65" name="Rectangle 64"/>
              <p:cNvSpPr/>
              <p:nvPr/>
            </p:nvSpPr>
            <p:spPr>
              <a:xfrm>
                <a:off x="-1170130" y="3444662"/>
                <a:ext cx="909603" cy="25201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err="1">
                    <a:solidFill>
                      <a:schemeClr val="tx1"/>
                    </a:solidFill>
                  </a:rPr>
                  <a:t>PDWStatus</a:t>
                </a:r>
                <a:endParaRPr lang="en-US" sz="1224" dirty="0">
                  <a:solidFill>
                    <a:schemeClr val="tx1"/>
                  </a:solidFill>
                </a:endParaRPr>
              </a:p>
            </p:txBody>
          </p:sp>
          <p:sp>
            <p:nvSpPr>
              <p:cNvPr id="66" name="Rectangle 65"/>
              <p:cNvSpPr/>
              <p:nvPr/>
            </p:nvSpPr>
            <p:spPr>
              <a:xfrm>
                <a:off x="-255467" y="3444350"/>
                <a:ext cx="795186" cy="25201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err="1">
                    <a:solidFill>
                      <a:schemeClr val="tx1"/>
                    </a:solidFill>
                  </a:rPr>
                  <a:t>DRStatus</a:t>
                </a:r>
                <a:endParaRPr lang="en-US" sz="1224" dirty="0">
                  <a:solidFill>
                    <a:schemeClr val="tx1"/>
                  </a:solidFill>
                </a:endParaRPr>
              </a:p>
            </p:txBody>
          </p:sp>
        </p:grpSp>
        <p:grpSp>
          <p:nvGrpSpPr>
            <p:cNvPr id="39" name="Group 38"/>
            <p:cNvGrpSpPr/>
            <p:nvPr/>
          </p:nvGrpSpPr>
          <p:grpSpPr>
            <a:xfrm>
              <a:off x="-2356905" y="3950939"/>
              <a:ext cx="2887698" cy="253860"/>
              <a:chOff x="-3167275" y="2332377"/>
              <a:chExt cx="2887698" cy="253860"/>
            </a:xfrm>
          </p:grpSpPr>
          <p:sp>
            <p:nvSpPr>
              <p:cNvPr id="60" name="Rectangle 59"/>
              <p:cNvSpPr/>
              <p:nvPr/>
            </p:nvSpPr>
            <p:spPr>
              <a:xfrm>
                <a:off x="-3167275" y="2332377"/>
                <a:ext cx="1193582"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Proc20130903x</a:t>
                </a:r>
                <a:endParaRPr lang="en-US" sz="1224" dirty="0">
                  <a:solidFill>
                    <a:schemeClr val="tx1"/>
                  </a:solidFill>
                </a:endParaRPr>
              </a:p>
            </p:txBody>
          </p:sp>
          <p:sp>
            <p:nvSpPr>
              <p:cNvPr id="61" name="Rectangle 60"/>
              <p:cNvSpPr/>
              <p:nvPr/>
            </p:nvSpPr>
            <p:spPr>
              <a:xfrm>
                <a:off x="-1989426" y="2334219"/>
                <a:ext cx="909603"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sp>
            <p:nvSpPr>
              <p:cNvPr id="62" name="Rectangle 61"/>
              <p:cNvSpPr/>
              <p:nvPr/>
            </p:nvSpPr>
            <p:spPr>
              <a:xfrm>
                <a:off x="-1074763" y="2333907"/>
                <a:ext cx="795186"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grpSp>
        <p:grpSp>
          <p:nvGrpSpPr>
            <p:cNvPr id="40" name="Group 39"/>
            <p:cNvGrpSpPr/>
            <p:nvPr/>
          </p:nvGrpSpPr>
          <p:grpSpPr>
            <a:xfrm>
              <a:off x="-2356905" y="4199192"/>
              <a:ext cx="2887698" cy="253860"/>
              <a:chOff x="-3167275" y="2332377"/>
              <a:chExt cx="2887698" cy="253860"/>
            </a:xfrm>
          </p:grpSpPr>
          <p:sp>
            <p:nvSpPr>
              <p:cNvPr id="57" name="Rectangle 56"/>
              <p:cNvSpPr/>
              <p:nvPr/>
            </p:nvSpPr>
            <p:spPr>
              <a:xfrm>
                <a:off x="-3167275" y="2332377"/>
                <a:ext cx="1193582"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Pat20130903a</a:t>
                </a:r>
                <a:endParaRPr lang="en-US" sz="1224" dirty="0">
                  <a:solidFill>
                    <a:schemeClr val="tx1"/>
                  </a:solidFill>
                </a:endParaRPr>
              </a:p>
            </p:txBody>
          </p:sp>
          <p:sp>
            <p:nvSpPr>
              <p:cNvPr id="58" name="Rectangle 57"/>
              <p:cNvSpPr/>
              <p:nvPr/>
            </p:nvSpPr>
            <p:spPr>
              <a:xfrm>
                <a:off x="-1989426" y="2334219"/>
                <a:ext cx="909603"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4" dirty="0">
                  <a:solidFill>
                    <a:schemeClr val="tx1"/>
                  </a:solidFill>
                </a:endParaRPr>
              </a:p>
            </p:txBody>
          </p:sp>
          <p:sp>
            <p:nvSpPr>
              <p:cNvPr id="59" name="Rectangle 58"/>
              <p:cNvSpPr/>
              <p:nvPr/>
            </p:nvSpPr>
            <p:spPr>
              <a:xfrm>
                <a:off x="-1074763" y="2333907"/>
                <a:ext cx="795186"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4" dirty="0">
                  <a:solidFill>
                    <a:schemeClr val="tx1"/>
                  </a:solidFill>
                </a:endParaRPr>
              </a:p>
            </p:txBody>
          </p:sp>
        </p:grpSp>
        <p:grpSp>
          <p:nvGrpSpPr>
            <p:cNvPr id="45" name="Group 44"/>
            <p:cNvGrpSpPr/>
            <p:nvPr/>
          </p:nvGrpSpPr>
          <p:grpSpPr>
            <a:xfrm>
              <a:off x="-2353679" y="3704551"/>
              <a:ext cx="2887698" cy="253860"/>
              <a:chOff x="-3167275" y="2332377"/>
              <a:chExt cx="2887698" cy="253860"/>
            </a:xfrm>
          </p:grpSpPr>
          <p:sp>
            <p:nvSpPr>
              <p:cNvPr id="48" name="Rectangle 47"/>
              <p:cNvSpPr/>
              <p:nvPr/>
            </p:nvSpPr>
            <p:spPr>
              <a:xfrm>
                <a:off x="-3167275" y="2332377"/>
                <a:ext cx="1193582"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Pat20130903x</a:t>
                </a:r>
                <a:endParaRPr lang="en-US" sz="1224" dirty="0">
                  <a:solidFill>
                    <a:schemeClr val="tx1"/>
                  </a:solidFill>
                </a:endParaRPr>
              </a:p>
            </p:txBody>
          </p:sp>
          <p:sp>
            <p:nvSpPr>
              <p:cNvPr id="55" name="Rectangle 54"/>
              <p:cNvSpPr/>
              <p:nvPr/>
            </p:nvSpPr>
            <p:spPr>
              <a:xfrm>
                <a:off x="-1989426" y="2334219"/>
                <a:ext cx="909603"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sp>
            <p:nvSpPr>
              <p:cNvPr id="56" name="Rectangle 55"/>
              <p:cNvSpPr/>
              <p:nvPr/>
            </p:nvSpPr>
            <p:spPr>
              <a:xfrm>
                <a:off x="-1074763" y="2333907"/>
                <a:ext cx="795186"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grpSp>
      </p:grpSp>
      <p:sp>
        <p:nvSpPr>
          <p:cNvPr id="79" name="Rectangle 78"/>
          <p:cNvSpPr/>
          <p:nvPr/>
        </p:nvSpPr>
        <p:spPr>
          <a:xfrm>
            <a:off x="3038214" y="5241603"/>
            <a:ext cx="740454"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New</a:t>
            </a:r>
            <a:endParaRPr lang="en-US" sz="1224" dirty="0">
              <a:solidFill>
                <a:schemeClr val="tx1"/>
              </a:solidFill>
            </a:endParaRPr>
          </a:p>
        </p:txBody>
      </p:sp>
      <p:sp>
        <p:nvSpPr>
          <p:cNvPr id="80" name="Rectangle 79"/>
          <p:cNvSpPr/>
          <p:nvPr/>
        </p:nvSpPr>
        <p:spPr>
          <a:xfrm>
            <a:off x="3761136" y="5241603"/>
            <a:ext cx="1217343"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Pat20130903a</a:t>
            </a:r>
            <a:endParaRPr lang="en-US" sz="1224" dirty="0">
              <a:solidFill>
                <a:schemeClr val="tx1"/>
              </a:solidFill>
            </a:endParaRPr>
          </a:p>
        </p:txBody>
      </p:sp>
      <p:sp>
        <p:nvSpPr>
          <p:cNvPr id="81" name="Rectangle 80"/>
          <p:cNvSpPr/>
          <p:nvPr/>
        </p:nvSpPr>
        <p:spPr>
          <a:xfrm>
            <a:off x="3763717" y="5239215"/>
            <a:ext cx="1217343"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Pat20130903a</a:t>
            </a:r>
            <a:endParaRPr lang="en-US" sz="1224" dirty="0">
              <a:solidFill>
                <a:schemeClr val="tx1"/>
              </a:solidFill>
            </a:endParaRPr>
          </a:p>
        </p:txBody>
      </p:sp>
      <p:sp>
        <p:nvSpPr>
          <p:cNvPr id="83" name="Rectangle 82"/>
          <p:cNvSpPr/>
          <p:nvPr/>
        </p:nvSpPr>
        <p:spPr>
          <a:xfrm>
            <a:off x="8285917" y="5828770"/>
            <a:ext cx="807847"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spTree>
    <p:extLst>
      <p:ext uri="{BB962C8B-B14F-4D97-AF65-F5344CB8AC3E}">
        <p14:creationId xmlns:p14="http://schemas.microsoft.com/office/powerpoint/2010/main" val="171292229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500"/>
                                        <p:tgtEl>
                                          <p:spTgt spid="53"/>
                                        </p:tgtEl>
                                      </p:cBhvr>
                                    </p:animEffect>
                                  </p:childTnLst>
                                </p:cTn>
                              </p:par>
                              <p:par>
                                <p:cTn id="8" presetID="42" presetClass="path" presetSubtype="0" accel="50000" decel="50000" fill="hold" grpId="0" nodeType="withEffect">
                                  <p:stCondLst>
                                    <p:cond delay="0"/>
                                  </p:stCondLst>
                                  <p:childTnLst>
                                    <p:animMotion origin="layout" path="M 3.88889E-6 -2.59259E-6 L 0.36076 0.08935 " pathEditMode="relative" rAng="0" ptsTypes="AA">
                                      <p:cBhvr>
                                        <p:cTn id="9" dur="2000" fill="hold"/>
                                        <p:tgtEl>
                                          <p:spTgt spid="80"/>
                                        </p:tgtEl>
                                        <p:attrNameLst>
                                          <p:attrName>ppt_x</p:attrName>
                                          <p:attrName>ppt_y</p:attrName>
                                        </p:attrNameLst>
                                      </p:cBhvr>
                                      <p:rCtr x="18038" y="4468"/>
                                    </p:animMotion>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35"/>
                                        </p:tgtEl>
                                        <p:attrNameLst>
                                          <p:attrName>style.visibility</p:attrName>
                                        </p:attrNameLst>
                                      </p:cBhvr>
                                      <p:to>
                                        <p:strVal val="visible"/>
                                      </p:to>
                                    </p:set>
                                    <p:animEffect transition="in" filter="fade">
                                      <p:cBhvr>
                                        <p:cTn id="14" dur="500"/>
                                        <p:tgtEl>
                                          <p:spTgt spid="35"/>
                                        </p:tgtEl>
                                      </p:cBhvr>
                                    </p:animEffect>
                                  </p:childTnLst>
                                </p:cTn>
                              </p:par>
                              <p:par>
                                <p:cTn id="15" presetID="1" presetClass="entr" presetSubtype="0" fill="hold" nodeType="withEffect">
                                  <p:stCondLst>
                                    <p:cond delay="0"/>
                                  </p:stCondLst>
                                  <p:childTnLst>
                                    <p:set>
                                      <p:cBhvr>
                                        <p:cTn id="16" dur="1" fill="hold">
                                          <p:stCondLst>
                                            <p:cond delay="0"/>
                                          </p:stCondLst>
                                        </p:cTn>
                                        <p:tgtEl>
                                          <p:spTgt spid="4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par>
                                <p:cTn id="19" presetID="8" presetClass="emph" presetSubtype="0" fill="hold" nodeType="withEffect">
                                  <p:stCondLst>
                                    <p:cond delay="0"/>
                                  </p:stCondLst>
                                  <p:childTnLst>
                                    <p:animRot by="21600000">
                                      <p:cBhvr>
                                        <p:cTn id="20" dur="2000" fill="hold"/>
                                        <p:tgtEl>
                                          <p:spTgt spid="22"/>
                                        </p:tgtEl>
                                        <p:attrNameLst>
                                          <p:attrName>r</p:attrName>
                                        </p:attrNameLst>
                                      </p:cBhvr>
                                    </p:animRot>
                                  </p:childTnLst>
                                </p:cTn>
                              </p:par>
                              <p:par>
                                <p:cTn id="21" presetID="42" presetClass="path" presetSubtype="0" accel="50000" decel="50000" fill="hold" nodeType="withEffect">
                                  <p:stCondLst>
                                    <p:cond delay="0"/>
                                  </p:stCondLst>
                                  <p:childTnLst>
                                    <p:animMotion origin="layout" path="M 1.11111E-6 -3.7037E-7 L 0.27917 -0.0081 " pathEditMode="relative" rAng="0" ptsTypes="AA">
                                      <p:cBhvr>
                                        <p:cTn id="22" dur="2000" fill="hold"/>
                                        <p:tgtEl>
                                          <p:spTgt spid="47"/>
                                        </p:tgtEl>
                                        <p:attrNameLst>
                                          <p:attrName>ppt_x</p:attrName>
                                          <p:attrName>ppt_y</p:attrName>
                                        </p:attrNameLst>
                                      </p:cBhvr>
                                      <p:rCtr x="13958" y="-417"/>
                                    </p:animMotion>
                                  </p:childTnLst>
                                  <p:subTnLst>
                                    <p:set>
                                      <p:cBhvr override="childStyle">
                                        <p:cTn dur="1" fill="hold" display="0" masterRel="sameClick" afterEffect="1">
                                          <p:stCondLst>
                                            <p:cond evt="end" delay="0">
                                              <p:tn val="21"/>
                                            </p:cond>
                                          </p:stCondLst>
                                        </p:cTn>
                                        <p:tgtEl>
                                          <p:spTgt spid="47"/>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500"/>
                                        <p:tgtEl>
                                          <p:spTgt spid="36"/>
                                        </p:tgtEl>
                                      </p:cBhvr>
                                    </p:animEffect>
                                  </p:childTnLst>
                                </p:cTn>
                              </p:par>
                              <p:par>
                                <p:cTn id="28" presetID="1" presetClass="entr" presetSubtype="0" fill="hold" grpId="0" nodeType="withEffect">
                                  <p:stCondLst>
                                    <p:cond delay="0"/>
                                  </p:stCondLst>
                                  <p:childTnLst>
                                    <p:set>
                                      <p:cBhvr>
                                        <p:cTn id="29" dur="1" fill="hold">
                                          <p:stCondLst>
                                            <p:cond delay="0"/>
                                          </p:stCondLst>
                                        </p:cTn>
                                        <p:tgtEl>
                                          <p:spTgt spid="83"/>
                                        </p:tgtEl>
                                        <p:attrNameLst>
                                          <p:attrName>style.visibility</p:attrName>
                                        </p:attrNameLst>
                                      </p:cBhvr>
                                      <p:to>
                                        <p:strVal val="visible"/>
                                      </p:to>
                                    </p:set>
                                  </p:childTnLst>
                                </p:cTn>
                              </p:par>
                              <p:par>
                                <p:cTn id="30" presetID="42" presetClass="path" presetSubtype="0" accel="50000" decel="50000" fill="hold" grpId="1" nodeType="withEffect">
                                  <p:stCondLst>
                                    <p:cond delay="0"/>
                                  </p:stCondLst>
                                  <p:childTnLst>
                                    <p:animMotion origin="layout" path="M -5.55556E-7 -3.7037E-7 L -0.25469 -0.08287 " pathEditMode="relative" rAng="0" ptsTypes="AA">
                                      <p:cBhvr>
                                        <p:cTn id="31" dur="2000" fill="hold"/>
                                        <p:tgtEl>
                                          <p:spTgt spid="83"/>
                                        </p:tgtEl>
                                        <p:attrNameLst>
                                          <p:attrName>ppt_x</p:attrName>
                                          <p:attrName>ppt_y</p:attrName>
                                        </p:attrNameLst>
                                      </p:cBhvr>
                                      <p:rCtr x="-12743" y="-4144"/>
                                    </p:animMotion>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54"/>
                                        </p:tgtEl>
                                        <p:attrNameLst>
                                          <p:attrName>style.visibility</p:attrName>
                                        </p:attrNameLst>
                                      </p:cBhvr>
                                      <p:to>
                                        <p:strVal val="visible"/>
                                      </p:to>
                                    </p:set>
                                    <p:animEffect transition="in" filter="fade">
                                      <p:cBhvr>
                                        <p:cTn id="36" dur="500"/>
                                        <p:tgtEl>
                                          <p:spTgt spid="54"/>
                                        </p:tgtEl>
                                      </p:cBhvr>
                                    </p:animEffect>
                                  </p:childTnLst>
                                </p:cTn>
                              </p:par>
                              <p:par>
                                <p:cTn id="37" presetID="1" presetClass="exit" presetSubtype="0" fill="hold" grpId="0" nodeType="withEffect">
                                  <p:stCondLst>
                                    <p:cond delay="0"/>
                                  </p:stCondLst>
                                  <p:childTnLst>
                                    <p:set>
                                      <p:cBhvr>
                                        <p:cTn id="38" dur="1" fill="hold">
                                          <p:stCondLst>
                                            <p:cond delay="0"/>
                                          </p:stCondLst>
                                        </p:cTn>
                                        <p:tgtEl>
                                          <p:spTgt spid="81"/>
                                        </p:tgtEl>
                                        <p:attrNameLst>
                                          <p:attrName>style.visibility</p:attrName>
                                        </p:attrNameLst>
                                      </p:cBhvr>
                                      <p:to>
                                        <p:strVal val="hidden"/>
                                      </p:to>
                                    </p:set>
                                  </p:childTnLst>
                                </p:cTn>
                              </p:par>
                              <p:par>
                                <p:cTn id="39" presetID="1" presetClass="exit" presetSubtype="0" fill="hold" grpId="1" nodeType="withEffect">
                                  <p:stCondLst>
                                    <p:cond delay="0"/>
                                  </p:stCondLst>
                                  <p:childTnLst>
                                    <p:set>
                                      <p:cBhvr>
                                        <p:cTn id="40" dur="1" fill="hold">
                                          <p:stCondLst>
                                            <p:cond delay="0"/>
                                          </p:stCondLst>
                                        </p:cTn>
                                        <p:tgtEl>
                                          <p:spTgt spid="8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 grpId="0"/>
      <p:bldP spid="54" grpId="0"/>
      <p:bldP spid="35" grpId="0"/>
      <p:bldP spid="36" grpId="0"/>
      <p:bldP spid="80" grpId="0" animBg="1"/>
      <p:bldP spid="80" grpId="1" animBg="1"/>
      <p:bldP spid="81" grpId="0" animBg="1"/>
      <p:bldP spid="83" grpId="0" animBg="1"/>
      <p:bldP spid="83" grpId="1"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ular Callout 12"/>
          <p:cNvSpPr/>
          <p:nvPr/>
        </p:nvSpPr>
        <p:spPr>
          <a:xfrm>
            <a:off x="6910212" y="4122712"/>
            <a:ext cx="2716731" cy="2035335"/>
          </a:xfrm>
          <a:prstGeom prst="wedgeRectCallout">
            <a:avLst>
              <a:gd name="adj1" fmla="val 55498"/>
              <a:gd name="adj2" fmla="val 17111"/>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dirty="0"/>
          </a:p>
        </p:txBody>
      </p:sp>
      <p:sp>
        <p:nvSpPr>
          <p:cNvPr id="92" name="Rectangular Callout 91"/>
          <p:cNvSpPr/>
          <p:nvPr/>
        </p:nvSpPr>
        <p:spPr>
          <a:xfrm>
            <a:off x="6900797" y="1875521"/>
            <a:ext cx="2729661" cy="2035335"/>
          </a:xfrm>
          <a:prstGeom prst="wedgeRectCallout">
            <a:avLst>
              <a:gd name="adj1" fmla="val 55498"/>
              <a:gd name="adj2" fmla="val 17111"/>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sp>
        <p:nvSpPr>
          <p:cNvPr id="90" name="Rectangular Callout 89"/>
          <p:cNvSpPr/>
          <p:nvPr/>
        </p:nvSpPr>
        <p:spPr>
          <a:xfrm>
            <a:off x="6917690" y="4126222"/>
            <a:ext cx="2716731" cy="2035335"/>
          </a:xfrm>
          <a:prstGeom prst="wedgeRectCallout">
            <a:avLst>
              <a:gd name="adj1" fmla="val 55498"/>
              <a:gd name="adj2" fmla="val 17111"/>
            </a:avLst>
          </a:prstGeom>
          <a:solidFill>
            <a:schemeClr val="accent4">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ular Callout 9"/>
          <p:cNvSpPr/>
          <p:nvPr/>
        </p:nvSpPr>
        <p:spPr>
          <a:xfrm>
            <a:off x="6917690" y="1874679"/>
            <a:ext cx="2729661" cy="2035335"/>
          </a:xfrm>
          <a:prstGeom prst="wedgeRectCallout">
            <a:avLst>
              <a:gd name="adj1" fmla="val 55498"/>
              <a:gd name="adj2" fmla="val 17111"/>
            </a:avLst>
          </a:prstGeom>
          <a:solidFill>
            <a:schemeClr val="bg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p:nvPr/>
        </p:nvCxnSpPr>
        <p:spPr>
          <a:xfrm flipV="1">
            <a:off x="7016117" y="3963564"/>
            <a:ext cx="3706139" cy="32187"/>
          </a:xfrm>
          <a:prstGeom prst="line">
            <a:avLst/>
          </a:prstGeom>
          <a:ln w="381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a:xfrm>
            <a:off x="7822541" y="3353740"/>
            <a:ext cx="9490" cy="1434946"/>
          </a:xfrm>
          <a:prstGeom prst="straightConnector1">
            <a:avLst/>
          </a:prstGeom>
          <a:ln w="76200">
            <a:solidFill>
              <a:schemeClr val="accent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smtClean="0"/>
              <a:t>DR Activity – PDW Processing fail back</a:t>
            </a:r>
            <a:endParaRPr lang="en-US" dirty="0"/>
          </a:p>
        </p:txBody>
      </p:sp>
      <p:sp>
        <p:nvSpPr>
          <p:cNvPr id="11" name="TextBox 10"/>
          <p:cNvSpPr txBox="1"/>
          <p:nvPr/>
        </p:nvSpPr>
        <p:spPr>
          <a:xfrm>
            <a:off x="6839972" y="1903329"/>
            <a:ext cx="3186395" cy="382308"/>
          </a:xfrm>
          <a:prstGeom prst="rect">
            <a:avLst/>
          </a:prstGeom>
          <a:noFill/>
        </p:spPr>
        <p:txBody>
          <a:bodyPr wrap="square" rtlCol="0">
            <a:spAutoFit/>
          </a:bodyPr>
          <a:lstStyle/>
          <a:p>
            <a:r>
              <a:rPr lang="en-US" sz="1836" dirty="0"/>
              <a:t>Landing Zone Server - Prod</a:t>
            </a:r>
          </a:p>
        </p:txBody>
      </p:sp>
      <p:sp>
        <p:nvSpPr>
          <p:cNvPr id="14" name="TextBox 13"/>
          <p:cNvSpPr txBox="1"/>
          <p:nvPr/>
        </p:nvSpPr>
        <p:spPr>
          <a:xfrm>
            <a:off x="6988826" y="4111761"/>
            <a:ext cx="3186395" cy="382308"/>
          </a:xfrm>
          <a:prstGeom prst="rect">
            <a:avLst/>
          </a:prstGeom>
          <a:noFill/>
        </p:spPr>
        <p:txBody>
          <a:bodyPr wrap="square" rtlCol="0">
            <a:spAutoFit/>
          </a:bodyPr>
          <a:lstStyle/>
          <a:p>
            <a:r>
              <a:rPr lang="en-US" sz="1836" dirty="0"/>
              <a:t>Landing Zone Server - DR</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08091" y="2534227"/>
            <a:ext cx="922603" cy="922603"/>
          </a:xfrm>
          <a:prstGeom prst="rect">
            <a:avLst/>
          </a:prstGeom>
          <a:effectLst>
            <a:outerShdw blurRad="50800" dist="50800" dir="5400000" algn="ctr" rotWithShape="0">
              <a:srgbClr val="000000">
                <a:alpha val="52000"/>
              </a:srgbClr>
            </a:outerShdw>
          </a:effectLst>
        </p:spPr>
      </p:pic>
      <p:pic>
        <p:nvPicPr>
          <p:cNvPr id="18" name="Picture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37472" y="4663017"/>
            <a:ext cx="922603" cy="922603"/>
          </a:xfrm>
          <a:prstGeom prst="rect">
            <a:avLst/>
          </a:prstGeom>
          <a:effectLst>
            <a:outerShdw blurRad="50800" dist="50800" dir="5400000" algn="ctr" rotWithShape="0">
              <a:srgbClr val="000000">
                <a:alpha val="52000"/>
              </a:srgbClr>
            </a:outerShdw>
          </a:effectLst>
        </p:spPr>
      </p:pic>
      <p:pic>
        <p:nvPicPr>
          <p:cNvPr id="22" name="Picture 2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422489" y="4818450"/>
            <a:ext cx="611601" cy="611601"/>
          </a:xfrm>
          <a:prstGeom prst="rect">
            <a:avLst/>
          </a:prstGeom>
        </p:spPr>
      </p:pic>
      <p:pic>
        <p:nvPicPr>
          <p:cNvPr id="23" name="Picture 2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72650" y="2548549"/>
            <a:ext cx="611601" cy="611601"/>
          </a:xfrm>
          <a:prstGeom prst="rect">
            <a:avLst/>
          </a:prstGeom>
        </p:spPr>
      </p:pic>
      <p:pic>
        <p:nvPicPr>
          <p:cNvPr id="24" name="Picture 23"/>
          <p:cNvPicPr>
            <a:picLocks noChangeAspect="1"/>
          </p:cNvPicPr>
          <p:nvPr/>
        </p:nvPicPr>
        <p:blipFill>
          <a:blip r:embed="rId5"/>
          <a:stretch>
            <a:fillRect/>
          </a:stretch>
        </p:blipFill>
        <p:spPr>
          <a:xfrm>
            <a:off x="9813924" y="2069694"/>
            <a:ext cx="910573" cy="1934968"/>
          </a:xfrm>
          <a:prstGeom prst="rect">
            <a:avLst/>
          </a:prstGeom>
        </p:spPr>
      </p:pic>
      <p:pic>
        <p:nvPicPr>
          <p:cNvPr id="25" name="Picture 24"/>
          <p:cNvPicPr>
            <a:picLocks noChangeAspect="1"/>
          </p:cNvPicPr>
          <p:nvPr/>
        </p:nvPicPr>
        <p:blipFill>
          <a:blip r:embed="rId5"/>
          <a:stretch>
            <a:fillRect/>
          </a:stretch>
        </p:blipFill>
        <p:spPr>
          <a:xfrm>
            <a:off x="9804059" y="4226589"/>
            <a:ext cx="910573" cy="1934968"/>
          </a:xfrm>
          <a:prstGeom prst="rect">
            <a:avLst/>
          </a:prstGeom>
        </p:spPr>
      </p:pic>
      <p:sp>
        <p:nvSpPr>
          <p:cNvPr id="42" name="TextBox 41"/>
          <p:cNvSpPr txBox="1"/>
          <p:nvPr/>
        </p:nvSpPr>
        <p:spPr>
          <a:xfrm>
            <a:off x="8334076" y="5517903"/>
            <a:ext cx="1300345" cy="286306"/>
          </a:xfrm>
          <a:prstGeom prst="rect">
            <a:avLst/>
          </a:prstGeom>
          <a:noFill/>
        </p:spPr>
        <p:txBody>
          <a:bodyPr wrap="square" rtlCol="0">
            <a:spAutoFit/>
          </a:bodyPr>
          <a:lstStyle/>
          <a:p>
            <a:r>
              <a:rPr lang="en-US" sz="1224" dirty="0"/>
              <a:t>Load (SSIS)</a:t>
            </a:r>
          </a:p>
        </p:txBody>
      </p:sp>
      <p:sp>
        <p:nvSpPr>
          <p:cNvPr id="44" name="TextBox 43"/>
          <p:cNvSpPr txBox="1"/>
          <p:nvPr/>
        </p:nvSpPr>
        <p:spPr>
          <a:xfrm>
            <a:off x="8252878" y="3252293"/>
            <a:ext cx="1300345" cy="286306"/>
          </a:xfrm>
          <a:prstGeom prst="rect">
            <a:avLst/>
          </a:prstGeom>
          <a:noFill/>
        </p:spPr>
        <p:txBody>
          <a:bodyPr wrap="square" rtlCol="0">
            <a:spAutoFit/>
          </a:bodyPr>
          <a:lstStyle/>
          <a:p>
            <a:r>
              <a:rPr lang="en-US" sz="1224" dirty="0"/>
              <a:t>Load (SSIS)</a:t>
            </a:r>
          </a:p>
        </p:txBody>
      </p:sp>
      <p:pic>
        <p:nvPicPr>
          <p:cNvPr id="46" name="Picture 4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76683" y="4967843"/>
            <a:ext cx="339344" cy="452458"/>
          </a:xfrm>
          <a:prstGeom prst="rect">
            <a:avLst/>
          </a:prstGeom>
        </p:spPr>
      </p:pic>
      <p:pic>
        <p:nvPicPr>
          <p:cNvPr id="47" name="Picture 4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69905" y="4972027"/>
            <a:ext cx="339344" cy="452458"/>
          </a:xfrm>
          <a:prstGeom prst="rect">
            <a:avLst/>
          </a:prstGeom>
        </p:spPr>
      </p:pic>
      <p:sp>
        <p:nvSpPr>
          <p:cNvPr id="53" name="TextBox 52"/>
          <p:cNvSpPr txBox="1"/>
          <p:nvPr/>
        </p:nvSpPr>
        <p:spPr>
          <a:xfrm>
            <a:off x="283170" y="1856352"/>
            <a:ext cx="5345044" cy="531812"/>
          </a:xfrm>
          <a:prstGeom prst="rect">
            <a:avLst/>
          </a:prstGeom>
          <a:noFill/>
        </p:spPr>
        <p:txBody>
          <a:bodyPr wrap="square" rtlCol="0">
            <a:spAutoFit/>
          </a:bodyPr>
          <a:lstStyle/>
          <a:p>
            <a:r>
              <a:rPr lang="en-US" sz="1428" dirty="0"/>
              <a:t>Step 7</a:t>
            </a:r>
            <a:r>
              <a:rPr lang="en-US" sz="1428" dirty="0"/>
              <a:t>: </a:t>
            </a:r>
            <a:r>
              <a:rPr lang="en-US" sz="1428" dirty="0"/>
              <a:t>PDW Load </a:t>
            </a:r>
            <a:r>
              <a:rPr lang="en-US" sz="1428" dirty="0"/>
              <a:t>Process reads ETL Control Detail to determine what needs to be completed</a:t>
            </a:r>
            <a:endParaRPr lang="en-US" sz="1428" dirty="0"/>
          </a:p>
        </p:txBody>
      </p:sp>
      <p:sp>
        <p:nvSpPr>
          <p:cNvPr id="54" name="TextBox 53"/>
          <p:cNvSpPr txBox="1"/>
          <p:nvPr/>
        </p:nvSpPr>
        <p:spPr>
          <a:xfrm>
            <a:off x="283170" y="3256510"/>
            <a:ext cx="6556803" cy="531812"/>
          </a:xfrm>
          <a:prstGeom prst="rect">
            <a:avLst/>
          </a:prstGeom>
          <a:noFill/>
        </p:spPr>
        <p:txBody>
          <a:bodyPr wrap="square" rtlCol="0">
            <a:spAutoFit/>
          </a:bodyPr>
          <a:lstStyle/>
          <a:p>
            <a:r>
              <a:rPr lang="en-US" sz="1428" dirty="0"/>
              <a:t>Step </a:t>
            </a:r>
            <a:r>
              <a:rPr lang="en-US" sz="1428" dirty="0"/>
              <a:t>10: Verification/Notification/Clean up – Based on the ETL Control Detail Table, the DFS folder is cleaned up if all PDW’s have processed the file</a:t>
            </a:r>
            <a:endParaRPr lang="en-US" sz="1428" dirty="0"/>
          </a:p>
        </p:txBody>
      </p:sp>
      <p:sp>
        <p:nvSpPr>
          <p:cNvPr id="35" name="TextBox 34"/>
          <p:cNvSpPr txBox="1"/>
          <p:nvPr/>
        </p:nvSpPr>
        <p:spPr>
          <a:xfrm>
            <a:off x="283170" y="2387571"/>
            <a:ext cx="5345044" cy="312073"/>
          </a:xfrm>
          <a:prstGeom prst="rect">
            <a:avLst/>
          </a:prstGeom>
          <a:noFill/>
        </p:spPr>
        <p:txBody>
          <a:bodyPr wrap="square" rtlCol="0">
            <a:spAutoFit/>
          </a:bodyPr>
          <a:lstStyle/>
          <a:p>
            <a:r>
              <a:rPr lang="en-US" sz="1428" dirty="0"/>
              <a:t>Step </a:t>
            </a:r>
            <a:r>
              <a:rPr lang="en-US" sz="1428" dirty="0"/>
              <a:t>8: Each PDW is loaded with the Data  it needs</a:t>
            </a:r>
            <a:endParaRPr lang="en-US" sz="1428" dirty="0"/>
          </a:p>
        </p:txBody>
      </p:sp>
      <p:sp>
        <p:nvSpPr>
          <p:cNvPr id="36" name="TextBox 35"/>
          <p:cNvSpPr txBox="1"/>
          <p:nvPr/>
        </p:nvSpPr>
        <p:spPr>
          <a:xfrm>
            <a:off x="283170" y="2712493"/>
            <a:ext cx="6379213" cy="312073"/>
          </a:xfrm>
          <a:prstGeom prst="rect">
            <a:avLst/>
          </a:prstGeom>
          <a:noFill/>
        </p:spPr>
        <p:txBody>
          <a:bodyPr wrap="square" rtlCol="0">
            <a:spAutoFit/>
          </a:bodyPr>
          <a:lstStyle/>
          <a:p>
            <a:r>
              <a:rPr lang="en-US" sz="1428" dirty="0"/>
              <a:t>Step </a:t>
            </a:r>
            <a:r>
              <a:rPr lang="en-US" sz="1428" dirty="0"/>
              <a:t>9: Each ETL Updated the Control Table indicating it processed the File</a:t>
            </a:r>
            <a:endParaRPr lang="en-US" sz="1428" dirty="0"/>
          </a:p>
        </p:txBody>
      </p:sp>
      <p:grpSp>
        <p:nvGrpSpPr>
          <p:cNvPr id="37" name="Group 36"/>
          <p:cNvGrpSpPr/>
          <p:nvPr/>
        </p:nvGrpSpPr>
        <p:grpSpPr>
          <a:xfrm>
            <a:off x="1858751" y="4243502"/>
            <a:ext cx="4885136" cy="2149096"/>
            <a:chOff x="-4225561" y="3227624"/>
            <a:chExt cx="4789784" cy="2107148"/>
          </a:xfrm>
        </p:grpSpPr>
        <p:grpSp>
          <p:nvGrpSpPr>
            <p:cNvPr id="38" name="Group 37"/>
            <p:cNvGrpSpPr/>
            <p:nvPr/>
          </p:nvGrpSpPr>
          <p:grpSpPr>
            <a:xfrm>
              <a:off x="-4225561" y="3227624"/>
              <a:ext cx="4789784" cy="2107148"/>
              <a:chOff x="-4225561" y="3227624"/>
              <a:chExt cx="4789784" cy="2107148"/>
            </a:xfrm>
          </p:grpSpPr>
          <p:grpSp>
            <p:nvGrpSpPr>
              <p:cNvPr id="63" name="Group 62"/>
              <p:cNvGrpSpPr/>
              <p:nvPr/>
            </p:nvGrpSpPr>
            <p:grpSpPr>
              <a:xfrm>
                <a:off x="-4225561" y="3227624"/>
                <a:ext cx="4789784" cy="2107148"/>
                <a:chOff x="2105348" y="4108015"/>
                <a:chExt cx="2775698" cy="2107148"/>
              </a:xfrm>
            </p:grpSpPr>
            <p:grpSp>
              <p:nvGrpSpPr>
                <p:cNvPr id="67" name="Group 66"/>
                <p:cNvGrpSpPr/>
                <p:nvPr/>
              </p:nvGrpSpPr>
              <p:grpSpPr>
                <a:xfrm>
                  <a:off x="2105348" y="4108015"/>
                  <a:ext cx="2775698" cy="2107148"/>
                  <a:chOff x="1110502" y="2900284"/>
                  <a:chExt cx="4156324" cy="2107148"/>
                </a:xfrm>
              </p:grpSpPr>
              <p:sp>
                <p:nvSpPr>
                  <p:cNvPr id="77" name="Rectangle 76"/>
                  <p:cNvSpPr/>
                  <p:nvPr/>
                </p:nvSpPr>
                <p:spPr>
                  <a:xfrm>
                    <a:off x="1110502" y="2900284"/>
                    <a:ext cx="4156324" cy="205435"/>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836" dirty="0"/>
                      <a:t>ETL Control Detail Table</a:t>
                    </a:r>
                    <a:endParaRPr lang="en-US" sz="1836" dirty="0"/>
                  </a:p>
                </p:txBody>
              </p:sp>
              <p:sp>
                <p:nvSpPr>
                  <p:cNvPr id="78" name="Rectangle 77"/>
                  <p:cNvSpPr/>
                  <p:nvPr/>
                </p:nvSpPr>
                <p:spPr>
                  <a:xfrm>
                    <a:off x="1124294" y="3105719"/>
                    <a:ext cx="4133351" cy="190171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36"/>
                  </a:p>
                </p:txBody>
              </p:sp>
            </p:grpSp>
            <p:sp>
              <p:nvSpPr>
                <p:cNvPr id="68" name="Rectangle 67"/>
                <p:cNvSpPr/>
                <p:nvPr/>
              </p:nvSpPr>
              <p:spPr>
                <a:xfrm>
                  <a:off x="2119140" y="4331931"/>
                  <a:ext cx="689740" cy="25201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err="1">
                      <a:solidFill>
                        <a:schemeClr val="tx1"/>
                      </a:solidFill>
                    </a:rPr>
                    <a:t>Extract_Table</a:t>
                  </a:r>
                  <a:endParaRPr lang="en-US" sz="1224" dirty="0">
                    <a:solidFill>
                      <a:schemeClr val="tx1"/>
                    </a:solidFill>
                  </a:endParaRPr>
                </a:p>
              </p:txBody>
            </p:sp>
            <p:sp>
              <p:nvSpPr>
                <p:cNvPr id="69" name="Rectangle 68"/>
                <p:cNvSpPr/>
                <p:nvPr/>
              </p:nvSpPr>
              <p:spPr>
                <a:xfrm>
                  <a:off x="2781936" y="4331931"/>
                  <a:ext cx="414294" cy="25201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Status</a:t>
                  </a:r>
                  <a:endParaRPr lang="en-US" sz="1224" dirty="0">
                    <a:solidFill>
                      <a:schemeClr val="tx1"/>
                    </a:solidFill>
                  </a:endParaRPr>
                </a:p>
              </p:txBody>
            </p:sp>
            <p:grpSp>
              <p:nvGrpSpPr>
                <p:cNvPr id="70" name="Group 69"/>
                <p:cNvGrpSpPr/>
                <p:nvPr/>
              </p:nvGrpSpPr>
              <p:grpSpPr>
                <a:xfrm>
                  <a:off x="2119139" y="4578360"/>
                  <a:ext cx="1074275" cy="259521"/>
                  <a:chOff x="1110501" y="5588850"/>
                  <a:chExt cx="1074275" cy="259521"/>
                </a:xfrm>
              </p:grpSpPr>
              <p:sp>
                <p:nvSpPr>
                  <p:cNvPr id="75" name="Rectangle 74"/>
                  <p:cNvSpPr/>
                  <p:nvPr/>
                </p:nvSpPr>
                <p:spPr>
                  <a:xfrm>
                    <a:off x="1110501" y="5596353"/>
                    <a:ext cx="668927"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Patient</a:t>
                    </a:r>
                    <a:endParaRPr lang="en-US" sz="1224" dirty="0">
                      <a:solidFill>
                        <a:schemeClr val="tx1"/>
                      </a:solidFill>
                    </a:endParaRPr>
                  </a:p>
                </p:txBody>
              </p:sp>
              <p:sp>
                <p:nvSpPr>
                  <p:cNvPr id="76" name="Rectangle 75"/>
                  <p:cNvSpPr/>
                  <p:nvPr/>
                </p:nvSpPr>
                <p:spPr>
                  <a:xfrm>
                    <a:off x="1770482" y="5588850"/>
                    <a:ext cx="414294"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grpSp>
            <p:grpSp>
              <p:nvGrpSpPr>
                <p:cNvPr id="71" name="Group 70"/>
                <p:cNvGrpSpPr/>
                <p:nvPr/>
              </p:nvGrpSpPr>
              <p:grpSpPr>
                <a:xfrm>
                  <a:off x="2119475" y="4825844"/>
                  <a:ext cx="1073939" cy="262584"/>
                  <a:chOff x="1110837" y="5598146"/>
                  <a:chExt cx="1073939" cy="262584"/>
                </a:xfrm>
              </p:grpSpPr>
              <p:sp>
                <p:nvSpPr>
                  <p:cNvPr id="73" name="Rectangle 72"/>
                  <p:cNvSpPr/>
                  <p:nvPr/>
                </p:nvSpPr>
                <p:spPr>
                  <a:xfrm>
                    <a:off x="1110837" y="5598146"/>
                    <a:ext cx="668927"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Procedure</a:t>
                    </a:r>
                    <a:endParaRPr lang="en-US" sz="1224" dirty="0">
                      <a:solidFill>
                        <a:schemeClr val="tx1"/>
                      </a:solidFill>
                    </a:endParaRPr>
                  </a:p>
                </p:txBody>
              </p:sp>
              <p:sp>
                <p:nvSpPr>
                  <p:cNvPr id="74" name="Rectangle 73"/>
                  <p:cNvSpPr/>
                  <p:nvPr/>
                </p:nvSpPr>
                <p:spPr>
                  <a:xfrm>
                    <a:off x="1770482" y="5608712"/>
                    <a:ext cx="414294"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grpSp>
            <p:sp>
              <p:nvSpPr>
                <p:cNvPr id="72" name="Rectangle 71"/>
                <p:cNvSpPr/>
                <p:nvPr/>
              </p:nvSpPr>
              <p:spPr>
                <a:xfrm>
                  <a:off x="2115794" y="5082688"/>
                  <a:ext cx="659716"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Patient</a:t>
                  </a:r>
                  <a:endParaRPr lang="en-US" sz="1224" dirty="0">
                    <a:solidFill>
                      <a:schemeClr val="tx1"/>
                    </a:solidFill>
                  </a:endParaRPr>
                </a:p>
              </p:txBody>
            </p:sp>
          </p:grpSp>
          <p:sp>
            <p:nvSpPr>
              <p:cNvPr id="64" name="Rectangle 63"/>
              <p:cNvSpPr/>
              <p:nvPr/>
            </p:nvSpPr>
            <p:spPr>
              <a:xfrm>
                <a:off x="-2347979" y="3442820"/>
                <a:ext cx="1193582" cy="25201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err="1">
                    <a:solidFill>
                      <a:schemeClr val="tx1"/>
                    </a:solidFill>
                  </a:rPr>
                  <a:t>FileName</a:t>
                </a:r>
                <a:endParaRPr lang="en-US" sz="1224" dirty="0">
                  <a:solidFill>
                    <a:schemeClr val="tx1"/>
                  </a:solidFill>
                </a:endParaRPr>
              </a:p>
            </p:txBody>
          </p:sp>
          <p:sp>
            <p:nvSpPr>
              <p:cNvPr id="65" name="Rectangle 64"/>
              <p:cNvSpPr/>
              <p:nvPr/>
            </p:nvSpPr>
            <p:spPr>
              <a:xfrm>
                <a:off x="-1170130" y="3444662"/>
                <a:ext cx="909603" cy="25201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err="1">
                    <a:solidFill>
                      <a:schemeClr val="tx1"/>
                    </a:solidFill>
                  </a:rPr>
                  <a:t>PDWStatus</a:t>
                </a:r>
                <a:endParaRPr lang="en-US" sz="1224" dirty="0">
                  <a:solidFill>
                    <a:schemeClr val="tx1"/>
                  </a:solidFill>
                </a:endParaRPr>
              </a:p>
            </p:txBody>
          </p:sp>
          <p:sp>
            <p:nvSpPr>
              <p:cNvPr id="66" name="Rectangle 65"/>
              <p:cNvSpPr/>
              <p:nvPr/>
            </p:nvSpPr>
            <p:spPr>
              <a:xfrm>
                <a:off x="-255467" y="3444350"/>
                <a:ext cx="795186" cy="252018"/>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err="1">
                    <a:solidFill>
                      <a:schemeClr val="tx1"/>
                    </a:solidFill>
                  </a:rPr>
                  <a:t>DRStatus</a:t>
                </a:r>
                <a:endParaRPr lang="en-US" sz="1224" dirty="0">
                  <a:solidFill>
                    <a:schemeClr val="tx1"/>
                  </a:solidFill>
                </a:endParaRPr>
              </a:p>
            </p:txBody>
          </p:sp>
        </p:grpSp>
        <p:grpSp>
          <p:nvGrpSpPr>
            <p:cNvPr id="39" name="Group 38"/>
            <p:cNvGrpSpPr/>
            <p:nvPr/>
          </p:nvGrpSpPr>
          <p:grpSpPr>
            <a:xfrm>
              <a:off x="-2356905" y="3950939"/>
              <a:ext cx="2887698" cy="253860"/>
              <a:chOff x="-3167275" y="2332377"/>
              <a:chExt cx="2887698" cy="253860"/>
            </a:xfrm>
          </p:grpSpPr>
          <p:sp>
            <p:nvSpPr>
              <p:cNvPr id="60" name="Rectangle 59"/>
              <p:cNvSpPr/>
              <p:nvPr/>
            </p:nvSpPr>
            <p:spPr>
              <a:xfrm>
                <a:off x="-3167275" y="2332377"/>
                <a:ext cx="1193582"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Proc20130903x</a:t>
                </a:r>
                <a:endParaRPr lang="en-US" sz="1224" dirty="0">
                  <a:solidFill>
                    <a:schemeClr val="tx1"/>
                  </a:solidFill>
                </a:endParaRPr>
              </a:p>
            </p:txBody>
          </p:sp>
          <p:sp>
            <p:nvSpPr>
              <p:cNvPr id="61" name="Rectangle 60"/>
              <p:cNvSpPr/>
              <p:nvPr/>
            </p:nvSpPr>
            <p:spPr>
              <a:xfrm>
                <a:off x="-1989426" y="2334219"/>
                <a:ext cx="909603"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sp>
            <p:nvSpPr>
              <p:cNvPr id="62" name="Rectangle 61"/>
              <p:cNvSpPr/>
              <p:nvPr/>
            </p:nvSpPr>
            <p:spPr>
              <a:xfrm>
                <a:off x="-1074763" y="2333907"/>
                <a:ext cx="795186"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grpSp>
        <p:grpSp>
          <p:nvGrpSpPr>
            <p:cNvPr id="40" name="Group 39"/>
            <p:cNvGrpSpPr/>
            <p:nvPr/>
          </p:nvGrpSpPr>
          <p:grpSpPr>
            <a:xfrm>
              <a:off x="-2356905" y="4199192"/>
              <a:ext cx="2887698" cy="253860"/>
              <a:chOff x="-3167275" y="2332377"/>
              <a:chExt cx="2887698" cy="253860"/>
            </a:xfrm>
          </p:grpSpPr>
          <p:sp>
            <p:nvSpPr>
              <p:cNvPr id="57" name="Rectangle 56"/>
              <p:cNvSpPr/>
              <p:nvPr/>
            </p:nvSpPr>
            <p:spPr>
              <a:xfrm>
                <a:off x="-3167275" y="2332377"/>
                <a:ext cx="1193582"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Pat20130903a</a:t>
                </a:r>
                <a:endParaRPr lang="en-US" sz="1224" dirty="0">
                  <a:solidFill>
                    <a:schemeClr val="tx1"/>
                  </a:solidFill>
                </a:endParaRPr>
              </a:p>
            </p:txBody>
          </p:sp>
          <p:sp>
            <p:nvSpPr>
              <p:cNvPr id="58" name="Rectangle 57"/>
              <p:cNvSpPr/>
              <p:nvPr/>
            </p:nvSpPr>
            <p:spPr>
              <a:xfrm>
                <a:off x="-1989426" y="2334219"/>
                <a:ext cx="909603"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4" dirty="0">
                  <a:solidFill>
                    <a:schemeClr val="tx1"/>
                  </a:solidFill>
                </a:endParaRPr>
              </a:p>
            </p:txBody>
          </p:sp>
          <p:sp>
            <p:nvSpPr>
              <p:cNvPr id="59" name="Rectangle 58"/>
              <p:cNvSpPr/>
              <p:nvPr/>
            </p:nvSpPr>
            <p:spPr>
              <a:xfrm>
                <a:off x="-1074763" y="2333907"/>
                <a:ext cx="795186"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4" dirty="0">
                  <a:solidFill>
                    <a:schemeClr val="tx1"/>
                  </a:solidFill>
                </a:endParaRPr>
              </a:p>
            </p:txBody>
          </p:sp>
        </p:grpSp>
        <p:grpSp>
          <p:nvGrpSpPr>
            <p:cNvPr id="45" name="Group 44"/>
            <p:cNvGrpSpPr/>
            <p:nvPr/>
          </p:nvGrpSpPr>
          <p:grpSpPr>
            <a:xfrm>
              <a:off x="-2353679" y="3704551"/>
              <a:ext cx="2887698" cy="253860"/>
              <a:chOff x="-3167275" y="2332377"/>
              <a:chExt cx="2887698" cy="253860"/>
            </a:xfrm>
          </p:grpSpPr>
          <p:sp>
            <p:nvSpPr>
              <p:cNvPr id="48" name="Rectangle 47"/>
              <p:cNvSpPr/>
              <p:nvPr/>
            </p:nvSpPr>
            <p:spPr>
              <a:xfrm>
                <a:off x="-3167275" y="2332377"/>
                <a:ext cx="1193582"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Pat20130903x</a:t>
                </a:r>
                <a:endParaRPr lang="en-US" sz="1224" dirty="0">
                  <a:solidFill>
                    <a:schemeClr val="tx1"/>
                  </a:solidFill>
                </a:endParaRPr>
              </a:p>
            </p:txBody>
          </p:sp>
          <p:sp>
            <p:nvSpPr>
              <p:cNvPr id="55" name="Rectangle 54"/>
              <p:cNvSpPr/>
              <p:nvPr/>
            </p:nvSpPr>
            <p:spPr>
              <a:xfrm>
                <a:off x="-1989426" y="2334219"/>
                <a:ext cx="909603"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sp>
            <p:nvSpPr>
              <p:cNvPr id="56" name="Rectangle 55"/>
              <p:cNvSpPr/>
              <p:nvPr/>
            </p:nvSpPr>
            <p:spPr>
              <a:xfrm>
                <a:off x="-1074763" y="2333907"/>
                <a:ext cx="795186" cy="25201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grpSp>
      </p:grpSp>
      <p:sp>
        <p:nvSpPr>
          <p:cNvPr id="79" name="Rectangle 78"/>
          <p:cNvSpPr/>
          <p:nvPr/>
        </p:nvSpPr>
        <p:spPr>
          <a:xfrm>
            <a:off x="3038214" y="5241603"/>
            <a:ext cx="740454"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New</a:t>
            </a:r>
            <a:endParaRPr lang="en-US" sz="1224" dirty="0">
              <a:solidFill>
                <a:schemeClr val="tx1"/>
              </a:solidFill>
            </a:endParaRPr>
          </a:p>
        </p:txBody>
      </p:sp>
      <p:sp>
        <p:nvSpPr>
          <p:cNvPr id="80" name="Rectangle 79"/>
          <p:cNvSpPr/>
          <p:nvPr/>
        </p:nvSpPr>
        <p:spPr>
          <a:xfrm>
            <a:off x="3761136" y="5241603"/>
            <a:ext cx="1217343"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Pat20130903a</a:t>
            </a:r>
            <a:endParaRPr lang="en-US" sz="1224" dirty="0">
              <a:solidFill>
                <a:schemeClr val="tx1"/>
              </a:solidFill>
            </a:endParaRPr>
          </a:p>
        </p:txBody>
      </p:sp>
      <p:sp>
        <p:nvSpPr>
          <p:cNvPr id="81" name="Rectangle 80"/>
          <p:cNvSpPr/>
          <p:nvPr/>
        </p:nvSpPr>
        <p:spPr>
          <a:xfrm>
            <a:off x="3763717" y="5239215"/>
            <a:ext cx="1217343"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Pat20130903a</a:t>
            </a:r>
            <a:endParaRPr lang="en-US" sz="1224" dirty="0">
              <a:solidFill>
                <a:schemeClr val="tx1"/>
              </a:solidFill>
            </a:endParaRPr>
          </a:p>
        </p:txBody>
      </p:sp>
      <p:sp>
        <p:nvSpPr>
          <p:cNvPr id="83" name="Rectangle 82"/>
          <p:cNvSpPr/>
          <p:nvPr/>
        </p:nvSpPr>
        <p:spPr>
          <a:xfrm>
            <a:off x="8347304" y="3575667"/>
            <a:ext cx="901894"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sp>
        <p:nvSpPr>
          <p:cNvPr id="82" name="Rectangle 81"/>
          <p:cNvSpPr/>
          <p:nvPr/>
        </p:nvSpPr>
        <p:spPr>
          <a:xfrm>
            <a:off x="5902066" y="5241603"/>
            <a:ext cx="831031"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pic>
        <p:nvPicPr>
          <p:cNvPr id="85" name="Picture 8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92379" y="2810949"/>
            <a:ext cx="339344" cy="452458"/>
          </a:xfrm>
          <a:prstGeom prst="rect">
            <a:avLst/>
          </a:prstGeom>
        </p:spPr>
      </p:pic>
      <p:sp>
        <p:nvSpPr>
          <p:cNvPr id="87" name="TextBox 86"/>
          <p:cNvSpPr txBox="1"/>
          <p:nvPr/>
        </p:nvSpPr>
        <p:spPr>
          <a:xfrm>
            <a:off x="283170" y="1542448"/>
            <a:ext cx="5345044" cy="318286"/>
          </a:xfrm>
          <a:prstGeom prst="rect">
            <a:avLst/>
          </a:prstGeom>
          <a:noFill/>
        </p:spPr>
        <p:txBody>
          <a:bodyPr wrap="square" rtlCol="0">
            <a:spAutoFit/>
          </a:bodyPr>
          <a:lstStyle/>
          <a:p>
            <a:r>
              <a:rPr lang="en-US" sz="1428" dirty="0"/>
              <a:t>Step </a:t>
            </a:r>
            <a:r>
              <a:rPr lang="en-US" sz="1428" dirty="0"/>
              <a:t>6: DFS copies files to Prod</a:t>
            </a:r>
            <a:endParaRPr lang="en-US" sz="1428" dirty="0"/>
          </a:p>
        </p:txBody>
      </p:sp>
      <p:sp>
        <p:nvSpPr>
          <p:cNvPr id="88" name="Rectangle 87"/>
          <p:cNvSpPr/>
          <p:nvPr/>
        </p:nvSpPr>
        <p:spPr>
          <a:xfrm>
            <a:off x="1883023" y="5502058"/>
            <a:ext cx="1161078"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Patient</a:t>
            </a:r>
            <a:endParaRPr lang="en-US" sz="1224" dirty="0">
              <a:solidFill>
                <a:schemeClr val="tx1"/>
              </a:solidFill>
            </a:endParaRPr>
          </a:p>
        </p:txBody>
      </p:sp>
      <p:sp>
        <p:nvSpPr>
          <p:cNvPr id="89" name="Rectangle 88"/>
          <p:cNvSpPr/>
          <p:nvPr/>
        </p:nvSpPr>
        <p:spPr>
          <a:xfrm>
            <a:off x="3026569" y="5497001"/>
            <a:ext cx="740454"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New</a:t>
            </a:r>
            <a:endParaRPr lang="en-US" sz="1224" dirty="0">
              <a:solidFill>
                <a:schemeClr val="tx1"/>
              </a:solidFill>
            </a:endParaRPr>
          </a:p>
        </p:txBody>
      </p:sp>
      <p:sp>
        <p:nvSpPr>
          <p:cNvPr id="91" name="Rectangle 90"/>
          <p:cNvSpPr/>
          <p:nvPr/>
        </p:nvSpPr>
        <p:spPr>
          <a:xfrm>
            <a:off x="3769603" y="5493859"/>
            <a:ext cx="1217343"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Pat20130903b</a:t>
            </a:r>
            <a:endParaRPr lang="en-US" sz="1224" dirty="0">
              <a:solidFill>
                <a:schemeClr val="tx1"/>
              </a:solidFill>
            </a:endParaRPr>
          </a:p>
        </p:txBody>
      </p:sp>
      <p:sp>
        <p:nvSpPr>
          <p:cNvPr id="124" name="Rectangle 123"/>
          <p:cNvSpPr/>
          <p:nvPr/>
        </p:nvSpPr>
        <p:spPr>
          <a:xfrm>
            <a:off x="4983192" y="5500428"/>
            <a:ext cx="927711"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4" dirty="0">
              <a:solidFill>
                <a:schemeClr val="tx1"/>
              </a:solidFill>
            </a:endParaRPr>
          </a:p>
        </p:txBody>
      </p:sp>
      <p:sp>
        <p:nvSpPr>
          <p:cNvPr id="125" name="Rectangle 124"/>
          <p:cNvSpPr/>
          <p:nvPr/>
        </p:nvSpPr>
        <p:spPr>
          <a:xfrm>
            <a:off x="5892366" y="5494714"/>
            <a:ext cx="840731"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4" dirty="0">
              <a:solidFill>
                <a:schemeClr val="tx1"/>
              </a:solidFill>
            </a:endParaRPr>
          </a:p>
        </p:txBody>
      </p:sp>
      <p:sp>
        <p:nvSpPr>
          <p:cNvPr id="126" name="Rectangle 125"/>
          <p:cNvSpPr/>
          <p:nvPr/>
        </p:nvSpPr>
        <p:spPr>
          <a:xfrm>
            <a:off x="3757205" y="5500428"/>
            <a:ext cx="1217343"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Pat20130903b</a:t>
            </a:r>
            <a:endParaRPr lang="en-US" sz="1224" dirty="0">
              <a:solidFill>
                <a:schemeClr val="tx1"/>
              </a:solidFill>
            </a:endParaRPr>
          </a:p>
        </p:txBody>
      </p:sp>
      <p:pic>
        <p:nvPicPr>
          <p:cNvPr id="130" name="Picture 129"/>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69905" y="4967844"/>
            <a:ext cx="339344" cy="452458"/>
          </a:xfrm>
          <a:prstGeom prst="rect">
            <a:avLst/>
          </a:prstGeom>
        </p:spPr>
      </p:pic>
      <p:sp>
        <p:nvSpPr>
          <p:cNvPr id="123" name="Rectangle 122"/>
          <p:cNvSpPr/>
          <p:nvPr/>
        </p:nvSpPr>
        <p:spPr>
          <a:xfrm>
            <a:off x="8335490" y="5856331"/>
            <a:ext cx="831031"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sp>
        <p:nvSpPr>
          <p:cNvPr id="132" name="Rectangle 131"/>
          <p:cNvSpPr/>
          <p:nvPr/>
        </p:nvSpPr>
        <p:spPr>
          <a:xfrm>
            <a:off x="6941408" y="3386318"/>
            <a:ext cx="1217343"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Pat20130903a</a:t>
            </a:r>
            <a:endParaRPr lang="en-US" sz="1224" dirty="0">
              <a:solidFill>
                <a:schemeClr val="tx1"/>
              </a:solidFill>
            </a:endParaRPr>
          </a:p>
        </p:txBody>
      </p:sp>
      <p:sp>
        <p:nvSpPr>
          <p:cNvPr id="133" name="Rectangle 132"/>
          <p:cNvSpPr/>
          <p:nvPr/>
        </p:nvSpPr>
        <p:spPr>
          <a:xfrm>
            <a:off x="3772971" y="5498007"/>
            <a:ext cx="1217343"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Pat20130903b</a:t>
            </a:r>
            <a:endParaRPr lang="en-US" sz="1224" dirty="0">
              <a:solidFill>
                <a:schemeClr val="tx1"/>
              </a:solidFill>
            </a:endParaRPr>
          </a:p>
        </p:txBody>
      </p:sp>
      <p:pic>
        <p:nvPicPr>
          <p:cNvPr id="134" name="Picture 13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376683" y="2799835"/>
            <a:ext cx="339344" cy="452458"/>
          </a:xfrm>
          <a:prstGeom prst="rect">
            <a:avLst/>
          </a:prstGeom>
        </p:spPr>
      </p:pic>
      <p:sp>
        <p:nvSpPr>
          <p:cNvPr id="3" name="TextBox 2"/>
          <p:cNvSpPr txBox="1"/>
          <p:nvPr/>
        </p:nvSpPr>
        <p:spPr>
          <a:xfrm>
            <a:off x="1493837" y="2974173"/>
            <a:ext cx="2567129" cy="318286"/>
          </a:xfrm>
          <a:prstGeom prst="rect">
            <a:avLst/>
          </a:prstGeom>
          <a:solidFill>
            <a:srgbClr val="FFFF00"/>
          </a:solidFill>
        </p:spPr>
        <p:txBody>
          <a:bodyPr wrap="square" rtlCol="0">
            <a:spAutoFit/>
          </a:bodyPr>
          <a:lstStyle>
            <a:defPPr>
              <a:defRPr lang="en-US"/>
            </a:defPPr>
            <a:lvl1pPr>
              <a:defRPr sz="1400"/>
            </a:lvl1pPr>
          </a:lstStyle>
          <a:p>
            <a:r>
              <a:rPr lang="en-US" sz="1428" dirty="0">
                <a:solidFill>
                  <a:schemeClr val="bg1">
                    <a:lumMod val="50000"/>
                  </a:schemeClr>
                </a:solidFill>
              </a:rPr>
              <a:t>– Return to step </a:t>
            </a:r>
            <a:r>
              <a:rPr lang="en-US" sz="1428" dirty="0">
                <a:solidFill>
                  <a:schemeClr val="bg1">
                    <a:lumMod val="50000"/>
                  </a:schemeClr>
                </a:solidFill>
              </a:rPr>
              <a:t>7</a:t>
            </a:r>
            <a:endParaRPr lang="en-US" sz="1428" dirty="0">
              <a:solidFill>
                <a:schemeClr val="bg1">
                  <a:lumMod val="50000"/>
                </a:schemeClr>
              </a:solidFill>
            </a:endParaRPr>
          </a:p>
        </p:txBody>
      </p:sp>
      <p:sp>
        <p:nvSpPr>
          <p:cNvPr id="135" name="Rectangle 134"/>
          <p:cNvSpPr/>
          <p:nvPr/>
        </p:nvSpPr>
        <p:spPr>
          <a:xfrm>
            <a:off x="8357028" y="3566756"/>
            <a:ext cx="901894" cy="2570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24" dirty="0">
                <a:solidFill>
                  <a:schemeClr val="tx1"/>
                </a:solidFill>
              </a:rPr>
              <a:t>Comp</a:t>
            </a:r>
            <a:endParaRPr lang="en-US" sz="1224" dirty="0">
              <a:solidFill>
                <a:schemeClr val="tx1"/>
              </a:solidFill>
            </a:endParaRPr>
          </a:p>
        </p:txBody>
      </p:sp>
      <p:sp>
        <p:nvSpPr>
          <p:cNvPr id="84" name="TextBox 83"/>
          <p:cNvSpPr txBox="1"/>
          <p:nvPr/>
        </p:nvSpPr>
        <p:spPr>
          <a:xfrm>
            <a:off x="283170" y="3911768"/>
            <a:ext cx="5345044" cy="318286"/>
          </a:xfrm>
          <a:prstGeom prst="rect">
            <a:avLst/>
          </a:prstGeom>
          <a:noFill/>
        </p:spPr>
        <p:txBody>
          <a:bodyPr wrap="square" rtlCol="0">
            <a:spAutoFit/>
          </a:bodyPr>
          <a:lstStyle/>
          <a:p>
            <a:r>
              <a:rPr lang="en-US" sz="1428" dirty="0"/>
              <a:t>Step </a:t>
            </a:r>
            <a:r>
              <a:rPr lang="en-US" sz="1428" dirty="0"/>
              <a:t>11: Load Balancer is set to point to Prod</a:t>
            </a:r>
            <a:endParaRPr lang="en-US" sz="1428" dirty="0"/>
          </a:p>
        </p:txBody>
      </p:sp>
    </p:spTree>
    <p:extLst>
      <p:ext uri="{BB962C8B-B14F-4D97-AF65-F5344CB8AC3E}">
        <p14:creationId xmlns:p14="http://schemas.microsoft.com/office/powerpoint/2010/main" val="26711821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fade">
                                      <p:cBhvr>
                                        <p:cTn id="7" dur="500"/>
                                        <p:tgtEl>
                                          <p:spTgt spid="87"/>
                                        </p:tgtEl>
                                      </p:cBhvr>
                                    </p:animEffect>
                                  </p:childTnLst>
                                </p:cTn>
                              </p:par>
                              <p:par>
                                <p:cTn id="8" presetID="1" presetClass="entr" presetSubtype="0" fill="hold" nodeType="withEffect">
                                  <p:stCondLst>
                                    <p:cond delay="0"/>
                                  </p:stCondLst>
                                  <p:childTnLst>
                                    <p:set>
                                      <p:cBhvr>
                                        <p:cTn id="9" dur="1" fill="hold">
                                          <p:stCondLst>
                                            <p:cond delay="0"/>
                                          </p:stCondLst>
                                        </p:cTn>
                                        <p:tgtEl>
                                          <p:spTgt spid="86"/>
                                        </p:tgtEl>
                                        <p:attrNameLst>
                                          <p:attrName>style.visibility</p:attrName>
                                        </p:attrNameLst>
                                      </p:cBhvr>
                                      <p:to>
                                        <p:strVal val="visible"/>
                                      </p:to>
                                    </p:set>
                                  </p:childTnLst>
                                </p:cTn>
                              </p:par>
                              <p:par>
                                <p:cTn id="10" presetID="42" presetClass="path" presetSubtype="0" accel="50000" decel="50000" fill="hold" nodeType="withEffect">
                                  <p:stCondLst>
                                    <p:cond delay="0"/>
                                  </p:stCondLst>
                                  <p:childTnLst>
                                    <p:animMotion origin="layout" path="M -1.11111E-6 -2.59259E-6 L 0.00104 -0.31203 " pathEditMode="relative" rAng="0" ptsTypes="AA">
                                      <p:cBhvr>
                                        <p:cTn id="11" dur="2000" fill="hold"/>
                                        <p:tgtEl>
                                          <p:spTgt spid="46"/>
                                        </p:tgtEl>
                                        <p:attrNameLst>
                                          <p:attrName>ppt_x</p:attrName>
                                          <p:attrName>ppt_y</p:attrName>
                                        </p:attrNameLst>
                                      </p:cBhvr>
                                      <p:rCtr x="52" y="-15602"/>
                                    </p:animMotion>
                                  </p:childTnLst>
                                </p:cTn>
                              </p:par>
                            </p:childTnLst>
                          </p:cTn>
                        </p:par>
                        <p:par>
                          <p:cTn id="12" fill="hold">
                            <p:stCondLst>
                              <p:cond delay="2000"/>
                            </p:stCondLst>
                            <p:childTnLst>
                              <p:par>
                                <p:cTn id="13" presetID="1" presetClass="exit" presetSubtype="0" fill="hold" nodeType="afterEffect">
                                  <p:stCondLst>
                                    <p:cond delay="0"/>
                                  </p:stCondLst>
                                  <p:childTnLst>
                                    <p:set>
                                      <p:cBhvr>
                                        <p:cTn id="14" dur="1" fill="hold">
                                          <p:stCondLst>
                                            <p:cond delay="0"/>
                                          </p:stCondLst>
                                        </p:cTn>
                                        <p:tgtEl>
                                          <p:spTgt spid="8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53"/>
                                        </p:tgtEl>
                                        <p:attrNameLst>
                                          <p:attrName>style.visibility</p:attrName>
                                        </p:attrNameLst>
                                      </p:cBhvr>
                                      <p:to>
                                        <p:strVal val="visible"/>
                                      </p:to>
                                    </p:set>
                                    <p:animEffect transition="in" filter="fade">
                                      <p:cBhvr>
                                        <p:cTn id="19" dur="500"/>
                                        <p:tgtEl>
                                          <p:spTgt spid="53"/>
                                        </p:tgtEl>
                                      </p:cBhvr>
                                    </p:animEffect>
                                  </p:childTnLst>
                                </p:cTn>
                              </p:par>
                              <p:par>
                                <p:cTn id="20" presetID="42" presetClass="path" presetSubtype="0" accel="50000" decel="50000" fill="hold" grpId="0" nodeType="withEffect">
                                  <p:stCondLst>
                                    <p:cond delay="0"/>
                                  </p:stCondLst>
                                  <p:childTnLst>
                                    <p:animMotion origin="layout" path="M 3.88889E-6 -2.59259E-6 L 0.33993 -0.26365 " pathEditMode="relative" rAng="0" ptsTypes="AA">
                                      <p:cBhvr>
                                        <p:cTn id="21" dur="2000" fill="hold"/>
                                        <p:tgtEl>
                                          <p:spTgt spid="80"/>
                                        </p:tgtEl>
                                        <p:attrNameLst>
                                          <p:attrName>ppt_x</p:attrName>
                                          <p:attrName>ppt_y</p:attrName>
                                        </p:attrNameLst>
                                      </p:cBhvr>
                                      <p:rCtr x="16997" y="-13194"/>
                                    </p:animMotion>
                                  </p:childTnLst>
                                </p:cTn>
                              </p:par>
                              <p:par>
                                <p:cTn id="22" presetID="42" presetClass="path" presetSubtype="0" accel="50000" decel="50000" fill="hold" grpId="0" nodeType="withEffect">
                                  <p:stCondLst>
                                    <p:cond delay="0"/>
                                  </p:stCondLst>
                                  <p:childTnLst>
                                    <p:animMotion origin="layout" path="M 1.11111E-6 3.7037E-7 L 0.34861 0.04861 " pathEditMode="relative" rAng="0" ptsTypes="AA">
                                      <p:cBhvr>
                                        <p:cTn id="23" dur="2000" fill="hold"/>
                                        <p:tgtEl>
                                          <p:spTgt spid="126"/>
                                        </p:tgtEl>
                                        <p:attrNameLst>
                                          <p:attrName>ppt_x</p:attrName>
                                          <p:attrName>ppt_y</p:attrName>
                                        </p:attrNameLst>
                                      </p:cBhvr>
                                      <p:rCtr x="17431" y="2431"/>
                                    </p:animMotion>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35"/>
                                        </p:tgtEl>
                                        <p:attrNameLst>
                                          <p:attrName>style.visibility</p:attrName>
                                        </p:attrNameLst>
                                      </p:cBhvr>
                                      <p:to>
                                        <p:strVal val="visible"/>
                                      </p:to>
                                    </p:set>
                                    <p:animEffect transition="in" filter="fade">
                                      <p:cBhvr>
                                        <p:cTn id="28" dur="500"/>
                                        <p:tgtEl>
                                          <p:spTgt spid="35"/>
                                        </p:tgtEl>
                                      </p:cBhvr>
                                    </p:animEffect>
                                  </p:childTnLst>
                                </p:cTn>
                              </p:par>
                              <p:par>
                                <p:cTn id="29" presetID="1" presetClass="entr" presetSubtype="0" fill="hold" nodeType="with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3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34"/>
                                        </p:tgtEl>
                                        <p:attrNameLst>
                                          <p:attrName>style.visibility</p:attrName>
                                        </p:attrNameLst>
                                      </p:cBhvr>
                                      <p:to>
                                        <p:strVal val="visible"/>
                                      </p:to>
                                    </p:set>
                                  </p:childTnLst>
                                </p:cTn>
                              </p:par>
                              <p:par>
                                <p:cTn id="35" presetID="8" presetClass="emph" presetSubtype="0" fill="hold" nodeType="withEffect">
                                  <p:stCondLst>
                                    <p:cond delay="0"/>
                                  </p:stCondLst>
                                  <p:childTnLst>
                                    <p:animRot by="21600000">
                                      <p:cBhvr>
                                        <p:cTn id="36" dur="2000" fill="hold"/>
                                        <p:tgtEl>
                                          <p:spTgt spid="22"/>
                                        </p:tgtEl>
                                        <p:attrNameLst>
                                          <p:attrName>r</p:attrName>
                                        </p:attrNameLst>
                                      </p:cBhvr>
                                    </p:animRot>
                                  </p:childTnLst>
                                </p:cTn>
                              </p:par>
                              <p:par>
                                <p:cTn id="37" presetID="8" presetClass="emph" presetSubtype="0" fill="hold" nodeType="withEffect">
                                  <p:stCondLst>
                                    <p:cond delay="0"/>
                                  </p:stCondLst>
                                  <p:childTnLst>
                                    <p:animRot by="21600000">
                                      <p:cBhvr>
                                        <p:cTn id="38" dur="2000" fill="hold"/>
                                        <p:tgtEl>
                                          <p:spTgt spid="23"/>
                                        </p:tgtEl>
                                        <p:attrNameLst>
                                          <p:attrName>r</p:attrName>
                                        </p:attrNameLst>
                                      </p:cBhvr>
                                    </p:animRot>
                                  </p:childTnLst>
                                </p:cTn>
                              </p:par>
                              <p:par>
                                <p:cTn id="39" presetID="8" presetClass="emph" presetSubtype="0" fill="hold" nodeType="withEffect">
                                  <p:stCondLst>
                                    <p:cond delay="0"/>
                                  </p:stCondLst>
                                  <p:childTnLst>
                                    <p:animRot by="21600000">
                                      <p:cBhvr>
                                        <p:cTn id="40" dur="2000" fill="hold"/>
                                        <p:tgtEl>
                                          <p:spTgt spid="22"/>
                                        </p:tgtEl>
                                        <p:attrNameLst>
                                          <p:attrName>r</p:attrName>
                                        </p:attrNameLst>
                                      </p:cBhvr>
                                    </p:animRot>
                                  </p:childTnLst>
                                </p:cTn>
                              </p:par>
                              <p:par>
                                <p:cTn id="41" presetID="42" presetClass="path" presetSubtype="0" accel="50000" decel="50000" fill="hold" nodeType="withEffect">
                                  <p:stCondLst>
                                    <p:cond delay="0"/>
                                  </p:stCondLst>
                                  <p:childTnLst>
                                    <p:animMotion origin="layout" path="M 3.33333E-6 4.44444E-6 L 0.28941 0.00162 " pathEditMode="relative" rAng="0" ptsTypes="AA">
                                      <p:cBhvr>
                                        <p:cTn id="42" dur="2000" fill="hold"/>
                                        <p:tgtEl>
                                          <p:spTgt spid="47"/>
                                        </p:tgtEl>
                                        <p:attrNameLst>
                                          <p:attrName>ppt_x</p:attrName>
                                          <p:attrName>ppt_y</p:attrName>
                                        </p:attrNameLst>
                                      </p:cBhvr>
                                      <p:rCtr x="14462" y="69"/>
                                    </p:animMotion>
                                  </p:childTnLst>
                                  <p:subTnLst>
                                    <p:set>
                                      <p:cBhvr override="childStyle">
                                        <p:cTn dur="1" fill="hold" display="0" masterRel="sameClick" afterEffect="1">
                                          <p:stCondLst>
                                            <p:cond evt="end" delay="0">
                                              <p:tn val="41"/>
                                            </p:cond>
                                          </p:stCondLst>
                                        </p:cTn>
                                        <p:tgtEl>
                                          <p:spTgt spid="47"/>
                                        </p:tgtEl>
                                        <p:attrNameLst>
                                          <p:attrName>style.visibility</p:attrName>
                                        </p:attrNameLst>
                                      </p:cBhvr>
                                      <p:to>
                                        <p:strVal val="hidden"/>
                                      </p:to>
                                    </p:set>
                                  </p:subTnLst>
                                </p:cTn>
                              </p:par>
                              <p:par>
                                <p:cTn id="43" presetID="1" presetClass="entr" presetSubtype="0" fill="hold" nodeType="withEffect">
                                  <p:stCondLst>
                                    <p:cond delay="0"/>
                                  </p:stCondLst>
                                  <p:childTnLst>
                                    <p:set>
                                      <p:cBhvr>
                                        <p:cTn id="44" dur="1" fill="hold">
                                          <p:stCondLst>
                                            <p:cond delay="0"/>
                                          </p:stCondLst>
                                        </p:cTn>
                                        <p:tgtEl>
                                          <p:spTgt spid="85"/>
                                        </p:tgtEl>
                                        <p:attrNameLst>
                                          <p:attrName>style.visibility</p:attrName>
                                        </p:attrNameLst>
                                      </p:cBhvr>
                                      <p:to>
                                        <p:strVal val="visible"/>
                                      </p:to>
                                    </p:set>
                                  </p:childTnLst>
                                </p:cTn>
                              </p:par>
                              <p:par>
                                <p:cTn id="45" presetID="42" presetClass="path" presetSubtype="0" accel="50000" decel="50000" fill="hold" nodeType="withEffect">
                                  <p:stCondLst>
                                    <p:cond delay="0"/>
                                  </p:stCondLst>
                                  <p:childTnLst>
                                    <p:animMotion origin="layout" path="M 2.77778E-6 7.40741E-7 L 0.28923 -0.00093 " pathEditMode="relative" rAng="0" ptsTypes="AA">
                                      <p:cBhvr>
                                        <p:cTn id="46" dur="2000" fill="hold"/>
                                        <p:tgtEl>
                                          <p:spTgt spid="85"/>
                                        </p:tgtEl>
                                        <p:attrNameLst>
                                          <p:attrName>ppt_x</p:attrName>
                                          <p:attrName>ppt_y</p:attrName>
                                        </p:attrNameLst>
                                      </p:cBhvr>
                                      <p:rCtr x="14462" y="-46"/>
                                    </p:animMotion>
                                  </p:childTnLst>
                                  <p:subTnLst>
                                    <p:set>
                                      <p:cBhvr override="childStyle">
                                        <p:cTn dur="1" fill="hold" display="0" masterRel="sameClick" afterEffect="1">
                                          <p:stCondLst>
                                            <p:cond evt="end" delay="0">
                                              <p:tn val="45"/>
                                            </p:cond>
                                          </p:stCondLst>
                                        </p:cTn>
                                        <p:tgtEl>
                                          <p:spTgt spid="85"/>
                                        </p:tgtEl>
                                        <p:attrNameLst>
                                          <p:attrName>style.visibility</p:attrName>
                                        </p:attrNameLst>
                                      </p:cBhvr>
                                      <p:to>
                                        <p:strVal val="hidden"/>
                                      </p:to>
                                    </p:set>
                                  </p:subTnLst>
                                </p:cTn>
                              </p:par>
                              <p:par>
                                <p:cTn id="47" presetID="1" presetClass="exit" presetSubtype="0" fill="hold" nodeType="withEffect">
                                  <p:stCondLst>
                                    <p:cond delay="0"/>
                                  </p:stCondLst>
                                  <p:childTnLst>
                                    <p:set>
                                      <p:cBhvr>
                                        <p:cTn id="48" dur="1" fill="hold">
                                          <p:stCondLst>
                                            <p:cond delay="0"/>
                                          </p:stCondLst>
                                        </p:cTn>
                                        <p:tgtEl>
                                          <p:spTgt spid="46"/>
                                        </p:tgtEl>
                                        <p:attrNameLst>
                                          <p:attrName>style.visibility</p:attrName>
                                        </p:attrNameLst>
                                      </p:cBhvr>
                                      <p:to>
                                        <p:strVal val="hidden"/>
                                      </p:to>
                                    </p:set>
                                  </p:childTnLst>
                                </p:cTn>
                              </p:par>
                              <p:par>
                                <p:cTn id="49" presetID="1" presetClass="exit" presetSubtype="0" fill="hold" nodeType="withEffect">
                                  <p:stCondLst>
                                    <p:cond delay="0"/>
                                  </p:stCondLst>
                                  <p:childTnLst>
                                    <p:set>
                                      <p:cBhvr>
                                        <p:cTn id="50" dur="1" fill="hold">
                                          <p:stCondLst>
                                            <p:cond delay="0"/>
                                          </p:stCondLst>
                                        </p:cTn>
                                        <p:tgtEl>
                                          <p:spTgt spid="130"/>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fade">
                                      <p:cBhvr>
                                        <p:cTn id="55" dur="500"/>
                                        <p:tgtEl>
                                          <p:spTgt spid="36"/>
                                        </p:tgtEl>
                                      </p:cBhvr>
                                    </p:animEffect>
                                  </p:childTnLst>
                                </p:cTn>
                              </p:par>
                              <p:par>
                                <p:cTn id="56" presetID="1" presetClass="entr" presetSubtype="0" fill="hold" grpId="0" nodeType="withEffect">
                                  <p:stCondLst>
                                    <p:cond delay="0"/>
                                  </p:stCondLst>
                                  <p:childTnLst>
                                    <p:set>
                                      <p:cBhvr>
                                        <p:cTn id="57" dur="1" fill="hold">
                                          <p:stCondLst>
                                            <p:cond delay="0"/>
                                          </p:stCondLst>
                                        </p:cTn>
                                        <p:tgtEl>
                                          <p:spTgt spid="83"/>
                                        </p:tgtEl>
                                        <p:attrNameLst>
                                          <p:attrName>style.visibility</p:attrName>
                                        </p:attrNameLst>
                                      </p:cBhvr>
                                      <p:to>
                                        <p:strVal val="visible"/>
                                      </p:to>
                                    </p:set>
                                  </p:childTnLst>
                                </p:cTn>
                              </p:par>
                              <p:par>
                                <p:cTn id="58" presetID="1" presetClass="entr" presetSubtype="0" fill="hold" grpId="1" nodeType="withEffect">
                                  <p:stCondLst>
                                    <p:cond delay="0"/>
                                  </p:stCondLst>
                                  <p:childTnLst>
                                    <p:set>
                                      <p:cBhvr>
                                        <p:cTn id="59" dur="1" fill="hold">
                                          <p:stCondLst>
                                            <p:cond delay="0"/>
                                          </p:stCondLst>
                                        </p:cTn>
                                        <p:tgtEl>
                                          <p:spTgt spid="123"/>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132"/>
                                        </p:tgtEl>
                                        <p:attrNameLst>
                                          <p:attrName>style.visibility</p:attrName>
                                        </p:attrNameLst>
                                      </p:cBhvr>
                                      <p:to>
                                        <p:strVal val="visible"/>
                                      </p:to>
                                    </p:set>
                                  </p:childTnLst>
                                </p:cTn>
                              </p:par>
                              <p:par>
                                <p:cTn id="62" presetID="42" presetClass="path" presetSubtype="0" accel="50000" decel="50000" fill="hold" grpId="1" nodeType="withEffect">
                                  <p:stCondLst>
                                    <p:cond delay="0"/>
                                  </p:stCondLst>
                                  <p:childTnLst>
                                    <p:animMotion origin="layout" path="M -2.5E-6 1.85185E-6 L -0.36146 0.23657 " pathEditMode="relative" rAng="0" ptsTypes="AA">
                                      <p:cBhvr>
                                        <p:cTn id="63" dur="2000" fill="hold"/>
                                        <p:tgtEl>
                                          <p:spTgt spid="83"/>
                                        </p:tgtEl>
                                        <p:attrNameLst>
                                          <p:attrName>ppt_x</p:attrName>
                                          <p:attrName>ppt_y</p:attrName>
                                        </p:attrNameLst>
                                      </p:cBhvr>
                                      <p:rCtr x="-18073" y="11829"/>
                                    </p:animMotion>
                                  </p:childTnLst>
                                </p:cTn>
                              </p:par>
                            </p:childTnLst>
                          </p:cTn>
                        </p:par>
                        <p:par>
                          <p:cTn id="64" fill="hold">
                            <p:stCondLst>
                              <p:cond delay="2000"/>
                            </p:stCondLst>
                            <p:childTnLst>
                              <p:par>
                                <p:cTn id="65" presetID="42" presetClass="path" presetSubtype="0" accel="50000" decel="50000" fill="hold" grpId="0" nodeType="afterEffect">
                                  <p:stCondLst>
                                    <p:cond delay="0"/>
                                  </p:stCondLst>
                                  <p:childTnLst>
                                    <p:animMotion origin="layout" path="M 2.22222E-6 4.44444E-6 L -0.2632 -0.05093 " pathEditMode="relative" rAng="0" ptsTypes="AA">
                                      <p:cBhvr>
                                        <p:cTn id="66" dur="2000" fill="hold"/>
                                        <p:tgtEl>
                                          <p:spTgt spid="123"/>
                                        </p:tgtEl>
                                        <p:attrNameLst>
                                          <p:attrName>ppt_x</p:attrName>
                                          <p:attrName>ppt_y</p:attrName>
                                        </p:attrNameLst>
                                      </p:cBhvr>
                                      <p:rCtr x="-13160" y="-2546"/>
                                    </p:animMotion>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42" presetClass="path" presetSubtype="0" accel="50000" decel="50000" fill="hold" grpId="0" nodeType="clickEffect">
                                  <p:stCondLst>
                                    <p:cond delay="0"/>
                                  </p:stCondLst>
                                  <p:childTnLst>
                                    <p:animMotion origin="layout" path="M 5E-6 1.85185E-6 L 0.35348 -0.27084 " pathEditMode="relative" rAng="0" ptsTypes="AA">
                                      <p:cBhvr>
                                        <p:cTn id="74" dur="2000" fill="hold"/>
                                        <p:tgtEl>
                                          <p:spTgt spid="133"/>
                                        </p:tgtEl>
                                        <p:attrNameLst>
                                          <p:attrName>ppt_x</p:attrName>
                                          <p:attrName>ppt_y</p:attrName>
                                        </p:attrNameLst>
                                      </p:cBhvr>
                                      <p:rCtr x="17674" y="-13542"/>
                                    </p:animMotion>
                                  </p:childTnLst>
                                </p:cTn>
                              </p:par>
                            </p:childTnLst>
                          </p:cTn>
                        </p:par>
                        <p:par>
                          <p:cTn id="75" fill="hold">
                            <p:stCondLst>
                              <p:cond delay="2000"/>
                            </p:stCondLst>
                            <p:childTnLst>
                              <p:par>
                                <p:cTn id="76" presetID="8" presetClass="emph" presetSubtype="0" fill="hold" nodeType="afterEffect">
                                  <p:stCondLst>
                                    <p:cond delay="0"/>
                                  </p:stCondLst>
                                  <p:childTnLst>
                                    <p:animRot by="21600000">
                                      <p:cBhvr>
                                        <p:cTn id="77" dur="2000" fill="hold"/>
                                        <p:tgtEl>
                                          <p:spTgt spid="23"/>
                                        </p:tgtEl>
                                        <p:attrNameLst>
                                          <p:attrName>r</p:attrName>
                                        </p:attrNameLst>
                                      </p:cBhvr>
                                    </p:animRot>
                                  </p:childTnLst>
                                </p:cTn>
                              </p:par>
                              <p:par>
                                <p:cTn id="78" presetID="42" presetClass="path" presetSubtype="0" accel="50000" decel="50000" fill="hold" nodeType="withEffect">
                                  <p:stCondLst>
                                    <p:cond delay="0"/>
                                  </p:stCondLst>
                                  <p:childTnLst>
                                    <p:animMotion origin="layout" path="M -1.11111E-6 1.11111E-6 L 0.28924 -0.00093 " pathEditMode="relative" rAng="0" ptsTypes="AA">
                                      <p:cBhvr>
                                        <p:cTn id="79" dur="2000" fill="hold"/>
                                        <p:tgtEl>
                                          <p:spTgt spid="134"/>
                                        </p:tgtEl>
                                        <p:attrNameLst>
                                          <p:attrName>ppt_x</p:attrName>
                                          <p:attrName>ppt_y</p:attrName>
                                        </p:attrNameLst>
                                      </p:cBhvr>
                                      <p:rCtr x="14462" y="-46"/>
                                    </p:animMotion>
                                  </p:childTnLst>
                                  <p:subTnLst>
                                    <p:set>
                                      <p:cBhvr override="childStyle">
                                        <p:cTn dur="1" fill="hold" display="0" masterRel="sameClick" afterEffect="1">
                                          <p:stCondLst>
                                            <p:cond evt="end" delay="0">
                                              <p:tn val="78"/>
                                            </p:cond>
                                          </p:stCondLst>
                                        </p:cTn>
                                        <p:tgtEl>
                                          <p:spTgt spid="134"/>
                                        </p:tgtEl>
                                        <p:attrNameLst>
                                          <p:attrName>style.visibility</p:attrName>
                                        </p:attrNameLst>
                                      </p:cBhvr>
                                      <p:to>
                                        <p:strVal val="hidden"/>
                                      </p:to>
                                    </p:set>
                                  </p:subTnLst>
                                </p:cTn>
                              </p:par>
                            </p:childTnLst>
                          </p:cTn>
                        </p:par>
                        <p:par>
                          <p:cTn id="80" fill="hold">
                            <p:stCondLst>
                              <p:cond delay="4000"/>
                            </p:stCondLst>
                            <p:childTnLst>
                              <p:par>
                                <p:cTn id="81" presetID="1" presetClass="entr" presetSubtype="0" fill="hold" grpId="2" nodeType="afterEffect">
                                  <p:stCondLst>
                                    <p:cond delay="0"/>
                                  </p:stCondLst>
                                  <p:childTnLst>
                                    <p:set>
                                      <p:cBhvr>
                                        <p:cTn id="82" dur="1" fill="hold">
                                          <p:stCondLst>
                                            <p:cond delay="0"/>
                                          </p:stCondLst>
                                        </p:cTn>
                                        <p:tgtEl>
                                          <p:spTgt spid="135"/>
                                        </p:tgtEl>
                                        <p:attrNameLst>
                                          <p:attrName>style.visibility</p:attrName>
                                        </p:attrNameLst>
                                      </p:cBhvr>
                                      <p:to>
                                        <p:strVal val="visible"/>
                                      </p:to>
                                    </p:set>
                                  </p:childTnLst>
                                </p:cTn>
                              </p:par>
                            </p:childTnLst>
                          </p:cTn>
                        </p:par>
                        <p:par>
                          <p:cTn id="83" fill="hold">
                            <p:stCondLst>
                              <p:cond delay="4000"/>
                            </p:stCondLst>
                            <p:childTnLst>
                              <p:par>
                                <p:cTn id="84" presetID="42" presetClass="path" presetSubtype="0" accel="50000" decel="50000" fill="hold" grpId="1" nodeType="afterEffect">
                                  <p:stCondLst>
                                    <p:cond delay="0"/>
                                  </p:stCondLst>
                                  <p:childTnLst>
                                    <p:animMotion origin="layout" path="M 0.01077 -0.00162 L -0.35972 0.27662 " pathEditMode="relative" rAng="0" ptsTypes="AA">
                                      <p:cBhvr>
                                        <p:cTn id="85" dur="2000" fill="hold"/>
                                        <p:tgtEl>
                                          <p:spTgt spid="135"/>
                                        </p:tgtEl>
                                        <p:attrNameLst>
                                          <p:attrName>ppt_x</p:attrName>
                                          <p:attrName>ppt_y</p:attrName>
                                        </p:attrNameLst>
                                      </p:cBhvr>
                                      <p:rCtr x="-18524" y="13912"/>
                                    </p:animMotion>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54"/>
                                        </p:tgtEl>
                                        <p:attrNameLst>
                                          <p:attrName>style.visibility</p:attrName>
                                        </p:attrNameLst>
                                      </p:cBhvr>
                                      <p:to>
                                        <p:strVal val="visible"/>
                                      </p:to>
                                    </p:set>
                                    <p:animEffect transition="in" filter="fade">
                                      <p:cBhvr>
                                        <p:cTn id="90" dur="500"/>
                                        <p:tgtEl>
                                          <p:spTgt spid="54"/>
                                        </p:tgtEl>
                                      </p:cBhvr>
                                    </p:animEffect>
                                  </p:childTnLst>
                                </p:cTn>
                              </p:par>
                              <p:par>
                                <p:cTn id="91" presetID="1" presetClass="exit" presetSubtype="0" fill="hold" grpId="0" nodeType="withEffect">
                                  <p:stCondLst>
                                    <p:cond delay="0"/>
                                  </p:stCondLst>
                                  <p:childTnLst>
                                    <p:set>
                                      <p:cBhvr>
                                        <p:cTn id="92" dur="1" fill="hold">
                                          <p:stCondLst>
                                            <p:cond delay="0"/>
                                          </p:stCondLst>
                                        </p:cTn>
                                        <p:tgtEl>
                                          <p:spTgt spid="81"/>
                                        </p:tgtEl>
                                        <p:attrNameLst>
                                          <p:attrName>style.visibility</p:attrName>
                                        </p:attrNameLst>
                                      </p:cBhvr>
                                      <p:to>
                                        <p:strVal val="hidden"/>
                                      </p:to>
                                    </p:set>
                                  </p:childTnLst>
                                </p:cTn>
                              </p:par>
                              <p:par>
                                <p:cTn id="93" presetID="1" presetClass="exit" presetSubtype="0" fill="hold" grpId="1" nodeType="withEffect">
                                  <p:stCondLst>
                                    <p:cond delay="0"/>
                                  </p:stCondLst>
                                  <p:childTnLst>
                                    <p:set>
                                      <p:cBhvr>
                                        <p:cTn id="94" dur="1" fill="hold">
                                          <p:stCondLst>
                                            <p:cond delay="0"/>
                                          </p:stCondLst>
                                        </p:cTn>
                                        <p:tgtEl>
                                          <p:spTgt spid="80"/>
                                        </p:tgtEl>
                                        <p:attrNameLst>
                                          <p:attrName>style.visibility</p:attrName>
                                        </p:attrNameLst>
                                      </p:cBhvr>
                                      <p:to>
                                        <p:strVal val="hidden"/>
                                      </p:to>
                                    </p:set>
                                  </p:childTnLst>
                                </p:cTn>
                              </p:par>
                              <p:par>
                                <p:cTn id="95" presetID="1" presetClass="entr" presetSubtype="0" fill="hold" grpId="0" nodeType="withEffect">
                                  <p:stCondLst>
                                    <p:cond delay="0"/>
                                  </p:stCondLst>
                                  <p:childTnLst>
                                    <p:set>
                                      <p:cBhvr>
                                        <p:cTn id="96" dur="1" fill="hold">
                                          <p:stCondLst>
                                            <p:cond delay="0"/>
                                          </p:stCondLst>
                                        </p:cTn>
                                        <p:tgtEl>
                                          <p:spTgt spid="135"/>
                                        </p:tgtEl>
                                        <p:attrNameLst>
                                          <p:attrName>style.visibility</p:attrName>
                                        </p:attrNameLst>
                                      </p:cBhvr>
                                      <p:to>
                                        <p:strVal val="visible"/>
                                      </p:to>
                                    </p:set>
                                  </p:childTnLst>
                                </p:cTn>
                              </p:par>
                            </p:childTnLst>
                          </p:cTn>
                        </p:par>
                        <p:par>
                          <p:cTn id="97" fill="hold">
                            <p:stCondLst>
                              <p:cond delay="500"/>
                            </p:stCondLst>
                            <p:childTnLst>
                              <p:par>
                                <p:cTn id="98" presetID="1" presetClass="exit" presetSubtype="0" fill="hold" grpId="1" nodeType="afterEffect">
                                  <p:stCondLst>
                                    <p:cond delay="0"/>
                                  </p:stCondLst>
                                  <p:childTnLst>
                                    <p:set>
                                      <p:cBhvr>
                                        <p:cTn id="99" dur="1" fill="hold">
                                          <p:stCondLst>
                                            <p:cond delay="0"/>
                                          </p:stCondLst>
                                        </p:cTn>
                                        <p:tgtEl>
                                          <p:spTgt spid="126"/>
                                        </p:tgtEl>
                                        <p:attrNameLst>
                                          <p:attrName>style.visibility</p:attrName>
                                        </p:attrNameLst>
                                      </p:cBhvr>
                                      <p:to>
                                        <p:strVal val="hidden"/>
                                      </p:to>
                                    </p:set>
                                  </p:childTnLst>
                                </p:cTn>
                              </p:par>
                              <p:par>
                                <p:cTn id="100" presetID="1" presetClass="exit" presetSubtype="0" fill="hold" grpId="2" nodeType="withEffect">
                                  <p:stCondLst>
                                    <p:cond delay="0"/>
                                  </p:stCondLst>
                                  <p:childTnLst>
                                    <p:set>
                                      <p:cBhvr>
                                        <p:cTn id="101" dur="1" fill="hold">
                                          <p:stCondLst>
                                            <p:cond delay="0"/>
                                          </p:stCondLst>
                                        </p:cTn>
                                        <p:tgtEl>
                                          <p:spTgt spid="80"/>
                                        </p:tgtEl>
                                        <p:attrNameLst>
                                          <p:attrName>style.visibility</p:attrName>
                                        </p:attrNameLst>
                                      </p:cBhvr>
                                      <p:to>
                                        <p:strVal val="hidden"/>
                                      </p:to>
                                    </p:set>
                                  </p:childTnLst>
                                </p:cTn>
                              </p:par>
                              <p:par>
                                <p:cTn id="102" presetID="1" presetClass="exit" presetSubtype="0" fill="hold" grpId="1" nodeType="withEffect">
                                  <p:stCondLst>
                                    <p:cond delay="0"/>
                                  </p:stCondLst>
                                  <p:childTnLst>
                                    <p:set>
                                      <p:cBhvr>
                                        <p:cTn id="103" dur="1" fill="hold">
                                          <p:stCondLst>
                                            <p:cond delay="0"/>
                                          </p:stCondLst>
                                        </p:cTn>
                                        <p:tgtEl>
                                          <p:spTgt spid="133"/>
                                        </p:tgtEl>
                                        <p:attrNameLst>
                                          <p:attrName>style.visibility</p:attrName>
                                        </p:attrNameLst>
                                      </p:cBhvr>
                                      <p:to>
                                        <p:strVal val="hidden"/>
                                      </p:to>
                                    </p:set>
                                  </p:childTnLst>
                                </p:cTn>
                              </p:par>
                              <p:par>
                                <p:cTn id="104" presetID="1" presetClass="exit" presetSubtype="0" fill="hold" grpId="1" nodeType="withEffect">
                                  <p:stCondLst>
                                    <p:cond delay="0"/>
                                  </p:stCondLst>
                                  <p:childTnLst>
                                    <p:set>
                                      <p:cBhvr>
                                        <p:cTn id="105" dur="1" fill="hold">
                                          <p:stCondLst>
                                            <p:cond delay="0"/>
                                          </p:stCondLst>
                                        </p:cTn>
                                        <p:tgtEl>
                                          <p:spTgt spid="132"/>
                                        </p:tgtEl>
                                        <p:attrNameLst>
                                          <p:attrName>style.visibility</p:attrName>
                                        </p:attrNameLst>
                                      </p:cBhvr>
                                      <p:to>
                                        <p:strVal val="hidden"/>
                                      </p:to>
                                    </p:set>
                                  </p:childTnLst>
                                </p:cTn>
                              </p:par>
                            </p:childTnLst>
                          </p:cTn>
                        </p:par>
                      </p:childTnLst>
                    </p:cTn>
                  </p:par>
                  <p:par>
                    <p:cTn id="106" fill="hold">
                      <p:stCondLst>
                        <p:cond delay="indefinite"/>
                      </p:stCondLst>
                      <p:childTnLst>
                        <p:par>
                          <p:cTn id="107" fill="hold">
                            <p:stCondLst>
                              <p:cond delay="0"/>
                            </p:stCondLst>
                            <p:childTnLst>
                              <p:par>
                                <p:cTn id="108" presetID="10" presetClass="entr" presetSubtype="0" fill="hold" grpId="0" nodeType="clickEffect">
                                  <p:stCondLst>
                                    <p:cond delay="0"/>
                                  </p:stCondLst>
                                  <p:childTnLst>
                                    <p:set>
                                      <p:cBhvr>
                                        <p:cTn id="109" dur="1" fill="hold">
                                          <p:stCondLst>
                                            <p:cond delay="0"/>
                                          </p:stCondLst>
                                        </p:cTn>
                                        <p:tgtEl>
                                          <p:spTgt spid="84"/>
                                        </p:tgtEl>
                                        <p:attrNameLst>
                                          <p:attrName>style.visibility</p:attrName>
                                        </p:attrNameLst>
                                      </p:cBhvr>
                                      <p:to>
                                        <p:strVal val="visible"/>
                                      </p:to>
                                    </p:set>
                                    <p:animEffect transition="in" filter="fade">
                                      <p:cBhvr>
                                        <p:cTn id="110" dur="500"/>
                                        <p:tgtEl>
                                          <p:spTgt spid="84"/>
                                        </p:tgtEl>
                                      </p:cBhvr>
                                    </p:animEffect>
                                  </p:childTnLst>
                                </p:cTn>
                              </p:par>
                              <p:par>
                                <p:cTn id="111" presetID="1" presetClass="entr" presetSubtype="0" fill="hold" grpId="0" nodeType="withEffect">
                                  <p:stCondLst>
                                    <p:cond delay="0"/>
                                  </p:stCondLst>
                                  <p:childTnLst>
                                    <p:set>
                                      <p:cBhvr>
                                        <p:cTn id="112" dur="1" fill="hold">
                                          <p:stCondLst>
                                            <p:cond delay="0"/>
                                          </p:stCondLst>
                                        </p:cTn>
                                        <p:tgtEl>
                                          <p:spTgt spid="92"/>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13"/>
                                        </p:tgtEl>
                                        <p:attrNameLst>
                                          <p:attrName>style.visibility</p:attrName>
                                        </p:attrNameLst>
                                      </p:cBhvr>
                                      <p:to>
                                        <p:strVal val="visible"/>
                                      </p:to>
                                    </p:set>
                                  </p:childTnLst>
                                </p:cTn>
                              </p:par>
                              <p:par>
                                <p:cTn id="115" presetID="1" presetClass="exit" presetSubtype="0" fill="hold" grpId="0" nodeType="withEffect">
                                  <p:stCondLst>
                                    <p:cond delay="0"/>
                                  </p:stCondLst>
                                  <p:childTnLst>
                                    <p:set>
                                      <p:cBhvr>
                                        <p:cTn id="116" dur="1" fill="hold">
                                          <p:stCondLst>
                                            <p:cond delay="0"/>
                                          </p:stCondLst>
                                        </p:cTn>
                                        <p:tgtEl>
                                          <p:spTgt spid="90"/>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92" grpId="0" animBg="1"/>
      <p:bldP spid="90" grpId="0" animBg="1"/>
      <p:bldP spid="10" grpId="0" animBg="1"/>
      <p:bldP spid="53" grpId="0"/>
      <p:bldP spid="54" grpId="0"/>
      <p:bldP spid="35" grpId="0"/>
      <p:bldP spid="36" grpId="0"/>
      <p:bldP spid="80" grpId="0" animBg="1"/>
      <p:bldP spid="80" grpId="1" animBg="1"/>
      <p:bldP spid="80" grpId="2" animBg="1"/>
      <p:bldP spid="81" grpId="0" animBg="1"/>
      <p:bldP spid="83" grpId="0" animBg="1"/>
      <p:bldP spid="83" grpId="1" animBg="1"/>
      <p:bldP spid="87" grpId="0"/>
      <p:bldP spid="126" grpId="0" animBg="1"/>
      <p:bldP spid="126" grpId="1" animBg="1"/>
      <p:bldP spid="123" grpId="0" animBg="1"/>
      <p:bldP spid="123" grpId="1" animBg="1"/>
      <p:bldP spid="132" grpId="0" animBg="1"/>
      <p:bldP spid="132" grpId="1" animBg="1"/>
      <p:bldP spid="133" grpId="0" animBg="1"/>
      <p:bldP spid="133" grpId="1" animBg="1"/>
      <p:bldP spid="3" grpId="0" animBg="1"/>
      <p:bldP spid="135" grpId="0" animBg="1"/>
      <p:bldP spid="135" grpId="1" animBg="1"/>
      <p:bldP spid="135" grpId="2" animBg="1"/>
      <p:bldP spid="8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7276" y="345063"/>
            <a:ext cx="7227676" cy="1277667"/>
          </a:xfrm>
        </p:spPr>
        <p:txBody>
          <a:bodyPr/>
          <a:lstStyle/>
          <a:p>
            <a:r>
              <a:rPr lang="en-US" dirty="0" smtClean="0"/>
              <a:t>Process Explained</a:t>
            </a:r>
            <a:endParaRPr lang="en-US" dirty="0"/>
          </a:p>
        </p:txBody>
      </p:sp>
      <p:sp>
        <p:nvSpPr>
          <p:cNvPr id="5" name="Content Placeholder 4"/>
          <p:cNvSpPr>
            <a:spLocks noGrp="1"/>
          </p:cNvSpPr>
          <p:nvPr>
            <p:ph idx="4294967295"/>
          </p:nvPr>
        </p:nvSpPr>
        <p:spPr>
          <a:xfrm>
            <a:off x="2516825" y="1787489"/>
            <a:ext cx="7555814" cy="4535257"/>
          </a:xfrm>
        </p:spPr>
        <p:txBody>
          <a:bodyPr/>
          <a:lstStyle/>
          <a:p>
            <a:r>
              <a:rPr lang="en-US" dirty="0" smtClean="0"/>
              <a:t>Source Changes are written to flat files for processing</a:t>
            </a:r>
          </a:p>
          <a:p>
            <a:r>
              <a:rPr lang="en-US" dirty="0" smtClean="0"/>
              <a:t>Files in DFS are picked up periodically by ET process</a:t>
            </a:r>
          </a:p>
          <a:p>
            <a:r>
              <a:rPr lang="en-US" dirty="0" smtClean="0"/>
              <a:t>If a File has never been loaded then it is processed</a:t>
            </a:r>
          </a:p>
          <a:p>
            <a:r>
              <a:rPr lang="en-US" dirty="0" smtClean="0"/>
              <a:t>Loading completes on local PDW </a:t>
            </a:r>
          </a:p>
          <a:p>
            <a:r>
              <a:rPr lang="en-US" dirty="0" smtClean="0"/>
              <a:t>Load is logged in a central Configuration DB</a:t>
            </a:r>
          </a:p>
          <a:p>
            <a:r>
              <a:rPr lang="en-US" dirty="0" smtClean="0"/>
              <a:t>Both PDW’s process the Files and records there process in the Configuration DB </a:t>
            </a:r>
          </a:p>
          <a:p>
            <a:r>
              <a:rPr lang="en-US" dirty="0"/>
              <a:t>F</a:t>
            </a:r>
            <a:r>
              <a:rPr lang="en-US" dirty="0" smtClean="0"/>
              <a:t>iles loaded at both PDW’s are removed from the DFS files store</a:t>
            </a:r>
          </a:p>
        </p:txBody>
      </p:sp>
      <p:pic>
        <p:nvPicPr>
          <p:cNvPr id="4" name="Picture 3"/>
          <p:cNvPicPr>
            <a:picLocks noChangeAspect="1"/>
          </p:cNvPicPr>
          <p:nvPr/>
        </p:nvPicPr>
        <p:blipFill>
          <a:blip r:embed="rId2"/>
          <a:stretch>
            <a:fillRect/>
          </a:stretch>
        </p:blipFill>
        <p:spPr>
          <a:xfrm>
            <a:off x="2176956" y="566168"/>
            <a:ext cx="777169" cy="835457"/>
          </a:xfrm>
          <a:prstGeom prst="rect">
            <a:avLst/>
          </a:prstGeom>
        </p:spPr>
      </p:pic>
    </p:spTree>
    <p:extLst>
      <p:ext uri="{BB962C8B-B14F-4D97-AF65-F5344CB8AC3E}">
        <p14:creationId xmlns:p14="http://schemas.microsoft.com/office/powerpoint/2010/main" val="3768826861"/>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endParaRPr lang="en-US"/>
          </a:p>
        </p:txBody>
      </p:sp>
      <p:sp>
        <p:nvSpPr>
          <p:cNvPr id="3" name="Title 2"/>
          <p:cNvSpPr>
            <a:spLocks noGrp="1"/>
          </p:cNvSpPr>
          <p:nvPr>
            <p:ph type="title"/>
          </p:nvPr>
        </p:nvSpPr>
        <p:spPr/>
        <p:txBody>
          <a:bodyPr/>
          <a:lstStyle/>
          <a:p>
            <a:endParaRPr lang="en-US"/>
          </a:p>
        </p:txBody>
      </p:sp>
    </p:spTree>
    <p:extLst>
      <p:ext uri="{BB962C8B-B14F-4D97-AF65-F5344CB8AC3E}">
        <p14:creationId xmlns:p14="http://schemas.microsoft.com/office/powerpoint/2010/main" val="268193661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blackWhite">
          <a:xfrm>
            <a:off x="274746" y="6078302"/>
            <a:ext cx="10971276" cy="624276"/>
          </a:xfrm>
          <a:prstGeom prst="rect">
            <a:avLst/>
          </a:prstGeom>
          <a:noFill/>
          <a:ln w="12700">
            <a:noFill/>
            <a:miter lim="800000"/>
            <a:headEnd type="none" w="sm" len="sm"/>
            <a:tailEnd type="none" w="sm" len="sm"/>
          </a:ln>
          <a:effectLst/>
        </p:spPr>
        <p:txBody>
          <a:bodyPr vert="horz" wrap="square" lIns="182425" tIns="145935" rIns="182425" bIns="145935" numCol="1" anchor="t" anchorCtr="0" compatLnSpc="1">
            <a:prstTxWarp prst="textNoShape">
              <a:avLst/>
            </a:prstTxWarp>
            <a:spAutoFit/>
          </a:bodyPr>
          <a:lstStyle/>
          <a:p>
            <a:pPr defTabSz="929991" eaLnBrk="0" hangingPunct="0"/>
            <a:r>
              <a:rPr lang="en-US" sz="700" dirty="0">
                <a:gradFill>
                  <a:gsLst>
                    <a:gs pos="0">
                      <a:srgbClr val="FFFFFF"/>
                    </a:gs>
                    <a:gs pos="100000">
                      <a:srgbClr val="FFFFFF"/>
                    </a:gs>
                  </a:gsLst>
                  <a:lin ang="5400000" scaled="0"/>
                </a:gradFill>
                <a:cs typeface="Segoe UI" pitchFamily="34" charset="0"/>
              </a:rPr>
              <a:t>© 2014 Microsoft Corporation. All rights reserved. Microsoft, Windows, Windows Vista and other product names are or may be registered trademarks and/or trademarks in the U.S. and/or other countries.</a:t>
            </a:r>
          </a:p>
          <a:p>
            <a:pPr defTabSz="929991" eaLnBrk="0" hangingPunct="0"/>
            <a:r>
              <a:rPr lang="en-US" sz="700" dirty="0">
                <a:gradFill>
                  <a:gsLst>
                    <a:gs pos="0">
                      <a:srgbClr val="FFFFFF"/>
                    </a:gs>
                    <a:gs pos="100000">
                      <a:srgbClr val="FFFFFF"/>
                    </a:gs>
                  </a:gsLst>
                  <a:lin ang="5400000" scaled="0"/>
                </a:gradFill>
                <a:cs typeface="Segoe UI" pitchFamily="34"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spTree>
    <p:extLst>
      <p:ext uri="{BB962C8B-B14F-4D97-AF65-F5344CB8AC3E}">
        <p14:creationId xmlns:p14="http://schemas.microsoft.com/office/powerpoint/2010/main" val="1437972428"/>
      </p:ext>
    </p:extLst>
  </p:cSld>
  <p:clrMapOvr>
    <a:masterClrMapping/>
  </p:clrMapOvr>
  <mc:AlternateContent xmlns:mc="http://schemas.openxmlformats.org/markup-compatibility/2006" xmlns:p14="http://schemas.microsoft.com/office/powerpoint/2010/main">
    <mc:Choice Requires="p14">
      <p:transition spd="med" p14:dur="700" advClick="0" advTm="2000">
        <p:fade/>
      </p:transition>
    </mc:Choice>
    <mc:Fallback xmlns="">
      <p:transition spd="med" advClick="0" advTm="2000">
        <p:fade/>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T_TILE" val="YES"/>
</p:tagLst>
</file>

<file path=ppt/tags/tag2.xml><?xml version="1.0" encoding="utf-8"?>
<p:tagLst xmlns:a="http://schemas.openxmlformats.org/drawingml/2006/main" xmlns:r="http://schemas.openxmlformats.org/officeDocument/2006/relationships" xmlns:p="http://schemas.openxmlformats.org/presentationml/2006/main">
  <p:tag name="MT_TILE" val="YES"/>
</p:tagLst>
</file>

<file path=ppt/tags/tag3.xml><?xml version="1.0" encoding="utf-8"?>
<p:tagLst xmlns:a="http://schemas.openxmlformats.org/drawingml/2006/main" xmlns:r="http://schemas.openxmlformats.org/officeDocument/2006/relationships" xmlns:p="http://schemas.openxmlformats.org/presentationml/2006/main">
  <p:tag name="MT_TILE" val="YES"/>
</p:tagLst>
</file>

<file path=ppt/tags/tag4.xml><?xml version="1.0" encoding="utf-8"?>
<p:tagLst xmlns:a="http://schemas.openxmlformats.org/drawingml/2006/main" xmlns:r="http://schemas.openxmlformats.org/officeDocument/2006/relationships" xmlns:p="http://schemas.openxmlformats.org/presentationml/2006/main">
  <p:tag name="MT_TILE" val="YES"/>
</p:tagLst>
</file>

<file path=ppt/tags/tag5.xml><?xml version="1.0" encoding="utf-8"?>
<p:tagLst xmlns:a="http://schemas.openxmlformats.org/drawingml/2006/main" xmlns:r="http://schemas.openxmlformats.org/officeDocument/2006/relationships" xmlns:p="http://schemas.openxmlformats.org/presentationml/2006/main">
  <p:tag name="MT_TILE" val="YES"/>
</p:tagLst>
</file>

<file path=ppt/theme/theme1.xml><?xml version="1.0" encoding="utf-8"?>
<a:theme xmlns:a="http://schemas.openxmlformats.org/drawingml/2006/main" name="5-30660_TR21_BO_CT_Template">
  <a:themeElements>
    <a:clrScheme name="TR20 - BO">
      <a:dk1>
        <a:srgbClr val="505050"/>
      </a:dk1>
      <a:lt1>
        <a:srgbClr val="FFFFFF"/>
      </a:lt1>
      <a:dk2>
        <a:srgbClr val="0078D7"/>
      </a:dk2>
      <a:lt2>
        <a:srgbClr val="D2D2D2"/>
      </a:lt2>
      <a:accent1>
        <a:srgbClr val="D83B01"/>
      </a:accent1>
      <a:accent2>
        <a:srgbClr val="0078D7"/>
      </a:accent2>
      <a:accent3>
        <a:srgbClr val="BAD80A"/>
      </a:accent3>
      <a:accent4>
        <a:srgbClr val="FFB900"/>
      </a:accent4>
      <a:accent5>
        <a:srgbClr val="5C2D91"/>
      </a:accent5>
      <a:accent6>
        <a:srgbClr val="002050"/>
      </a:accent6>
      <a:hlink>
        <a:srgbClr val="002050"/>
      </a:hlink>
      <a:folHlink>
        <a:srgbClr val="00205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w="3175">
          <a:noFill/>
          <a:headEnd type="none" w="med" len="med"/>
          <a:tailEnd type="none" w="med" len="med"/>
        </a:ln>
      </a:spPr>
      <a:bodyPr vert="horz" wrap="square" lIns="0" tIns="46637" rIns="0" bIns="46637" numCol="1" rtlCol="0" anchor="ctr" anchorCtr="0" compatLnSpc="1">
        <a:prstTxWarp prst="textNoShape">
          <a:avLst/>
        </a:prstTxWarp>
      </a:bodyPr>
      <a:lstStyle>
        <a:defPPr algn="ctr" defTabSz="932472" fontAlgn="base">
          <a:spcBef>
            <a:spcPct val="0"/>
          </a:spcBef>
          <a:spcAft>
            <a:spcPct val="0"/>
          </a:spcAft>
          <a:defRPr sz="2000" dirty="0">
            <a:gradFill>
              <a:gsLst>
                <a:gs pos="0">
                  <a:srgbClr val="FFFFFF"/>
                </a:gs>
                <a:gs pos="100000">
                  <a:srgbClr val="FFFFFF"/>
                </a:gs>
              </a:gsLst>
              <a:lin ang="5400000" scaled="0"/>
            </a:gradFill>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TR21_BO_CT_Template [Read-Only]" id="{1D743414-A9BB-4CF3-B4F4-1B6740003A98}" vid="{B252F9E1-43BE-47F1-A402-A950D2CDF1D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230e9df3-be65-4c73-a93b-d1236ebd677e">
      <Value>68</Value>
      <Value>36</Value>
      <Value>218</Value>
      <Value>5</Value>
    </TaxCatchAll>
    <AverageRating xmlns="http://schemas.microsoft.com/sharepoint/v3" xsi:nil="true"/>
    <LikesCount xmlns="http://schemas.microsoft.com/sharepoint/v3" xsi:nil="true"/>
    <TaxKeywordTaxHTField xmlns="230e9df3-be65-4c73-a93b-d1236ebd677e">
      <Terms xmlns="http://schemas.microsoft.com/office/infopath/2007/PartnerControls">
        <TermInfo xmlns="http://schemas.microsoft.com/office/infopath/2007/PartnerControls">
          <TermName xmlns="http://schemas.microsoft.com/office/infopath/2007/PartnerControls">TechReady 21</TermName>
          <TermId xmlns="http://schemas.microsoft.com/office/infopath/2007/PartnerControls">87716563-a9dc-47f2-881c-c288d4cbc934</TermId>
        </TermInfo>
      </Terms>
    </TaxKeywordTaxHTField>
    <Event_x0020_End_x0020_Date xmlns="12a172fe-0250-434a-85cf-03b10810c5e5">2015-07-31T07:00:00+00:00</Event_x0020_End_x0020_Date>
    <Event_x0020_Start_x0020_Date xmlns="12a172fe-0250-434a-85cf-03b10810c5e5">2015-07-27T07:00:00+00:00</Event_x0020_Start_x0020_Date>
    <MS_x0020_Speaker xmlns="12a172fe-0250-434a-85cf-03b10810c5e5">
      <UserInfo>
        <DisplayName/>
        <AccountId xsi:nil="true"/>
        <AccountType/>
      </UserInfo>
    </MS_x0020_Speaker>
    <External_x0020_Speaker xmlns="12a172fe-0250-434a-85cf-03b10810c5e5" xsi:nil="true"/>
    <Session_x0020_Code xmlns="12a172fe-0250-434a-85cf-03b10810c5e5" xsi:nil="true"/>
    <Presentation_x0020_Date xmlns="12a172fe-0250-434a-85cf-03b10810c5e5" xsi:nil="true"/>
    <MS_x0020_Content_x0020_Owner xmlns="12a172fe-0250-434a-85cf-03b10810c5e5">
      <UserInfo>
        <DisplayName/>
        <AccountId xsi:nil="true"/>
        <AccountType/>
      </UserInfo>
    </MS_x0020_Content_x0020_Owner>
    <h9a868b2ee15488883f623ae5237ecae xmlns="12a172fe-0250-434a-85cf-03b10810c5e5">
      <Terms xmlns="http://schemas.microsoft.com/office/infopath/2007/PartnerControls">
        <TermInfo xmlns="http://schemas.microsoft.com/office/infopath/2007/PartnerControls">
          <TermName xmlns="http://schemas.microsoft.com/office/infopath/2007/PartnerControls">Washington State Convention and Trade Center</TermName>
          <TermId xmlns="http://schemas.microsoft.com/office/infopath/2007/PartnerControls">2ebf141d-f871-4cc9-bf08-f87f112ab464</TermId>
        </TermInfo>
      </Terms>
    </h9a868b2ee15488883f623ae5237ecae>
    <k62f7d35b80b40fb8c27985e50b34fcd xmlns="12a172fe-0250-434a-85cf-03b10810c5e5">
      <Terms xmlns="http://schemas.microsoft.com/office/infopath/2007/PartnerControls">
        <TermInfo xmlns="http://schemas.microsoft.com/office/infopath/2007/PartnerControls">
          <TermName xmlns="http://schemas.microsoft.com/office/infopath/2007/PartnerControls">TechReady</TermName>
          <TermId xmlns="http://schemas.microsoft.com/office/infopath/2007/PartnerControls">ebdf1b7d-d34f-4ccf-ac45-ca5a756d5c65</TermId>
        </TermInfo>
      </Terms>
    </k62f7d35b80b40fb8c27985e50b34fcd>
    <pfbfa50075a04958bd8757dc155d3e08 xmlns="12a172fe-0250-434a-85cf-03b10810c5e5">
      <Terms xmlns="http://schemas.microsoft.com/office/infopath/2007/PartnerControls">
        <TermInfo xmlns="http://schemas.microsoft.com/office/infopath/2007/PartnerControls">
          <TermName xmlns="http://schemas.microsoft.com/office/infopath/2007/PartnerControls">Seattle</TermName>
          <TermId xmlns="http://schemas.microsoft.com/office/infopath/2007/PartnerControls">54f46ed2-c77e-4a59-b182-a4171fdb0d11</TermId>
        </TermInfo>
      </Terms>
    </pfbfa50075a04958bd8757dc155d3e08>
    <o72fbe6ee5ae4131af0832c08ec51202 xmlns="12a172fe-0250-434a-85cf-03b10810c5e5">
      <Terms xmlns="http://schemas.microsoft.com/office/infopath/2007/PartnerControls"/>
    </o72fbe6ee5ae4131af0832c08ec51202>
    <le8386062bd54e24a95c83b32ccbdb34 xmlns="12a172fe-0250-434a-85cf-03b10810c5e5">
      <Terms xmlns="http://schemas.microsoft.com/office/infopath/2007/PartnerControls"/>
    </le8386062bd54e24a95c83b32ccbdb34>
    <j4d4d959795b4220a289a041ed046605 xmlns="12a172fe-0250-434a-85cf-03b10810c5e5">
      <Terms xmlns="http://schemas.microsoft.com/office/infopath/2007/PartnerControls"/>
    </j4d4d959795b4220a289a041ed046605>
    <eb9cf3a3af7b473faa5c9c98148a90a4 xmlns="12a172fe-0250-434a-85cf-03b10810c5e5">
      <Terms xmlns="http://schemas.microsoft.com/office/infopath/2007/PartnerControls"/>
    </eb9cf3a3af7b473faa5c9c98148a90a4>
    <SharedWithUsers xmlns="12a172fe-0250-434a-85cf-03b10810c5e5">
      <UserInfo>
        <DisplayName/>
        <AccountId xsi:nil="true"/>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PresentationsDoc" ma:contentTypeID="0x01010046EBBE4F454C2C47A5E89CD935B1FC7800E83BCD34BAE21044A0567CF64FDFDE54" ma:contentTypeVersion="6" ma:contentTypeDescription="Create a new document." ma:contentTypeScope="" ma:versionID="13a9ad8d9b831f46364fba25f7e2a2b3">
  <xsd:schema xmlns:xsd="http://www.w3.org/2001/XMLSchema" xmlns:xs="http://www.w3.org/2001/XMLSchema" xmlns:p="http://schemas.microsoft.com/office/2006/metadata/properties" xmlns:ns1="http://schemas.microsoft.com/sharepoint/v3" xmlns:ns2="12a172fe-0250-434a-85cf-03b10810c5e5" xmlns:ns3="230e9df3-be65-4c73-a93b-d1236ebd677e" targetNamespace="http://schemas.microsoft.com/office/2006/metadata/properties" ma:root="true" ma:fieldsID="589c5091e40993a1b863f93a0f14de9a" ns1:_="" ns2:_="" ns3:_="">
    <xsd:import namespace="http://schemas.microsoft.com/sharepoint/v3"/>
    <xsd:import namespace="12a172fe-0250-434a-85cf-03b10810c5e5"/>
    <xsd:import namespace="230e9df3-be65-4c73-a93b-d1236ebd677e"/>
    <xsd:element name="properties">
      <xsd:complexType>
        <xsd:sequence>
          <xsd:element name="documentManagement">
            <xsd:complexType>
              <xsd:all>
                <xsd:element ref="ns2:k62f7d35b80b40fb8c27985e50b34fcd" minOccurs="0"/>
                <xsd:element ref="ns3:TaxCatchAll" minOccurs="0"/>
                <xsd:element ref="ns3:TaxCatchAllLabel" minOccurs="0"/>
                <xsd:element ref="ns2:pfbfa50075a04958bd8757dc155d3e08" minOccurs="0"/>
                <xsd:element ref="ns2:h9a868b2ee15488883f623ae5237ecae" minOccurs="0"/>
                <xsd:element ref="ns2:Event_x0020_Start_x0020_Date" minOccurs="0"/>
                <xsd:element ref="ns2:Event_x0020_End_x0020_Date" minOccurs="0"/>
                <xsd:element ref="ns2:Presentation_x0020_Date" minOccurs="0"/>
                <xsd:element ref="ns2:MS_x0020_Speaker" minOccurs="0"/>
                <xsd:element ref="ns2:External_x0020_Speaker" minOccurs="0"/>
                <xsd:element ref="ns2:o72fbe6ee5ae4131af0832c08ec51202" minOccurs="0"/>
                <xsd:element ref="ns2:eb9cf3a3af7b473faa5c9c98148a90a4" minOccurs="0"/>
                <xsd:element ref="ns2:Session_x0020_Code" minOccurs="0"/>
                <xsd:element ref="ns2:MS_x0020_Content_x0020_Owner" minOccurs="0"/>
                <xsd:element ref="ns2:le8386062bd54e24a95c83b32ccbdb34" minOccurs="0"/>
                <xsd:element ref="ns2:j4d4d959795b4220a289a041ed046605" minOccurs="0"/>
                <xsd:element ref="ns3:TaxKeywordTaxHTField" minOccurs="0"/>
                <xsd:element ref="ns1:AverageRating" minOccurs="0"/>
                <xsd:element ref="ns1:RatingCount" minOccurs="0"/>
                <xsd:element ref="ns1:LikesCount" minOccurs="0"/>
                <xsd:element ref="ns2:SharedWithUsers" minOccurs="0"/>
                <xsd:element ref="ns2:SharingHintHash" minOccurs="0"/>
                <xsd:element ref="ns2: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AverageRating" ma:index="33" nillable="true" ma:displayName="Rating (0-5)" ma:decimals="2" ma:description="Average value of all the ratings that have been submitted" ma:internalName="AverageRating" ma:readOnly="true">
      <xsd:simpleType>
        <xsd:restriction base="dms:Number"/>
      </xsd:simpleType>
    </xsd:element>
    <xsd:element name="RatingCount" ma:index="34" nillable="true" ma:displayName="Number of Ratings" ma:decimals="0" ma:description="Number of ratings submitted" ma:internalName="RatingCount" ma:readOnly="true">
      <xsd:simpleType>
        <xsd:restriction base="dms:Number"/>
      </xsd:simpleType>
    </xsd:element>
    <xsd:element name="LikesCount" ma:index="35" nillable="true" ma:displayName="Number of Likes" ma:internalName="LikesCount">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2a172fe-0250-434a-85cf-03b10810c5e5" elementFormDefault="qualified">
    <xsd:import namespace="http://schemas.microsoft.com/office/2006/documentManagement/types"/>
    <xsd:import namespace="http://schemas.microsoft.com/office/infopath/2007/PartnerControls"/>
    <xsd:element name="k62f7d35b80b40fb8c27985e50b34fcd" ma:index="8" nillable="true" ma:taxonomy="true" ma:internalName="k62f7d35b80b40fb8c27985e50b34fcd" ma:taxonomyFieldName="Event_x0020_Name" ma:displayName="Event Name" ma:default="" ma:fieldId="{462f7d35-b80b-40fb-8c27-985e50b34fcd}" ma:sspId="e385fb40-52d4-4fae-9c5b-3e8ff8a5878e" ma:termSetId="32cfb7b5-aebe-4989-95ed-0d5619f5d6c0" ma:anchorId="eaa4d92a-3824-4a49-92be-7ef169e4e325" ma:open="false" ma:isKeyword="false">
      <xsd:complexType>
        <xsd:sequence>
          <xsd:element ref="pc:Terms" minOccurs="0" maxOccurs="1"/>
        </xsd:sequence>
      </xsd:complexType>
    </xsd:element>
    <xsd:element name="pfbfa50075a04958bd8757dc155d3e08" ma:index="12" nillable="true" ma:taxonomy="true" ma:internalName="pfbfa50075a04958bd8757dc155d3e08" ma:taxonomyFieldName="Event_x0020_Location" ma:displayName="Event Location" ma:default="" ma:fieldId="{9fbfa500-75a0-4958-bd87-57dc155d3e08}" ma:sspId="e385fb40-52d4-4fae-9c5b-3e8ff8a5878e" ma:termSetId="ff02addd-433e-4baa-a831-22be402789db" ma:anchorId="00000000-0000-0000-0000-000000000000" ma:open="false" ma:isKeyword="false">
      <xsd:complexType>
        <xsd:sequence>
          <xsd:element ref="pc:Terms" minOccurs="0" maxOccurs="1"/>
        </xsd:sequence>
      </xsd:complexType>
    </xsd:element>
    <xsd:element name="h9a868b2ee15488883f623ae5237ecae" ma:index="14" nillable="true" ma:taxonomy="true" ma:internalName="h9a868b2ee15488883f623ae5237ecae" ma:taxonomyFieldName="Event_x0020_Venue" ma:displayName="Event Venue" ma:default="" ma:fieldId="{19a868b2-ee15-4888-83f6-23ae5237ecae}" ma:sspId="e385fb40-52d4-4fae-9c5b-3e8ff8a5878e" ma:termSetId="ff02addd-433e-4baa-a831-22be402789db" ma:anchorId="d989be80-0593-11e1-be50-0800200c9a66" ma:open="false" ma:isKeyword="false">
      <xsd:complexType>
        <xsd:sequence>
          <xsd:element ref="pc:Terms" minOccurs="0" maxOccurs="1"/>
        </xsd:sequence>
      </xsd:complexType>
    </xsd:element>
    <xsd:element name="Event_x0020_Start_x0020_Date" ma:index="16" nillable="true" ma:displayName="Event Start Date" ma:format="DateOnly" ma:internalName="Event_x0020_Start_x0020_Date">
      <xsd:simpleType>
        <xsd:restriction base="dms:DateTime"/>
      </xsd:simpleType>
    </xsd:element>
    <xsd:element name="Event_x0020_End_x0020_Date" ma:index="17" nillable="true" ma:displayName="Event End Date" ma:format="DateOnly" ma:internalName="Event_x0020_End_x0020_Date">
      <xsd:simpleType>
        <xsd:restriction base="dms:DateTime"/>
      </xsd:simpleType>
    </xsd:element>
    <xsd:element name="Presentation_x0020_Date" ma:index="18" nillable="true" ma:displayName="Presentation Date" ma:format="DateOnly" ma:internalName="Presentation_x0020_Date">
      <xsd:simpleType>
        <xsd:restriction base="dms:DateTime"/>
      </xsd:simpleType>
    </xsd:element>
    <xsd:element name="MS_x0020_Speaker" ma:index="19" nillable="true" ma:displayName="MS Speaker" ma:list="UserInfo" ma:SharePointGroup="0" ma:internalName="MS_x0020_Speaker" ma:showField="ImnNam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xternal_x0020_Speaker" ma:index="20" nillable="true" ma:displayName="External Speaker" ma:internalName="External_x0020_Speaker">
      <xsd:simpleType>
        <xsd:restriction base="dms:Text">
          <xsd:maxLength value="255"/>
        </xsd:restriction>
      </xsd:simpleType>
    </xsd:element>
    <xsd:element name="o72fbe6ee5ae4131af0832c08ec51202" ma:index="21" nillable="true" ma:taxonomy="true" ma:internalName="o72fbe6ee5ae4131af0832c08ec51202" ma:taxonomyFieldName="Product" ma:displayName="Product" ma:default="" ma:fieldId="{872fbe6e-e5ae-4131-af08-32c08ec51202}" ma:taxonomyMulti="true" ma:sspId="e385fb40-52d4-4fae-9c5b-3e8ff8a5878e" ma:termSetId="e8298524-23d5-441d-8e61-21bed1c2c470" ma:anchorId="00000000-0000-0000-0000-000000000000" ma:open="false" ma:isKeyword="false">
      <xsd:complexType>
        <xsd:sequence>
          <xsd:element ref="pc:Terms" minOccurs="0" maxOccurs="1"/>
        </xsd:sequence>
      </xsd:complexType>
    </xsd:element>
    <xsd:element name="eb9cf3a3af7b473faa5c9c98148a90a4" ma:index="23" nillable="true" ma:taxonomy="true" ma:internalName="eb9cf3a3af7b473faa5c9c98148a90a4" ma:taxonomyFieldName="Campaign" ma:displayName="Campaign" ma:default="" ma:fieldId="{eb9cf3a3-af7b-473f-aa5c-9c98148a90a4}" ma:sspId="e385fb40-52d4-4fae-9c5b-3e8ff8a5878e" ma:termSetId="eb6054b1-3a98-4c79-97b4-d20150dd266e" ma:anchorId="a7bf803d-fc4f-4bb4-903c-88e76437cc17" ma:open="false" ma:isKeyword="false">
      <xsd:complexType>
        <xsd:sequence>
          <xsd:element ref="pc:Terms" minOccurs="0" maxOccurs="1"/>
        </xsd:sequence>
      </xsd:complexType>
    </xsd:element>
    <xsd:element name="Session_x0020_Code" ma:index="25" nillable="true" ma:displayName="Session Code" ma:internalName="Session_x0020_Code">
      <xsd:simpleType>
        <xsd:restriction base="dms:Text">
          <xsd:maxLength value="255"/>
        </xsd:restriction>
      </xsd:simpleType>
    </xsd:element>
    <xsd:element name="MS_x0020_Content_x0020_Owner" ma:index="26" nillable="true" ma:displayName="MS Content Owner" ma:list="UserInfo" ma:SharePointGroup="0" ma:internalName="MS_x0020_Content_x0020_Owner" ma:showField="ImnNam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le8386062bd54e24a95c83b32ccbdb34" ma:index="27" nillable="true" ma:taxonomy="true" ma:internalName="le8386062bd54e24a95c83b32ccbdb34" ma:taxonomyFieldName="Track" ma:displayName="Track" ma:default="" ma:fieldId="{5e838606-2bd5-4e24-a95c-83b32ccbdb34}" ma:sspId="e385fb40-52d4-4fae-9c5b-3e8ff8a5878e" ma:termSetId="043e2b11-12ce-49cc-a347-2f73f2b7fe4b" ma:anchorId="00000000-0000-0000-0000-000000000000" ma:open="false" ma:isKeyword="false">
      <xsd:complexType>
        <xsd:sequence>
          <xsd:element ref="pc:Terms" minOccurs="0" maxOccurs="1"/>
        </xsd:sequence>
      </xsd:complexType>
    </xsd:element>
    <xsd:element name="j4d4d959795b4220a289a041ed046605" ma:index="29" nillable="true" ma:taxonomy="true" ma:internalName="j4d4d959795b4220a289a041ed046605" ma:taxonomyFieldName="Audience1" ma:displayName="Audience" ma:default="" ma:fieldId="{34d4d959-795b-4220-a289-a041ed046605}" ma:sspId="e385fb40-52d4-4fae-9c5b-3e8ff8a5878e" ma:termSetId="02c0b350-7782-44ed-b079-a5ef0c1b9fe9" ma:anchorId="00000000-0000-0000-0000-000000000000" ma:open="false" ma:isKeyword="false">
      <xsd:complexType>
        <xsd:sequence>
          <xsd:element ref="pc:Terms" minOccurs="0" maxOccurs="1"/>
        </xsd:sequence>
      </xsd:complexType>
    </xsd:element>
    <xsd:element name="SharedWithUsers" ma:index="3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ingHintHash" ma:index="38" nillable="true" ma:displayName="Sharing Hint Hash" ma:internalName="SharingHintHash" ma:readOnly="true">
      <xsd:simpleType>
        <xsd:restriction base="dms:Text"/>
      </xsd:simpleType>
    </xsd:element>
    <xsd:element name="SharedWithDetails" ma:index="3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9" nillable="true" ma:displayName="Taxonomy Catch All Column" ma:hidden="true" ma:list="{5b797c71-5459-41dc-9095-63a63c56aa91}" ma:internalName="TaxCatchAll" ma:showField="CatchAllData" ma:web="12a172fe-0250-434a-85cf-03b10810c5e5">
      <xsd:complexType>
        <xsd:complexContent>
          <xsd:extension base="dms:MultiChoiceLookup">
            <xsd:sequence>
              <xsd:element name="Value" type="dms:Lookup" maxOccurs="unbounded" minOccurs="0" nillable="true"/>
            </xsd:sequence>
          </xsd:extension>
        </xsd:complexContent>
      </xsd:complexType>
    </xsd:element>
    <xsd:element name="TaxCatchAllLabel" ma:index="10" nillable="true" ma:displayName="Taxonomy Catch All Column1" ma:hidden="true" ma:list="{5b797c71-5459-41dc-9095-63a63c56aa91}" ma:internalName="TaxCatchAllLabel" ma:readOnly="true" ma:showField="CatchAllDataLabel" ma:web="12a172fe-0250-434a-85cf-03b10810c5e5">
      <xsd:complexType>
        <xsd:complexContent>
          <xsd:extension base="dms:MultiChoiceLookup">
            <xsd:sequence>
              <xsd:element name="Value" type="dms:Lookup" maxOccurs="unbounded" minOccurs="0" nillable="true"/>
            </xsd:sequence>
          </xsd:extension>
        </xsd:complexContent>
      </xsd:complexType>
    </xsd:element>
    <xsd:element name="TaxKeywordTaxHTField" ma:index="31" nillable="true" ma:taxonomy="true" ma:internalName="TaxKeywordTaxHTField" ma:taxonomyFieldName="TaxKeyword" ma:displayName="Enterprise Keywords" ma:fieldId="{23f27201-bee3-471e-b2e7-b64fd8b7ca38}" ma:taxonomyMulti="true" ma:sspId="e385fb40-52d4-4fae-9c5b-3e8ff8a5878e" ma:termSetId="00000000-0000-0000-0000-000000000000" ma:anchorId="00000000-0000-0000-0000-000000000000" ma:open="true" ma:isKeyword="tru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ma:index="36"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990F116-B58F-4255-B05B-DA3808E0E5C6}">
  <ds:schemaRefs>
    <ds:schemaRef ds:uri="http://schemas.microsoft.com/office/2006/documentManagement/types"/>
    <ds:schemaRef ds:uri="http://www.w3.org/XML/1998/namespace"/>
    <ds:schemaRef ds:uri="http://purl.org/dc/elements/1.1/"/>
    <ds:schemaRef ds:uri="http://schemas.microsoft.com/office/2006/metadata/properties"/>
    <ds:schemaRef ds:uri="http://schemas.microsoft.com/office/infopath/2007/PartnerControls"/>
    <ds:schemaRef ds:uri="230e9df3-be65-4c73-a93b-d1236ebd677e"/>
    <ds:schemaRef ds:uri="http://schemas.openxmlformats.org/package/2006/metadata/core-properties"/>
    <ds:schemaRef ds:uri="http://purl.org/dc/dcmitype/"/>
    <ds:schemaRef ds:uri="12a172fe-0250-434a-85cf-03b10810c5e5"/>
    <ds:schemaRef ds:uri="http://schemas.microsoft.com/sharepoint/v3"/>
    <ds:schemaRef ds:uri="http://purl.org/dc/terms/"/>
  </ds:schemaRefs>
</ds:datastoreItem>
</file>

<file path=customXml/itemProps2.xml><?xml version="1.0" encoding="utf-8"?>
<ds:datastoreItem xmlns:ds="http://schemas.openxmlformats.org/officeDocument/2006/customXml" ds:itemID="{A644D197-2969-4527-AC74-2F8DABA8B7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2a172fe-0250-434a-85cf-03b10810c5e5"/>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58FDAC0-319D-4A54-8D8E-1D42CB1F800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132</TotalTime>
  <Words>1035</Words>
  <Application>Microsoft Office PowerPoint</Application>
  <PresentationFormat>Custom</PresentationFormat>
  <Paragraphs>217</Paragraphs>
  <Slides>11</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Segoe Light</vt:lpstr>
      <vt:lpstr>Segoe UI</vt:lpstr>
      <vt:lpstr>Segoe UI Light</vt:lpstr>
      <vt:lpstr>Wingdings</vt:lpstr>
      <vt:lpstr>5-30660_TR21_BO_CT_Template</vt:lpstr>
      <vt:lpstr>Microsoft MPP Data Warehouse(s)  DR Solution for APS to SQLDW</vt:lpstr>
      <vt:lpstr>Agenda</vt:lpstr>
      <vt:lpstr>Normal Activity</vt:lpstr>
      <vt:lpstr>Normal Activity - Source System Extract</vt:lpstr>
      <vt:lpstr>Normal Activity – PDW Processing</vt:lpstr>
      <vt:lpstr>DR Activity - Source System Extract</vt:lpstr>
      <vt:lpstr>DR Activity – PDW Processing</vt:lpstr>
      <vt:lpstr>DR Activity – PDW Processing fail back</vt:lpstr>
      <vt:lpstr>Process Explained</vt:lpstr>
      <vt:lpstr>PowerPoint Presentation</vt:lpstr>
      <vt:lpstr>PowerPoint Presentation</vt:lpstr>
    </vt:vector>
  </TitlesOfParts>
  <Manager>&lt;Speech writer name goes here&gt;</Manager>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goes here</dc:title>
  <dc:subject>TechReady 21</dc:subject>
  <dc:creator>Maxine Coo (Derflan Inc)</dc:creator>
  <cp:keywords>TechReady 21</cp:keywords>
  <dc:description>Template: Mitchell Derrey, Silver Fox Productions
Formatting: 
Event Date: July 27-31, 2015
Event Location: WSCTC, Seattle, WA
Audience Type: Internal</dc:description>
  <cp:lastModifiedBy>Andy Isley</cp:lastModifiedBy>
  <cp:revision>17</cp:revision>
  <dcterms:created xsi:type="dcterms:W3CDTF">2015-06-14T22:06:45Z</dcterms:created>
  <dcterms:modified xsi:type="dcterms:W3CDTF">2015-10-21T18:54:45Z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0x01010046EBBE4F454C2C47A5E89CD935B1FC7800E83BCD34BAE21044A0567CF64FDFDE54</vt:lpwstr>
  </property>
  <property fmtid="{D5CDD505-2E9C-101B-9397-08002B2CF9AE}" pid="3" name="Product">
    <vt:lpwstr/>
  </property>
  <property fmtid="{D5CDD505-2E9C-101B-9397-08002B2CF9AE}" pid="4" name="Event1">
    <vt:lpwstr>622;#Unassigned|2c8af875-f38a-40b8-a0a9-056aed3fc8c0</vt:lpwstr>
  </property>
  <property fmtid="{D5CDD505-2E9C-101B-9397-08002B2CF9AE}" pid="5" name="Audience">
    <vt:lpwstr/>
  </property>
  <property fmtid="{D5CDD505-2E9C-101B-9397-08002B2CF9AE}" pid="6" name="Event Venue">
    <vt:lpwstr>36;#Washington State Convention and Trade Center|2ebf141d-f871-4cc9-bf08-f87f112ab464</vt:lpwstr>
  </property>
  <property fmtid="{D5CDD505-2E9C-101B-9397-08002B2CF9AE}" pid="7" name="Track">
    <vt:lpwstr/>
  </property>
  <property fmtid="{D5CDD505-2E9C-101B-9397-08002B2CF9AE}" pid="8" name="Event Location">
    <vt:lpwstr>5;#Seattle|54f46ed2-c77e-4a59-b182-a4171fdb0d11</vt:lpwstr>
  </property>
  <property fmtid="{D5CDD505-2E9C-101B-9397-08002B2CF9AE}" pid="9" name="Campaign">
    <vt:lpwstr/>
  </property>
  <property fmtid="{D5CDD505-2E9C-101B-9397-08002B2CF9AE}" pid="10" name="TaxKeyword">
    <vt:lpwstr>218;#TechReady 21|87716563-a9dc-47f2-881c-c288d4cbc934</vt:lpwstr>
  </property>
  <property fmtid="{D5CDD505-2E9C-101B-9397-08002B2CF9AE}" pid="11" name="Audience1">
    <vt:lpwstr/>
  </property>
  <property fmtid="{D5CDD505-2E9C-101B-9397-08002B2CF9AE}" pid="12" name="Event Name">
    <vt:lpwstr>68;#TechReady|ebdf1b7d-d34f-4ccf-ac45-ca5a756d5c65</vt:lpwstr>
  </property>
</Properties>
</file>